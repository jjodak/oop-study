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2" r:id="rId1"/>
  </p:sldMasterIdLst>
  <p:notesMasterIdLst>
    <p:notesMasterId r:id="rId36"/>
  </p:notesMasterIdLst>
  <p:sldIdLst>
    <p:sldId id="257" r:id="rId2"/>
    <p:sldId id="263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93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EEC4"/>
    <a:srgbClr val="D0EAB4"/>
    <a:srgbClr val="C0E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15B027-DD22-430D-8EB2-6A3FDCBAEB92}" v="3" dt="2023-10-22T08:44:24.846"/>
  </p1510:revLst>
</p1510:revInfo>
</file>

<file path=ppt/tableStyles.xml><?xml version="1.0" encoding="utf-8"?>
<a:tblStyleLst xmlns:a="http://schemas.openxmlformats.org/drawingml/2006/main" def="{5C22544A-7EE6-4342-B048-85BDC9FD1C3A}">
  <a:tblStyle styleId="{5DA37D80-6434-44D0-A028-1B22A696006F}" styleName="밝은 스타일 3 - 강조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보통 스타일 1 - 강조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7292A2E-F333-43FB-9621-5CBBE7FDCDCB}" styleName="밝은 스타일 2 - 강조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90" autoAdjust="0"/>
    <p:restoredTop sz="92701" autoAdjust="0"/>
  </p:normalViewPr>
  <p:slideViewPr>
    <p:cSldViewPr>
      <p:cViewPr varScale="1">
        <p:scale>
          <a:sx n="76" d="100"/>
          <a:sy n="76" d="100"/>
        </p:scale>
        <p:origin x="1906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1" d="100"/>
          <a:sy n="81" d="100"/>
        </p:scale>
        <p:origin x="-2040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조강홍" userId="5f906133-56a7-4eaa-b125-f98a3a90374e" providerId="ADAL" clId="{0A15B027-DD22-430D-8EB2-6A3FDCBAEB92}"/>
    <pc:docChg chg="custSel modSld">
      <pc:chgData name="조강홍" userId="5f906133-56a7-4eaa-b125-f98a3a90374e" providerId="ADAL" clId="{0A15B027-DD22-430D-8EB2-6A3FDCBAEB92}" dt="2023-10-22T09:51:27.045" v="41" actId="1038"/>
      <pc:docMkLst>
        <pc:docMk/>
      </pc:docMkLst>
      <pc:sldChg chg="modSp mod">
        <pc:chgData name="조강홍" userId="5f906133-56a7-4eaa-b125-f98a3a90374e" providerId="ADAL" clId="{0A15B027-DD22-430D-8EB2-6A3FDCBAEB92}" dt="2023-10-22T08:43:39.562" v="0" actId="27636"/>
        <pc:sldMkLst>
          <pc:docMk/>
          <pc:sldMk cId="3871742035" sldId="257"/>
        </pc:sldMkLst>
        <pc:spChg chg="mod">
          <ac:chgData name="조강홍" userId="5f906133-56a7-4eaa-b125-f98a3a90374e" providerId="ADAL" clId="{0A15B027-DD22-430D-8EB2-6A3FDCBAEB92}" dt="2023-10-22T08:43:39.562" v="0" actId="27636"/>
          <ac:spMkLst>
            <pc:docMk/>
            <pc:sldMk cId="3871742035" sldId="257"/>
            <ac:spMk id="4" creationId="{00000000-0000-0000-0000-000000000000}"/>
          </ac:spMkLst>
        </pc:spChg>
      </pc:sldChg>
      <pc:sldChg chg="modSp mod">
        <pc:chgData name="조강홍" userId="5f906133-56a7-4eaa-b125-f98a3a90374e" providerId="ADAL" clId="{0A15B027-DD22-430D-8EB2-6A3FDCBAEB92}" dt="2023-10-22T08:43:39.609" v="3" actId="27636"/>
        <pc:sldMkLst>
          <pc:docMk/>
          <pc:sldMk cId="726482763" sldId="258"/>
        </pc:sldMkLst>
        <pc:spChg chg="mod">
          <ac:chgData name="조강홍" userId="5f906133-56a7-4eaa-b125-f98a3a90374e" providerId="ADAL" clId="{0A15B027-DD22-430D-8EB2-6A3FDCBAEB92}" dt="2023-10-22T08:43:39.609" v="3" actId="27636"/>
          <ac:spMkLst>
            <pc:docMk/>
            <pc:sldMk cId="726482763" sldId="258"/>
            <ac:spMk id="26" creationId="{00000000-0000-0000-0000-000000000000}"/>
          </ac:spMkLst>
        </pc:spChg>
      </pc:sldChg>
      <pc:sldChg chg="modSp mod">
        <pc:chgData name="조강홍" userId="5f906133-56a7-4eaa-b125-f98a3a90374e" providerId="ADAL" clId="{0A15B027-DD22-430D-8EB2-6A3FDCBAEB92}" dt="2023-10-22T08:43:39.609" v="4" actId="27636"/>
        <pc:sldMkLst>
          <pc:docMk/>
          <pc:sldMk cId="1960923918" sldId="262"/>
        </pc:sldMkLst>
        <pc:spChg chg="mod">
          <ac:chgData name="조강홍" userId="5f906133-56a7-4eaa-b125-f98a3a90374e" providerId="ADAL" clId="{0A15B027-DD22-430D-8EB2-6A3FDCBAEB92}" dt="2023-10-22T08:43:39.609" v="4" actId="27636"/>
          <ac:spMkLst>
            <pc:docMk/>
            <pc:sldMk cId="1960923918" sldId="262"/>
            <ac:spMk id="35" creationId="{00000000-0000-0000-0000-000000000000}"/>
          </ac:spMkLst>
        </pc:spChg>
      </pc:sldChg>
      <pc:sldChg chg="modSp mod">
        <pc:chgData name="조강홍" userId="5f906133-56a7-4eaa-b125-f98a3a90374e" providerId="ADAL" clId="{0A15B027-DD22-430D-8EB2-6A3FDCBAEB92}" dt="2023-10-22T08:43:39.609" v="2" actId="27636"/>
        <pc:sldMkLst>
          <pc:docMk/>
          <pc:sldMk cId="894158866" sldId="263"/>
        </pc:sldMkLst>
        <pc:spChg chg="mod">
          <ac:chgData name="조강홍" userId="5f906133-56a7-4eaa-b125-f98a3a90374e" providerId="ADAL" clId="{0A15B027-DD22-430D-8EB2-6A3FDCBAEB92}" dt="2023-10-22T08:43:39.609" v="2" actId="27636"/>
          <ac:spMkLst>
            <pc:docMk/>
            <pc:sldMk cId="894158866" sldId="263"/>
            <ac:spMk id="3" creationId="{00000000-0000-0000-0000-000000000000}"/>
          </ac:spMkLst>
        </pc:spChg>
        <pc:spChg chg="mod">
          <ac:chgData name="조강홍" userId="5f906133-56a7-4eaa-b125-f98a3a90374e" providerId="ADAL" clId="{0A15B027-DD22-430D-8EB2-6A3FDCBAEB92}" dt="2023-10-22T08:43:39.577" v="1" actId="27636"/>
          <ac:spMkLst>
            <pc:docMk/>
            <pc:sldMk cId="894158866" sldId="263"/>
            <ac:spMk id="4" creationId="{00000000-0000-0000-0000-000000000000}"/>
          </ac:spMkLst>
        </pc:spChg>
      </pc:sldChg>
      <pc:sldChg chg="modSp mod">
        <pc:chgData name="조강홍" userId="5f906133-56a7-4eaa-b125-f98a3a90374e" providerId="ADAL" clId="{0A15B027-DD22-430D-8EB2-6A3FDCBAEB92}" dt="2023-10-22T08:43:39.624" v="5" actId="27636"/>
        <pc:sldMkLst>
          <pc:docMk/>
          <pc:sldMk cId="2923148584" sldId="265"/>
        </pc:sldMkLst>
        <pc:spChg chg="mod">
          <ac:chgData name="조강홍" userId="5f906133-56a7-4eaa-b125-f98a3a90374e" providerId="ADAL" clId="{0A15B027-DD22-430D-8EB2-6A3FDCBAEB92}" dt="2023-10-22T08:43:39.624" v="5" actId="27636"/>
          <ac:spMkLst>
            <pc:docMk/>
            <pc:sldMk cId="2923148584" sldId="265"/>
            <ac:spMk id="4" creationId="{00000000-0000-0000-0000-000000000000}"/>
          </ac:spMkLst>
        </pc:spChg>
      </pc:sldChg>
      <pc:sldChg chg="modSp mod">
        <pc:chgData name="조강홍" userId="5f906133-56a7-4eaa-b125-f98a3a90374e" providerId="ADAL" clId="{0A15B027-DD22-430D-8EB2-6A3FDCBAEB92}" dt="2023-10-22T08:43:39.640" v="6" actId="27636"/>
        <pc:sldMkLst>
          <pc:docMk/>
          <pc:sldMk cId="1900910195" sldId="266"/>
        </pc:sldMkLst>
        <pc:spChg chg="mod">
          <ac:chgData name="조강홍" userId="5f906133-56a7-4eaa-b125-f98a3a90374e" providerId="ADAL" clId="{0A15B027-DD22-430D-8EB2-6A3FDCBAEB92}" dt="2023-10-22T08:43:39.640" v="6" actId="27636"/>
          <ac:spMkLst>
            <pc:docMk/>
            <pc:sldMk cId="1900910195" sldId="266"/>
            <ac:spMk id="4" creationId="{00000000-0000-0000-0000-000000000000}"/>
          </ac:spMkLst>
        </pc:spChg>
      </pc:sldChg>
      <pc:sldChg chg="modSp mod">
        <pc:chgData name="조강홍" userId="5f906133-56a7-4eaa-b125-f98a3a90374e" providerId="ADAL" clId="{0A15B027-DD22-430D-8EB2-6A3FDCBAEB92}" dt="2023-10-22T08:43:39.640" v="7" actId="27636"/>
        <pc:sldMkLst>
          <pc:docMk/>
          <pc:sldMk cId="3375660916" sldId="267"/>
        </pc:sldMkLst>
        <pc:spChg chg="mod">
          <ac:chgData name="조강홍" userId="5f906133-56a7-4eaa-b125-f98a3a90374e" providerId="ADAL" clId="{0A15B027-DD22-430D-8EB2-6A3FDCBAEB92}" dt="2023-10-22T08:43:39.640" v="7" actId="27636"/>
          <ac:spMkLst>
            <pc:docMk/>
            <pc:sldMk cId="3375660916" sldId="267"/>
            <ac:spMk id="26" creationId="{00000000-0000-0000-0000-000000000000}"/>
          </ac:spMkLst>
        </pc:spChg>
      </pc:sldChg>
      <pc:sldChg chg="modSp mod">
        <pc:chgData name="조강홍" userId="5f906133-56a7-4eaa-b125-f98a3a90374e" providerId="ADAL" clId="{0A15B027-DD22-430D-8EB2-6A3FDCBAEB92}" dt="2023-10-22T08:43:39.656" v="8" actId="27636"/>
        <pc:sldMkLst>
          <pc:docMk/>
          <pc:sldMk cId="2405963618" sldId="268"/>
        </pc:sldMkLst>
        <pc:spChg chg="mod">
          <ac:chgData name="조강홍" userId="5f906133-56a7-4eaa-b125-f98a3a90374e" providerId="ADAL" clId="{0A15B027-DD22-430D-8EB2-6A3FDCBAEB92}" dt="2023-10-22T08:43:39.656" v="8" actId="27636"/>
          <ac:spMkLst>
            <pc:docMk/>
            <pc:sldMk cId="2405963618" sldId="268"/>
            <ac:spMk id="4" creationId="{00000000-0000-0000-0000-000000000000}"/>
          </ac:spMkLst>
        </pc:spChg>
      </pc:sldChg>
      <pc:sldChg chg="modSp mod">
        <pc:chgData name="조강홍" userId="5f906133-56a7-4eaa-b125-f98a3a90374e" providerId="ADAL" clId="{0A15B027-DD22-430D-8EB2-6A3FDCBAEB92}" dt="2023-10-22T08:43:39.677" v="9" actId="27636"/>
        <pc:sldMkLst>
          <pc:docMk/>
          <pc:sldMk cId="3458721247" sldId="269"/>
        </pc:sldMkLst>
        <pc:spChg chg="mod">
          <ac:chgData name="조강홍" userId="5f906133-56a7-4eaa-b125-f98a3a90374e" providerId="ADAL" clId="{0A15B027-DD22-430D-8EB2-6A3FDCBAEB92}" dt="2023-10-22T08:43:39.677" v="9" actId="27636"/>
          <ac:spMkLst>
            <pc:docMk/>
            <pc:sldMk cId="3458721247" sldId="269"/>
            <ac:spMk id="21" creationId="{00000000-0000-0000-0000-000000000000}"/>
          </ac:spMkLst>
        </pc:spChg>
      </pc:sldChg>
      <pc:sldChg chg="modSp mod">
        <pc:chgData name="조강홍" userId="5f906133-56a7-4eaa-b125-f98a3a90374e" providerId="ADAL" clId="{0A15B027-DD22-430D-8EB2-6A3FDCBAEB92}" dt="2023-10-22T08:43:39.704" v="12" actId="27636"/>
        <pc:sldMkLst>
          <pc:docMk/>
          <pc:sldMk cId="2085551754" sldId="271"/>
        </pc:sldMkLst>
        <pc:spChg chg="mod">
          <ac:chgData name="조강홍" userId="5f906133-56a7-4eaa-b125-f98a3a90374e" providerId="ADAL" clId="{0A15B027-DD22-430D-8EB2-6A3FDCBAEB92}" dt="2023-10-22T08:43:39.704" v="12" actId="27636"/>
          <ac:spMkLst>
            <pc:docMk/>
            <pc:sldMk cId="2085551754" sldId="271"/>
            <ac:spMk id="7" creationId="{00000000-0000-0000-0000-000000000000}"/>
          </ac:spMkLst>
        </pc:spChg>
      </pc:sldChg>
      <pc:sldChg chg="modSp mod">
        <pc:chgData name="조강홍" userId="5f906133-56a7-4eaa-b125-f98a3a90374e" providerId="ADAL" clId="{0A15B027-DD22-430D-8EB2-6A3FDCBAEB92}" dt="2023-10-22T08:43:39.710" v="13" actId="27636"/>
        <pc:sldMkLst>
          <pc:docMk/>
          <pc:sldMk cId="2361300562" sldId="272"/>
        </pc:sldMkLst>
        <pc:spChg chg="mod">
          <ac:chgData name="조강홍" userId="5f906133-56a7-4eaa-b125-f98a3a90374e" providerId="ADAL" clId="{0A15B027-DD22-430D-8EB2-6A3FDCBAEB92}" dt="2023-10-22T08:43:39.710" v="13" actId="27636"/>
          <ac:spMkLst>
            <pc:docMk/>
            <pc:sldMk cId="2361300562" sldId="272"/>
            <ac:spMk id="9" creationId="{00000000-0000-0000-0000-000000000000}"/>
          </ac:spMkLst>
        </pc:spChg>
      </pc:sldChg>
      <pc:sldChg chg="modSp mod">
        <pc:chgData name="조강홍" userId="5f906133-56a7-4eaa-b125-f98a3a90374e" providerId="ADAL" clId="{0A15B027-DD22-430D-8EB2-6A3FDCBAEB92}" dt="2023-10-22T08:43:39.713" v="14" actId="27636"/>
        <pc:sldMkLst>
          <pc:docMk/>
          <pc:sldMk cId="3323502708" sldId="273"/>
        </pc:sldMkLst>
        <pc:spChg chg="mod">
          <ac:chgData name="조강홍" userId="5f906133-56a7-4eaa-b125-f98a3a90374e" providerId="ADAL" clId="{0A15B027-DD22-430D-8EB2-6A3FDCBAEB92}" dt="2023-10-22T08:43:39.713" v="14" actId="27636"/>
          <ac:spMkLst>
            <pc:docMk/>
            <pc:sldMk cId="3323502708" sldId="273"/>
            <ac:spMk id="5" creationId="{00000000-0000-0000-0000-000000000000}"/>
          </ac:spMkLst>
        </pc:spChg>
      </pc:sldChg>
      <pc:sldChg chg="modSp mod">
        <pc:chgData name="조강홍" userId="5f906133-56a7-4eaa-b125-f98a3a90374e" providerId="ADAL" clId="{0A15B027-DD22-430D-8EB2-6A3FDCBAEB92}" dt="2023-10-22T08:43:39.715" v="15" actId="27636"/>
        <pc:sldMkLst>
          <pc:docMk/>
          <pc:sldMk cId="2190246415" sldId="274"/>
        </pc:sldMkLst>
        <pc:spChg chg="mod">
          <ac:chgData name="조강홍" userId="5f906133-56a7-4eaa-b125-f98a3a90374e" providerId="ADAL" clId="{0A15B027-DD22-430D-8EB2-6A3FDCBAEB92}" dt="2023-10-22T08:43:39.715" v="15" actId="27636"/>
          <ac:spMkLst>
            <pc:docMk/>
            <pc:sldMk cId="2190246415" sldId="274"/>
            <ac:spMk id="7" creationId="{00000000-0000-0000-0000-000000000000}"/>
          </ac:spMkLst>
        </pc:spChg>
      </pc:sldChg>
      <pc:sldChg chg="modSp mod">
        <pc:chgData name="조강홍" userId="5f906133-56a7-4eaa-b125-f98a3a90374e" providerId="ADAL" clId="{0A15B027-DD22-430D-8EB2-6A3FDCBAEB92}" dt="2023-10-22T08:43:39.742" v="17" actId="27636"/>
        <pc:sldMkLst>
          <pc:docMk/>
          <pc:sldMk cId="374427068" sldId="275"/>
        </pc:sldMkLst>
        <pc:spChg chg="mod">
          <ac:chgData name="조강홍" userId="5f906133-56a7-4eaa-b125-f98a3a90374e" providerId="ADAL" clId="{0A15B027-DD22-430D-8EB2-6A3FDCBAEB92}" dt="2023-10-22T08:43:39.742" v="16" actId="27636"/>
          <ac:spMkLst>
            <pc:docMk/>
            <pc:sldMk cId="374427068" sldId="275"/>
            <ac:spMk id="2" creationId="{00000000-0000-0000-0000-000000000000}"/>
          </ac:spMkLst>
        </pc:spChg>
        <pc:spChg chg="mod">
          <ac:chgData name="조강홍" userId="5f906133-56a7-4eaa-b125-f98a3a90374e" providerId="ADAL" clId="{0A15B027-DD22-430D-8EB2-6A3FDCBAEB92}" dt="2023-10-22T08:43:39.742" v="17" actId="27636"/>
          <ac:spMkLst>
            <pc:docMk/>
            <pc:sldMk cId="374427068" sldId="275"/>
            <ac:spMk id="4" creationId="{00000000-0000-0000-0000-000000000000}"/>
          </ac:spMkLst>
        </pc:spChg>
      </pc:sldChg>
      <pc:sldChg chg="modSp mod">
        <pc:chgData name="조강홍" userId="5f906133-56a7-4eaa-b125-f98a3a90374e" providerId="ADAL" clId="{0A15B027-DD22-430D-8EB2-6A3FDCBAEB92}" dt="2023-10-22T08:43:39.749" v="18" actId="27636"/>
        <pc:sldMkLst>
          <pc:docMk/>
          <pc:sldMk cId="2135630391" sldId="276"/>
        </pc:sldMkLst>
        <pc:spChg chg="mod">
          <ac:chgData name="조강홍" userId="5f906133-56a7-4eaa-b125-f98a3a90374e" providerId="ADAL" clId="{0A15B027-DD22-430D-8EB2-6A3FDCBAEB92}" dt="2023-10-22T08:43:39.749" v="18" actId="27636"/>
          <ac:spMkLst>
            <pc:docMk/>
            <pc:sldMk cId="2135630391" sldId="276"/>
            <ac:spMk id="12" creationId="{00000000-0000-0000-0000-000000000000}"/>
          </ac:spMkLst>
        </pc:spChg>
      </pc:sldChg>
      <pc:sldChg chg="modSp mod">
        <pc:chgData name="조강홍" userId="5f906133-56a7-4eaa-b125-f98a3a90374e" providerId="ADAL" clId="{0A15B027-DD22-430D-8EB2-6A3FDCBAEB92}" dt="2023-10-22T08:43:39.749" v="19" actId="27636"/>
        <pc:sldMkLst>
          <pc:docMk/>
          <pc:sldMk cId="679930209" sldId="277"/>
        </pc:sldMkLst>
        <pc:spChg chg="mod">
          <ac:chgData name="조강홍" userId="5f906133-56a7-4eaa-b125-f98a3a90374e" providerId="ADAL" clId="{0A15B027-DD22-430D-8EB2-6A3FDCBAEB92}" dt="2023-10-22T08:43:39.749" v="19" actId="27636"/>
          <ac:spMkLst>
            <pc:docMk/>
            <pc:sldMk cId="679930209" sldId="277"/>
            <ac:spMk id="14" creationId="{00000000-0000-0000-0000-000000000000}"/>
          </ac:spMkLst>
        </pc:spChg>
      </pc:sldChg>
      <pc:sldChg chg="modSp mod">
        <pc:chgData name="조강홍" userId="5f906133-56a7-4eaa-b125-f98a3a90374e" providerId="ADAL" clId="{0A15B027-DD22-430D-8EB2-6A3FDCBAEB92}" dt="2023-10-22T08:43:39.765" v="20" actId="27636"/>
        <pc:sldMkLst>
          <pc:docMk/>
          <pc:sldMk cId="4010758911" sldId="278"/>
        </pc:sldMkLst>
        <pc:spChg chg="mod">
          <ac:chgData name="조강홍" userId="5f906133-56a7-4eaa-b125-f98a3a90374e" providerId="ADAL" clId="{0A15B027-DD22-430D-8EB2-6A3FDCBAEB92}" dt="2023-10-22T08:43:39.765" v="20" actId="27636"/>
          <ac:spMkLst>
            <pc:docMk/>
            <pc:sldMk cId="4010758911" sldId="278"/>
            <ac:spMk id="7" creationId="{00000000-0000-0000-0000-000000000000}"/>
          </ac:spMkLst>
        </pc:spChg>
      </pc:sldChg>
      <pc:sldChg chg="modSp mod">
        <pc:chgData name="조강홍" userId="5f906133-56a7-4eaa-b125-f98a3a90374e" providerId="ADAL" clId="{0A15B027-DD22-430D-8EB2-6A3FDCBAEB92}" dt="2023-10-22T08:43:39.780" v="21" actId="27636"/>
        <pc:sldMkLst>
          <pc:docMk/>
          <pc:sldMk cId="811387782" sldId="279"/>
        </pc:sldMkLst>
        <pc:spChg chg="mod">
          <ac:chgData name="조강홍" userId="5f906133-56a7-4eaa-b125-f98a3a90374e" providerId="ADAL" clId="{0A15B027-DD22-430D-8EB2-6A3FDCBAEB92}" dt="2023-10-22T08:43:39.780" v="21" actId="27636"/>
          <ac:spMkLst>
            <pc:docMk/>
            <pc:sldMk cId="811387782" sldId="279"/>
            <ac:spMk id="8" creationId="{00000000-0000-0000-0000-000000000000}"/>
          </ac:spMkLst>
        </pc:spChg>
      </pc:sldChg>
      <pc:sldChg chg="modSp mod">
        <pc:chgData name="조강홍" userId="5f906133-56a7-4eaa-b125-f98a3a90374e" providerId="ADAL" clId="{0A15B027-DD22-430D-8EB2-6A3FDCBAEB92}" dt="2023-10-22T08:43:39.843" v="22" actId="27636"/>
        <pc:sldMkLst>
          <pc:docMk/>
          <pc:sldMk cId="2504229054" sldId="281"/>
        </pc:sldMkLst>
        <pc:spChg chg="mod">
          <ac:chgData name="조강홍" userId="5f906133-56a7-4eaa-b125-f98a3a90374e" providerId="ADAL" clId="{0A15B027-DD22-430D-8EB2-6A3FDCBAEB92}" dt="2023-10-22T08:43:39.843" v="22" actId="27636"/>
          <ac:spMkLst>
            <pc:docMk/>
            <pc:sldMk cId="2504229054" sldId="281"/>
            <ac:spMk id="18" creationId="{00000000-0000-0000-0000-000000000000}"/>
          </ac:spMkLst>
        </pc:spChg>
      </pc:sldChg>
      <pc:sldChg chg="modSp mod">
        <pc:chgData name="조강홍" userId="5f906133-56a7-4eaa-b125-f98a3a90374e" providerId="ADAL" clId="{0A15B027-DD22-430D-8EB2-6A3FDCBAEB92}" dt="2023-10-22T08:43:39.858" v="23" actId="27636"/>
        <pc:sldMkLst>
          <pc:docMk/>
          <pc:sldMk cId="3537469310" sldId="282"/>
        </pc:sldMkLst>
        <pc:spChg chg="mod">
          <ac:chgData name="조강홍" userId="5f906133-56a7-4eaa-b125-f98a3a90374e" providerId="ADAL" clId="{0A15B027-DD22-430D-8EB2-6A3FDCBAEB92}" dt="2023-10-22T08:43:39.858" v="23" actId="27636"/>
          <ac:spMkLst>
            <pc:docMk/>
            <pc:sldMk cId="3537469310" sldId="282"/>
            <ac:spMk id="15" creationId="{00000000-0000-0000-0000-000000000000}"/>
          </ac:spMkLst>
        </pc:spChg>
      </pc:sldChg>
      <pc:sldChg chg="modSp mod">
        <pc:chgData name="조강홍" userId="5f906133-56a7-4eaa-b125-f98a3a90374e" providerId="ADAL" clId="{0A15B027-DD22-430D-8EB2-6A3FDCBAEB92}" dt="2023-10-22T08:43:39.880" v="24" actId="27636"/>
        <pc:sldMkLst>
          <pc:docMk/>
          <pc:sldMk cId="3505495951" sldId="283"/>
        </pc:sldMkLst>
        <pc:spChg chg="mod">
          <ac:chgData name="조강홍" userId="5f906133-56a7-4eaa-b125-f98a3a90374e" providerId="ADAL" clId="{0A15B027-DD22-430D-8EB2-6A3FDCBAEB92}" dt="2023-10-22T08:43:39.880" v="24" actId="27636"/>
          <ac:spMkLst>
            <pc:docMk/>
            <pc:sldMk cId="3505495951" sldId="283"/>
            <ac:spMk id="16" creationId="{00000000-0000-0000-0000-000000000000}"/>
          </ac:spMkLst>
        </pc:spChg>
      </pc:sldChg>
      <pc:sldChg chg="modSp mod">
        <pc:chgData name="조강홍" userId="5f906133-56a7-4eaa-b125-f98a3a90374e" providerId="ADAL" clId="{0A15B027-DD22-430D-8EB2-6A3FDCBAEB92}" dt="2023-10-22T08:43:39.899" v="25" actId="27636"/>
        <pc:sldMkLst>
          <pc:docMk/>
          <pc:sldMk cId="403119597" sldId="284"/>
        </pc:sldMkLst>
        <pc:spChg chg="mod">
          <ac:chgData name="조강홍" userId="5f906133-56a7-4eaa-b125-f98a3a90374e" providerId="ADAL" clId="{0A15B027-DD22-430D-8EB2-6A3FDCBAEB92}" dt="2023-10-22T08:43:39.899" v="25" actId="27636"/>
          <ac:spMkLst>
            <pc:docMk/>
            <pc:sldMk cId="403119597" sldId="284"/>
            <ac:spMk id="4" creationId="{00000000-0000-0000-0000-000000000000}"/>
          </ac:spMkLst>
        </pc:spChg>
      </pc:sldChg>
      <pc:sldChg chg="modSp mod">
        <pc:chgData name="조강홍" userId="5f906133-56a7-4eaa-b125-f98a3a90374e" providerId="ADAL" clId="{0A15B027-DD22-430D-8EB2-6A3FDCBAEB92}" dt="2023-10-22T08:43:39.907" v="26" actId="27636"/>
        <pc:sldMkLst>
          <pc:docMk/>
          <pc:sldMk cId="1719824677" sldId="285"/>
        </pc:sldMkLst>
        <pc:spChg chg="mod">
          <ac:chgData name="조강홍" userId="5f906133-56a7-4eaa-b125-f98a3a90374e" providerId="ADAL" clId="{0A15B027-DD22-430D-8EB2-6A3FDCBAEB92}" dt="2023-10-22T08:43:39.907" v="26" actId="27636"/>
          <ac:spMkLst>
            <pc:docMk/>
            <pc:sldMk cId="1719824677" sldId="285"/>
            <ac:spMk id="21" creationId="{00000000-0000-0000-0000-000000000000}"/>
          </ac:spMkLst>
        </pc:spChg>
      </pc:sldChg>
      <pc:sldChg chg="modSp mod">
        <pc:chgData name="조강홍" userId="5f906133-56a7-4eaa-b125-f98a3a90374e" providerId="ADAL" clId="{0A15B027-DD22-430D-8EB2-6A3FDCBAEB92}" dt="2023-10-22T08:43:39.910" v="27" actId="27636"/>
        <pc:sldMkLst>
          <pc:docMk/>
          <pc:sldMk cId="1061405175" sldId="286"/>
        </pc:sldMkLst>
        <pc:spChg chg="mod">
          <ac:chgData name="조강홍" userId="5f906133-56a7-4eaa-b125-f98a3a90374e" providerId="ADAL" clId="{0A15B027-DD22-430D-8EB2-6A3FDCBAEB92}" dt="2023-10-22T08:43:39.910" v="27" actId="27636"/>
          <ac:spMkLst>
            <pc:docMk/>
            <pc:sldMk cId="1061405175" sldId="286"/>
            <ac:spMk id="6" creationId="{00000000-0000-0000-0000-000000000000}"/>
          </ac:spMkLst>
        </pc:spChg>
      </pc:sldChg>
      <pc:sldChg chg="modSp mod">
        <pc:chgData name="조강홍" userId="5f906133-56a7-4eaa-b125-f98a3a90374e" providerId="ADAL" clId="{0A15B027-DD22-430D-8EB2-6A3FDCBAEB92}" dt="2023-10-22T08:43:39.910" v="28" actId="27636"/>
        <pc:sldMkLst>
          <pc:docMk/>
          <pc:sldMk cId="4105567347" sldId="287"/>
        </pc:sldMkLst>
        <pc:spChg chg="mod">
          <ac:chgData name="조강홍" userId="5f906133-56a7-4eaa-b125-f98a3a90374e" providerId="ADAL" clId="{0A15B027-DD22-430D-8EB2-6A3FDCBAEB92}" dt="2023-10-22T08:43:39.910" v="28" actId="27636"/>
          <ac:spMkLst>
            <pc:docMk/>
            <pc:sldMk cId="4105567347" sldId="287"/>
            <ac:spMk id="8" creationId="{00000000-0000-0000-0000-000000000000}"/>
          </ac:spMkLst>
        </pc:spChg>
      </pc:sldChg>
      <pc:sldChg chg="modSp mod">
        <pc:chgData name="조강홍" userId="5f906133-56a7-4eaa-b125-f98a3a90374e" providerId="ADAL" clId="{0A15B027-DD22-430D-8EB2-6A3FDCBAEB92}" dt="2023-10-22T08:43:39.921" v="29" actId="27636"/>
        <pc:sldMkLst>
          <pc:docMk/>
          <pc:sldMk cId="2944097830" sldId="288"/>
        </pc:sldMkLst>
        <pc:spChg chg="mod">
          <ac:chgData name="조강홍" userId="5f906133-56a7-4eaa-b125-f98a3a90374e" providerId="ADAL" clId="{0A15B027-DD22-430D-8EB2-6A3FDCBAEB92}" dt="2023-10-22T08:43:39.921" v="29" actId="27636"/>
          <ac:spMkLst>
            <pc:docMk/>
            <pc:sldMk cId="2944097830" sldId="288"/>
            <ac:spMk id="4" creationId="{00000000-0000-0000-0000-000000000000}"/>
          </ac:spMkLst>
        </pc:spChg>
      </pc:sldChg>
      <pc:sldChg chg="modSp mod">
        <pc:chgData name="조강홍" userId="5f906133-56a7-4eaa-b125-f98a3a90374e" providerId="ADAL" clId="{0A15B027-DD22-430D-8EB2-6A3FDCBAEB92}" dt="2023-10-22T08:43:39.936" v="30" actId="27636"/>
        <pc:sldMkLst>
          <pc:docMk/>
          <pc:sldMk cId="636634330" sldId="289"/>
        </pc:sldMkLst>
        <pc:spChg chg="mod">
          <ac:chgData name="조강홍" userId="5f906133-56a7-4eaa-b125-f98a3a90374e" providerId="ADAL" clId="{0A15B027-DD22-430D-8EB2-6A3FDCBAEB92}" dt="2023-10-22T08:43:39.936" v="30" actId="27636"/>
          <ac:spMkLst>
            <pc:docMk/>
            <pc:sldMk cId="636634330" sldId="289"/>
            <ac:spMk id="9" creationId="{00000000-0000-0000-0000-000000000000}"/>
          </ac:spMkLst>
        </pc:spChg>
      </pc:sldChg>
      <pc:sldChg chg="modSp mod">
        <pc:chgData name="조강홍" userId="5f906133-56a7-4eaa-b125-f98a3a90374e" providerId="ADAL" clId="{0A15B027-DD22-430D-8EB2-6A3FDCBAEB92}" dt="2023-10-22T09:51:27.045" v="41" actId="1038"/>
        <pc:sldMkLst>
          <pc:docMk/>
          <pc:sldMk cId="3289900715" sldId="290"/>
        </pc:sldMkLst>
        <pc:spChg chg="mod">
          <ac:chgData name="조강홍" userId="5f906133-56a7-4eaa-b125-f98a3a90374e" providerId="ADAL" clId="{0A15B027-DD22-430D-8EB2-6A3FDCBAEB92}" dt="2023-10-22T09:51:27.045" v="41" actId="1038"/>
          <ac:spMkLst>
            <pc:docMk/>
            <pc:sldMk cId="3289900715" sldId="290"/>
            <ac:spMk id="4" creationId="{00000000-0000-0000-0000-000000000000}"/>
          </ac:spMkLst>
        </pc:spChg>
        <pc:spChg chg="mod">
          <ac:chgData name="조강홍" userId="5f906133-56a7-4eaa-b125-f98a3a90374e" providerId="ADAL" clId="{0A15B027-DD22-430D-8EB2-6A3FDCBAEB92}" dt="2023-10-22T08:43:39.952" v="31" actId="27636"/>
          <ac:spMkLst>
            <pc:docMk/>
            <pc:sldMk cId="3289900715" sldId="290"/>
            <ac:spMk id="5" creationId="{00000000-0000-0000-0000-000000000000}"/>
          </ac:spMkLst>
        </pc:spChg>
      </pc:sldChg>
      <pc:sldChg chg="modSp mod">
        <pc:chgData name="조강홍" userId="5f906133-56a7-4eaa-b125-f98a3a90374e" providerId="ADAL" clId="{0A15B027-DD22-430D-8EB2-6A3FDCBAEB92}" dt="2023-10-22T09:51:18.400" v="35" actId="1035"/>
        <pc:sldMkLst>
          <pc:docMk/>
          <pc:sldMk cId="942163140" sldId="291"/>
        </pc:sldMkLst>
        <pc:spChg chg="mod">
          <ac:chgData name="조강홍" userId="5f906133-56a7-4eaa-b125-f98a3a90374e" providerId="ADAL" clId="{0A15B027-DD22-430D-8EB2-6A3FDCBAEB92}" dt="2023-10-22T09:51:18.400" v="35" actId="1035"/>
          <ac:spMkLst>
            <pc:docMk/>
            <pc:sldMk cId="942163140" sldId="291"/>
            <ac:spMk id="6" creationId="{00000000-0000-0000-0000-000000000000}"/>
          </ac:spMkLst>
        </pc:spChg>
        <pc:spChg chg="mod">
          <ac:chgData name="조강홍" userId="5f906133-56a7-4eaa-b125-f98a3a90374e" providerId="ADAL" clId="{0A15B027-DD22-430D-8EB2-6A3FDCBAEB92}" dt="2023-10-22T08:43:39.968" v="32" actId="27636"/>
          <ac:spMkLst>
            <pc:docMk/>
            <pc:sldMk cId="942163140" sldId="291"/>
            <ac:spMk id="8" creationId="{00000000-0000-0000-0000-000000000000}"/>
          </ac:spMkLst>
        </pc:spChg>
      </pc:sldChg>
      <pc:sldChg chg="modSp mod">
        <pc:chgData name="조강홍" userId="5f906133-56a7-4eaa-b125-f98a3a90374e" providerId="ADAL" clId="{0A15B027-DD22-430D-8EB2-6A3FDCBAEB92}" dt="2023-10-22T08:43:39.697" v="11" actId="27636"/>
        <pc:sldMkLst>
          <pc:docMk/>
          <pc:sldMk cId="2842376588" sldId="293"/>
        </pc:sldMkLst>
        <pc:spChg chg="mod">
          <ac:chgData name="조강홍" userId="5f906133-56a7-4eaa-b125-f98a3a90374e" providerId="ADAL" clId="{0A15B027-DD22-430D-8EB2-6A3FDCBAEB92}" dt="2023-10-22T08:43:39.697" v="11" actId="27636"/>
          <ac:spMkLst>
            <pc:docMk/>
            <pc:sldMk cId="2842376588" sldId="293"/>
            <ac:spMk id="2" creationId="{00000000-0000-0000-0000-000000000000}"/>
          </ac:spMkLst>
        </pc:spChg>
        <pc:spChg chg="mod">
          <ac:chgData name="조강홍" userId="5f906133-56a7-4eaa-b125-f98a3a90374e" providerId="ADAL" clId="{0A15B027-DD22-430D-8EB2-6A3FDCBAEB92}" dt="2023-10-22T08:43:39.692" v="10" actId="27636"/>
          <ac:spMkLst>
            <pc:docMk/>
            <pc:sldMk cId="2842376588" sldId="293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메이플스토리" panose="02000300000000000000" pitchFamily="2" charset="-127"/>
                <a:ea typeface="메이플스토리" panose="020003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메이플스토리" panose="02000300000000000000" pitchFamily="2" charset="-127"/>
                <a:ea typeface="메이플스토리" panose="02000300000000000000" pitchFamily="2" charset="-127"/>
              </a:defRPr>
            </a:lvl1pPr>
          </a:lstStyle>
          <a:p>
            <a:fld id="{A9D9897E-559B-4802-87FD-BDDBC21CBABC}" type="datetimeFigureOut">
              <a:rPr lang="ko-KR" altLang="en-US" smtClean="0"/>
              <a:pPr/>
              <a:t>2026-05-07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메이플스토리" panose="02000300000000000000" pitchFamily="2" charset="-127"/>
                <a:ea typeface="메이플스토리" panose="020003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메이플스토리" panose="02000300000000000000" pitchFamily="2" charset="-127"/>
                <a:ea typeface="메이플스토리" panose="02000300000000000000" pitchFamily="2" charset="-127"/>
              </a:defRPr>
            </a:lvl1pPr>
          </a:lstStyle>
          <a:p>
            <a:fld id="{8C7AADCE-4523-43FE-B0A8-90B87F2F6B6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05413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메이플스토리" panose="02000300000000000000" pitchFamily="2" charset="-127"/>
        <a:ea typeface="메이플스토리" panose="02000300000000000000" pitchFamily="2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메이플스토리" panose="02000300000000000000" pitchFamily="2" charset="-127"/>
        <a:ea typeface="메이플스토리" panose="02000300000000000000" pitchFamily="2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메이플스토리" panose="02000300000000000000" pitchFamily="2" charset="-127"/>
        <a:ea typeface="메이플스토리" panose="02000300000000000000" pitchFamily="2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메이플스토리" panose="02000300000000000000" pitchFamily="2" charset="-127"/>
        <a:ea typeface="메이플스토리" panose="02000300000000000000" pitchFamily="2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메이플스토리" panose="02000300000000000000" pitchFamily="2" charset="-127"/>
        <a:ea typeface="메이플스토리" panose="02000300000000000000" pitchFamily="2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6CA48A-C2EC-40C8-B749-566CD4BBC886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3483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1592"/>
            <a:ext cx="9144000" cy="6856408"/>
          </a:xfrm>
          <a:prstGeom prst="rect">
            <a:avLst/>
          </a:prstGeom>
        </p:spPr>
      </p:pic>
      <p:sp>
        <p:nvSpPr>
          <p:cNvPr id="17" name="바닥글 개체 틀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  <a:prstGeom prst="rect">
            <a:avLst/>
          </a:prstGeom>
        </p:spPr>
        <p:txBody>
          <a:bodyPr/>
          <a:lstStyle>
            <a:lvl1pPr algn="r">
              <a:defRPr b="1">
                <a:solidFill>
                  <a:srgbClr val="FFC000"/>
                </a:solidFill>
              </a:defRPr>
            </a:lvl1pPr>
          </a:lstStyle>
          <a:p>
            <a:r>
              <a: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명품 </a:t>
            </a:r>
            <a:r>
              <a:rPr lang="en-US" altLang="ko-KR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 Programming</a:t>
            </a:r>
            <a:endParaRPr lang="ko-KR" altLang="en-US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29" name="슬라이드 번호 개체 틀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68012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kumimoji="0" lang="ko-KR" altLang="en-US" dirty="0"/>
              <a:t>마스터 제목 스타일 편집</a:t>
            </a:r>
            <a:endParaRPr kumimoji="0" lang="en-US" dirty="0"/>
          </a:p>
        </p:txBody>
      </p:sp>
      <p:sp>
        <p:nvSpPr>
          <p:cNvPr id="8" name="내용 개체 틀 7"/>
          <p:cNvSpPr>
            <a:spLocks noGrp="1"/>
          </p:cNvSpPr>
          <p:nvPr>
            <p:ph sz="quarter" idx="1"/>
          </p:nvPr>
        </p:nvSpPr>
        <p:spPr>
          <a:xfrm>
            <a:off x="612648" y="1340768"/>
            <a:ext cx="8153400" cy="50405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>
                <a:latin typeface="메이플스토리" panose="02000300000000000000" pitchFamily="2" charset="-127"/>
                <a:ea typeface="메이플스토리" panose="02000300000000000000" pitchFamily="2" charset="-127"/>
              </a:defRPr>
            </a:lvl3pPr>
            <a:lvl4pPr>
              <a:defRPr sz="1400">
                <a:latin typeface="메이플스토리" panose="02000300000000000000" pitchFamily="2" charset="-127"/>
                <a:ea typeface="메이플스토리" panose="02000300000000000000" pitchFamily="2" charset="-127"/>
              </a:defRPr>
            </a:lvl4pPr>
          </a:lstStyle>
          <a:p>
            <a:pPr lvl="0" eaLnBrk="1" latinLnBrk="0" hangingPunct="1"/>
            <a:r>
              <a:rPr lang="ko-KR" altLang="en-US" dirty="0"/>
              <a:t>마스터 텍스트 스타일을 편집합니다</a:t>
            </a:r>
          </a:p>
          <a:p>
            <a:pPr lvl="1" eaLnBrk="1" latinLnBrk="0" hangingPunct="1"/>
            <a:r>
              <a:rPr lang="ko-KR" altLang="en-US" dirty="0"/>
              <a:t>둘째 수준</a:t>
            </a:r>
          </a:p>
          <a:p>
            <a:pPr lvl="2" eaLnBrk="1" latinLnBrk="0" hangingPunct="1"/>
            <a:r>
              <a:rPr lang="ko-KR" altLang="en-US" dirty="0"/>
              <a:t>셋째 수준</a:t>
            </a:r>
          </a:p>
          <a:p>
            <a:pPr lvl="3" eaLnBrk="1" latinLnBrk="0" hangingPunct="1"/>
            <a:r>
              <a:rPr lang="ko-KR" altLang="en-US" dirty="0"/>
              <a:t>넷째 수준</a:t>
            </a:r>
          </a:p>
          <a:p>
            <a:pPr lvl="4" eaLnBrk="1" latinLnBrk="0" hangingPunct="1"/>
            <a:r>
              <a:rPr lang="ko-KR" altLang="en-US" dirty="0"/>
              <a:t>다섯째 수준</a:t>
            </a:r>
            <a:endParaRPr kumimoji="0" 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7" name="직사각형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>
              <a:latin typeface="메이플스토리" panose="02000300000000000000" pitchFamily="2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>
              <a:latin typeface="메이플스토리" panose="02000300000000000000" pitchFamily="2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>
              <a:latin typeface="메이플스토리" panose="02000300000000000000" pitchFamily="2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15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메이플스토리" panose="02000300000000000000" pitchFamily="2" charset="-127"/>
                <a:ea typeface="메이플스토리" panose="02000300000000000000" pitchFamily="2" charset="-127"/>
              </a:defRPr>
            </a:lvl1pPr>
          </a:lstStyle>
          <a:p>
            <a:fld id="{B31271CA-DFBA-4144-9186-0BE3AC6EE4B1}" type="datetime1">
              <a:rPr lang="ko-KR" altLang="en-US" smtClean="0"/>
              <a:pPr/>
              <a:t>2026-05-07</a:t>
            </a:fld>
            <a:endParaRPr lang="ko-KR" altLang="en-US" dirty="0"/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2" name="바닥글 개체 틀 11"/>
          <p:cNvSpPr>
            <a:spLocks noGrp="1"/>
          </p:cNvSpPr>
          <p:nvPr>
            <p:ph type="ftr" sz="quarter" idx="17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rtlCol="0"/>
          <a:lstStyle/>
          <a:p>
            <a:r>
              <a: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명품 </a:t>
            </a:r>
            <a:r>
              <a:rPr lang="en-US" altLang="ko-KR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 Programming</a:t>
            </a:r>
            <a:endParaRPr lang="ko-KR" altLang="en-US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3" name="내용 개체 틀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2" name="슬라이드 번호 개체 틀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메이플스토리" panose="02000300000000000000" pitchFamily="2" charset="-127"/>
                <a:ea typeface="메이플스토리" panose="02000300000000000000" pitchFamily="2" charset="-127"/>
              </a:defRPr>
            </a:lvl1pPr>
          </a:lstStyle>
          <a:p>
            <a:fld id="{F87F4F71-3D90-4F92-8CFE-D11B433509C0}" type="datetime1">
              <a:rPr lang="ko-KR" altLang="en-US" smtClean="0"/>
              <a:pPr/>
              <a:t>2026-05-07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명품 </a:t>
            </a:r>
            <a:r>
              <a:rPr lang="en-US" altLang="ko-KR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 Programming</a:t>
            </a:r>
            <a:endParaRPr lang="ko-KR" altLang="en-US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>
                <a:latin typeface="메이플스토리" panose="02000300000000000000" pitchFamily="2" charset="-127"/>
                <a:ea typeface="메이플스토리" panose="02000300000000000000" pitchFamily="2" charset="-127"/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 dirty="0"/>
              <a:t>마스터 텍스트 스타일을 편집합니다</a:t>
            </a:r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8" name="직사각형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>
              <a:latin typeface="메이플스토리" panose="02000300000000000000" pitchFamily="2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>
              <a:latin typeface="메이플스토리" panose="02000300000000000000" pitchFamily="2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>
              <a:latin typeface="메이플스토리" panose="02000300000000000000" pitchFamily="2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1" name="직사각형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>
              <a:latin typeface="메이플스토리" panose="02000300000000000000" pitchFamily="2" charset="-127"/>
            </a:endParaRPr>
          </a:p>
        </p:txBody>
      </p:sp>
      <p:sp>
        <p:nvSpPr>
          <p:cNvPr id="12" name="날짜 개체 틀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메이플스토리" panose="02000300000000000000" pitchFamily="2" charset="-127"/>
                <a:ea typeface="메이플스토리" panose="02000300000000000000" pitchFamily="2" charset="-127"/>
              </a:defRPr>
            </a:lvl1pPr>
          </a:lstStyle>
          <a:p>
            <a:fld id="{D200F4F1-024E-465C-B59D-A4FFBC6118A5}" type="datetime1">
              <a:rPr lang="ko-KR" altLang="en-US" smtClean="0"/>
              <a:pPr/>
              <a:t>2026-05-07</a:t>
            </a:fld>
            <a:endParaRPr lang="ko-KR" altLang="en-US" dirty="0"/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바닥글 개체 틀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  <a:prstGeom prst="rect">
            <a:avLst/>
          </a:prstGeom>
        </p:spPr>
        <p:txBody>
          <a:bodyPr rtlCol="0"/>
          <a:lstStyle/>
          <a:p>
            <a:r>
              <a: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명품 </a:t>
            </a:r>
            <a:r>
              <a:rPr lang="en-US" altLang="ko-KR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 Programming</a:t>
            </a:r>
            <a:endParaRPr lang="ko-KR" altLang="en-US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ko-KR" altLang="en-US"/>
              <a:t>그림을 추가하려면 아이콘을 클릭하십시오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메이플스토리" panose="02000300000000000000" pitchFamily="2" charset="-127"/>
                <a:ea typeface="메이플스토리" panose="02000300000000000000" pitchFamily="2" charset="-127"/>
              </a:defRPr>
            </a:lvl1pPr>
          </a:lstStyle>
          <a:p>
            <a:fld id="{3CF3B71A-966A-471E-8596-7D1D6A8996FF}" type="datetime1">
              <a:rPr lang="ko-KR" altLang="en-US" smtClean="0"/>
              <a:pPr/>
              <a:t>2026-05-07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명품 </a:t>
            </a:r>
            <a:r>
              <a:rPr lang="en-US" altLang="ko-KR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 Programming</a:t>
            </a:r>
            <a:endParaRPr lang="ko-KR" altLang="en-US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메이플스토리" panose="02000300000000000000" pitchFamily="2" charset="-127"/>
                <a:ea typeface="메이플스토리" panose="02000300000000000000" pitchFamily="2" charset="-127"/>
              </a:defRPr>
            </a:lvl1pPr>
          </a:lstStyle>
          <a:p>
            <a:fld id="{AD64A7B2-A2B0-4C9D-895B-FE1D68BE16F8}" type="datetime1">
              <a:rPr lang="ko-KR" altLang="en-US" smtClean="0"/>
              <a:pPr/>
              <a:t>2026-05-07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명품 </a:t>
            </a:r>
            <a:r>
              <a:rPr lang="en-US" altLang="ko-KR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 Programming</a:t>
            </a:r>
            <a:endParaRPr lang="ko-KR" altLang="en-US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7" name="직사각형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>
              <a:latin typeface="메이플스토리" panose="02000300000000000000" pitchFamily="2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>
              <a:latin typeface="메이플스토리" panose="02000300000000000000" pitchFamily="2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>
              <a:latin typeface="메이플스토리" panose="02000300000000000000" pitchFamily="2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개체 틀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752128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ko-KR" altLang="en-US" dirty="0"/>
              <a:t>마스터 제목 스타일 편집</a:t>
            </a:r>
            <a:endParaRPr kumimoji="0" lang="en-US" dirty="0"/>
          </a:p>
        </p:txBody>
      </p:sp>
      <p:sp>
        <p:nvSpPr>
          <p:cNvPr id="13" name="텍스트 개체 틀 12"/>
          <p:cNvSpPr>
            <a:spLocks noGrp="1"/>
          </p:cNvSpPr>
          <p:nvPr>
            <p:ph type="body" idx="1"/>
          </p:nvPr>
        </p:nvSpPr>
        <p:spPr>
          <a:xfrm>
            <a:off x="590550" y="1394460"/>
            <a:ext cx="8153400" cy="5058876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ko-KR" altLang="en-US" dirty="0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 dirty="0"/>
              <a:t>둘째 수준</a:t>
            </a:r>
          </a:p>
          <a:p>
            <a:pPr lvl="2" eaLnBrk="1" latinLnBrk="0" hangingPunct="1"/>
            <a:r>
              <a:rPr kumimoji="0" lang="ko-KR" altLang="en-US" dirty="0"/>
              <a:t>셋째 수준</a:t>
            </a:r>
          </a:p>
          <a:p>
            <a:pPr lvl="3" eaLnBrk="1" latinLnBrk="0" hangingPunct="1"/>
            <a:r>
              <a:rPr kumimoji="0" lang="ko-KR" altLang="en-US" dirty="0"/>
              <a:t>넷째 수준</a:t>
            </a:r>
          </a:p>
          <a:p>
            <a:pPr lvl="4" eaLnBrk="1" latinLnBrk="0" hangingPunct="1"/>
            <a:r>
              <a:rPr kumimoji="0" lang="ko-KR" altLang="en-US" dirty="0"/>
              <a:t>다섯째 수준</a:t>
            </a:r>
            <a:endParaRPr kumimoji="0" lang="en-US" dirty="0"/>
          </a:p>
        </p:txBody>
      </p:sp>
      <p:sp>
        <p:nvSpPr>
          <p:cNvPr id="7" name="직사각형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>
              <a:latin typeface="메이플스토리" panose="02000300000000000000" pitchFamily="2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-8725" y="1052736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>
              <a:latin typeface="메이플스토리" panose="02000300000000000000" pitchFamily="2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590550" y="1052736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>
              <a:latin typeface="메이플스토리" panose="02000300000000000000" pitchFamily="2" charset="-127"/>
            </a:endParaRPr>
          </a:p>
        </p:txBody>
      </p:sp>
      <p:sp>
        <p:nvSpPr>
          <p:cNvPr id="23" name="슬라이드 번호 개체 틀 22"/>
          <p:cNvSpPr>
            <a:spLocks noGrp="1"/>
          </p:cNvSpPr>
          <p:nvPr>
            <p:ph type="sldNum" sz="quarter" idx="4"/>
          </p:nvPr>
        </p:nvSpPr>
        <p:spPr>
          <a:xfrm>
            <a:off x="-8725" y="1036860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defRPr>
            </a:lvl1pPr>
          </a:lstStyle>
          <a:p>
            <a:fld id="{01870596-DAFA-46D2-82A7-2B6B5F8E0E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hf hdr="0" dt="0"/>
  <p:txStyles>
    <p:titleStyle>
      <a:lvl1pPr algn="l" rtl="0" eaLnBrk="1" latinLnBrk="1" hangingPunct="1">
        <a:spcBef>
          <a:spcPct val="0"/>
        </a:spcBef>
        <a:buNone/>
        <a:defRPr kumimoji="0" sz="3200" kern="1200">
          <a:solidFill>
            <a:schemeClr val="tx2"/>
          </a:solidFill>
          <a:latin typeface="메이플스토리" panose="02000300000000000000" pitchFamily="2" charset="-127"/>
          <a:ea typeface="메이플스토리" panose="02000300000000000000" pitchFamily="2" charset="-127"/>
          <a:cs typeface="+mj-cs"/>
        </a:defRPr>
      </a:lvl1pPr>
    </p:titleStyle>
    <p:bodyStyle>
      <a:lvl1pPr marL="320040" indent="-320040" algn="l" rtl="0" eaLnBrk="1" latinLnBrk="1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메이플스토리" panose="02000300000000000000" pitchFamily="2" charset="-127"/>
          <a:ea typeface="메이플스토리" panose="02000300000000000000" pitchFamily="2" charset="-127"/>
          <a:cs typeface="+mn-cs"/>
        </a:defRPr>
      </a:lvl1pPr>
      <a:lvl2pPr marL="640080" indent="-274320" algn="l" rtl="0" eaLnBrk="1" latinLnBrk="1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메이플스토리" panose="02000300000000000000" pitchFamily="2" charset="-127"/>
          <a:ea typeface="메이플스토리" panose="02000300000000000000" pitchFamily="2" charset="-127"/>
          <a:cs typeface="+mn-cs"/>
        </a:defRPr>
      </a:lvl2pPr>
      <a:lvl3pPr marL="914400" indent="-228600" algn="l" rtl="0" eaLnBrk="1" latinLnBrk="1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메이플스토리" panose="02000300000000000000" pitchFamily="2" charset="-127"/>
          <a:ea typeface="메이플스토리" panose="02000300000000000000" pitchFamily="2" charset="-127"/>
          <a:cs typeface="+mn-cs"/>
        </a:defRPr>
      </a:lvl3pPr>
      <a:lvl4pPr marL="1371600" indent="-228600" algn="l" rtl="0" eaLnBrk="1" latinLnBrk="1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메이플스토리" panose="02000300000000000000" pitchFamily="2" charset="-127"/>
          <a:ea typeface="메이플스토리" panose="02000300000000000000" pitchFamily="2" charset="-127"/>
          <a:cs typeface="+mn-cs"/>
        </a:defRPr>
      </a:lvl4pPr>
      <a:lvl5pPr marL="1828800" indent="-228600" algn="l" rtl="0" eaLnBrk="1" latinLnBrk="1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메이플스토리" panose="02000300000000000000" pitchFamily="2" charset="-127"/>
          <a:ea typeface="메이플스토리" panose="02000300000000000000" pitchFamily="2" charset="-127"/>
          <a:cs typeface="+mn-cs"/>
        </a:defRPr>
      </a:lvl5pPr>
      <a:lvl6pPr marL="2103120" indent="-228600" algn="l" rtl="0" eaLnBrk="1" latinLnBrk="1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1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1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1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3" Type="http://schemas.openxmlformats.org/officeDocument/2006/relationships/image" Target="../media/image17.png"/><Relationship Id="rId7" Type="http://schemas.openxmlformats.org/officeDocument/2006/relationships/image" Target="../media/image21.emf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emf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자바의 </a:t>
            </a:r>
            <a:r>
              <a:rPr lang="en-US" altLang="ko-KR" dirty="0"/>
              <a:t>GUI(Graphical User Interface)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GUI </a:t>
            </a:r>
            <a:r>
              <a:rPr lang="ko-KR" altLang="en-US" dirty="0"/>
              <a:t>목적</a:t>
            </a:r>
            <a:endParaRPr lang="en-US" altLang="ko-KR" dirty="0"/>
          </a:p>
          <a:p>
            <a:pPr lvl="1"/>
            <a:r>
              <a:rPr lang="ko-KR" altLang="en-US" dirty="0"/>
              <a:t>그래픽 이용</a:t>
            </a:r>
            <a:r>
              <a:rPr lang="en-US" altLang="ko-KR" dirty="0"/>
              <a:t>,</a:t>
            </a:r>
            <a:r>
              <a:rPr lang="ko-KR" altLang="en-US" dirty="0"/>
              <a:t> 사용자에게 이해하기 쉬운 모양으로 정보 제공</a:t>
            </a:r>
            <a:endParaRPr lang="en-US" altLang="ko-KR" dirty="0"/>
          </a:p>
          <a:p>
            <a:pPr lvl="1"/>
            <a:r>
              <a:rPr lang="ko-KR" altLang="en-US" dirty="0"/>
              <a:t>사용자는 마우스나 키보드를 이용하여 쉽게 입력</a:t>
            </a:r>
            <a:endParaRPr lang="en-US" altLang="ko-KR" dirty="0"/>
          </a:p>
          <a:p>
            <a:r>
              <a:rPr lang="ko-KR" altLang="en-US" dirty="0"/>
              <a:t>자바 </a:t>
            </a:r>
            <a:r>
              <a:rPr lang="en-US" altLang="ko-KR" dirty="0"/>
              <a:t>GUI </a:t>
            </a:r>
            <a:r>
              <a:rPr lang="ko-KR" altLang="en-US" dirty="0"/>
              <a:t>특징</a:t>
            </a:r>
            <a:endParaRPr lang="en-US" altLang="ko-KR" dirty="0"/>
          </a:p>
          <a:p>
            <a:pPr lvl="1"/>
            <a:r>
              <a:rPr lang="ko-KR" altLang="en-US" dirty="0"/>
              <a:t>강력한 </a:t>
            </a:r>
            <a:r>
              <a:rPr lang="en-US" altLang="ko-KR" dirty="0"/>
              <a:t>GUI </a:t>
            </a:r>
            <a:r>
              <a:rPr lang="ko-KR" altLang="en-US" dirty="0"/>
              <a:t>컴포넌트 제공</a:t>
            </a:r>
            <a:r>
              <a:rPr lang="en-US" altLang="ko-KR" dirty="0"/>
              <a:t>, </a:t>
            </a:r>
            <a:r>
              <a:rPr lang="ko-KR" altLang="en-US" dirty="0"/>
              <a:t>쉬운 </a:t>
            </a:r>
            <a:r>
              <a:rPr lang="en-US" altLang="ko-KR" dirty="0"/>
              <a:t>GUI </a:t>
            </a:r>
            <a:r>
              <a:rPr lang="ko-KR" altLang="en-US" dirty="0"/>
              <a:t>프로그래밍</a:t>
            </a:r>
            <a:endParaRPr lang="en-US" altLang="ko-KR" dirty="0"/>
          </a:p>
          <a:p>
            <a:r>
              <a:rPr lang="ko-KR" altLang="en-US" dirty="0"/>
              <a:t>자바의 </a:t>
            </a:r>
            <a:r>
              <a:rPr lang="en-US" altLang="ko-KR" dirty="0"/>
              <a:t>GUI </a:t>
            </a:r>
            <a:r>
              <a:rPr lang="ko-KR" altLang="en-US" dirty="0"/>
              <a:t>프로그래밍 방법</a:t>
            </a:r>
            <a:endParaRPr lang="en-US" altLang="ko-KR" dirty="0"/>
          </a:p>
          <a:p>
            <a:pPr lvl="1"/>
            <a:r>
              <a:rPr lang="en-US" altLang="ko-KR" dirty="0"/>
              <a:t>GUI </a:t>
            </a:r>
            <a:r>
              <a:rPr lang="ko-KR" altLang="en-US" dirty="0"/>
              <a:t>컴포넌트와 그래픽 이용</a:t>
            </a:r>
            <a:endParaRPr lang="en-US" altLang="ko-KR" dirty="0"/>
          </a:p>
          <a:p>
            <a:pPr lvl="2"/>
            <a:r>
              <a:rPr lang="en-US" altLang="ko-KR" dirty="0"/>
              <a:t>AWT </a:t>
            </a:r>
            <a:r>
              <a:rPr lang="ko-KR" altLang="en-US" dirty="0"/>
              <a:t>패키지와 </a:t>
            </a:r>
            <a:r>
              <a:rPr lang="en-US" altLang="ko-KR" dirty="0"/>
              <a:t>Swing </a:t>
            </a:r>
            <a:r>
              <a:rPr lang="ko-KR" altLang="en-US" dirty="0"/>
              <a:t>패키지에 제공되는 </a:t>
            </a:r>
            <a:r>
              <a:rPr lang="ko-KR" altLang="en-US" dirty="0" err="1"/>
              <a:t>메카니즘</a:t>
            </a:r>
            <a:r>
              <a:rPr lang="ko-KR" altLang="en-US" dirty="0"/>
              <a:t> 이용</a:t>
            </a:r>
            <a:endParaRPr lang="en-US" altLang="ko-KR" dirty="0"/>
          </a:p>
          <a:p>
            <a:pPr lvl="2"/>
            <a:r>
              <a:rPr lang="en-US" altLang="ko-KR" dirty="0"/>
              <a:t>AWT - </a:t>
            </a:r>
            <a:r>
              <a:rPr lang="en-US" altLang="ko-KR" dirty="0" err="1"/>
              <a:t>java.awt</a:t>
            </a:r>
            <a:r>
              <a:rPr lang="en-US" altLang="ko-KR" dirty="0"/>
              <a:t> </a:t>
            </a:r>
            <a:r>
              <a:rPr lang="ko-KR" altLang="en-US" dirty="0"/>
              <a:t>패키지</a:t>
            </a:r>
            <a:endParaRPr lang="en-US" altLang="ko-KR" dirty="0"/>
          </a:p>
          <a:p>
            <a:pPr lvl="2"/>
            <a:r>
              <a:rPr lang="en-US" altLang="ko-KR" dirty="0"/>
              <a:t>Swing - </a:t>
            </a:r>
            <a:r>
              <a:rPr lang="en-US" altLang="ko-KR" dirty="0" err="1"/>
              <a:t>javax.swing</a:t>
            </a:r>
            <a:r>
              <a:rPr lang="en-US" altLang="ko-KR" dirty="0"/>
              <a:t> </a:t>
            </a:r>
            <a:r>
              <a:rPr lang="ko-KR" altLang="en-US" dirty="0"/>
              <a:t>패키지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1742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AWT</a:t>
            </a:r>
            <a:r>
              <a:rPr lang="ko-KR" altLang="en-US" dirty="0"/>
              <a:t>와 </a:t>
            </a:r>
            <a:r>
              <a:rPr lang="en-US" altLang="ko-KR" dirty="0"/>
              <a:t>Swing </a:t>
            </a:r>
            <a:r>
              <a:rPr lang="ko-KR" altLang="en-US" dirty="0"/>
              <a:t>패키지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marL="320040" lvl="1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</a:pPr>
            <a:r>
              <a:rPr lang="en-US" altLang="ko-KR" dirty="0"/>
              <a:t>AWT(Abstract Windowing Toolkit)</a:t>
            </a:r>
          </a:p>
          <a:p>
            <a:pPr lvl="1"/>
            <a:r>
              <a:rPr lang="ko-KR" altLang="en-US" dirty="0"/>
              <a:t>자바가 처음 나왔을 때 함께 배포된 </a:t>
            </a:r>
            <a:r>
              <a:rPr lang="en-US" altLang="ko-KR" dirty="0"/>
              <a:t>GUI </a:t>
            </a:r>
            <a:r>
              <a:rPr lang="ko-KR" altLang="en-US" dirty="0"/>
              <a:t>라이브러리</a:t>
            </a:r>
            <a:endParaRPr lang="en-US" altLang="ko-KR" dirty="0"/>
          </a:p>
          <a:p>
            <a:pPr lvl="1"/>
            <a:r>
              <a:rPr lang="en-US" altLang="ko-KR" dirty="0" err="1"/>
              <a:t>java.awt</a:t>
            </a:r>
            <a:r>
              <a:rPr lang="en-US" altLang="ko-KR" dirty="0"/>
              <a:t> </a:t>
            </a:r>
            <a:r>
              <a:rPr lang="ko-KR" altLang="en-US" dirty="0"/>
              <a:t>패키지</a:t>
            </a:r>
            <a:endParaRPr lang="en-US" altLang="ko-KR" dirty="0"/>
          </a:p>
          <a:p>
            <a:pPr lvl="1"/>
            <a:r>
              <a:rPr lang="en-US" altLang="ko-KR" dirty="0"/>
              <a:t>AWT </a:t>
            </a:r>
            <a:r>
              <a:rPr lang="ko-KR" altLang="en-US" dirty="0"/>
              <a:t>컴포넌트는 중량 컴포넌트</a:t>
            </a:r>
            <a:r>
              <a:rPr lang="en-US" altLang="ko-KR" dirty="0"/>
              <a:t>(Heavy weight components)</a:t>
            </a:r>
          </a:p>
          <a:p>
            <a:pPr lvl="2"/>
            <a:r>
              <a:rPr lang="en-US" altLang="ko-KR" dirty="0"/>
              <a:t>AWT </a:t>
            </a:r>
            <a:r>
              <a:rPr lang="ko-KR" altLang="en-US" dirty="0"/>
              <a:t>컴포넌트는 </a:t>
            </a:r>
            <a:r>
              <a:rPr lang="en-US" altLang="ko-KR" dirty="0"/>
              <a:t>native(peer) </a:t>
            </a:r>
            <a:r>
              <a:rPr lang="ko-KR" altLang="en-US" dirty="0"/>
              <a:t>운영체제의 </a:t>
            </a:r>
            <a:r>
              <a:rPr lang="en-US" altLang="ko-KR" dirty="0"/>
              <a:t>GUI </a:t>
            </a:r>
            <a:r>
              <a:rPr lang="ko-KR" altLang="en-US" dirty="0"/>
              <a:t>컴포넌트의 도움을 받아 작동</a:t>
            </a:r>
            <a:endParaRPr lang="en-US" altLang="ko-KR" dirty="0"/>
          </a:p>
          <a:p>
            <a:pPr lvl="2"/>
            <a:r>
              <a:rPr lang="ko-KR" altLang="en-US" dirty="0"/>
              <a:t>운영체제에 많은 부담</a:t>
            </a:r>
            <a:r>
              <a:rPr lang="en-US" altLang="ko-KR" dirty="0"/>
              <a:t>. </a:t>
            </a:r>
            <a:r>
              <a:rPr lang="ko-KR" altLang="en-US" dirty="0"/>
              <a:t>오히려 처리 속도는 빠름</a:t>
            </a:r>
            <a:endParaRPr lang="en-US" altLang="ko-KR" dirty="0"/>
          </a:p>
          <a:p>
            <a:r>
              <a:rPr lang="en-US" altLang="ko-KR" dirty="0"/>
              <a:t>Swing(</a:t>
            </a:r>
            <a:r>
              <a:rPr lang="ko-KR" altLang="en-US" dirty="0"/>
              <a:t>스윙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AWT </a:t>
            </a:r>
            <a:r>
              <a:rPr lang="ko-KR" altLang="en-US" dirty="0"/>
              <a:t>기술을 기반으로 순수 자바 언어로 만들어진 라이브러리</a:t>
            </a:r>
            <a:endParaRPr lang="en-US" altLang="ko-KR" dirty="0"/>
          </a:p>
          <a:p>
            <a:pPr lvl="2"/>
            <a:r>
              <a:rPr lang="ko-KR" altLang="en-US" dirty="0"/>
              <a:t>모든 </a:t>
            </a:r>
            <a:r>
              <a:rPr lang="en-US" altLang="ko-KR" dirty="0"/>
              <a:t>AWT </a:t>
            </a:r>
            <a:r>
              <a:rPr lang="ko-KR" altLang="en-US" dirty="0"/>
              <a:t>기능 </a:t>
            </a:r>
            <a:r>
              <a:rPr lang="en-US" altLang="ko-KR" dirty="0"/>
              <a:t>+ </a:t>
            </a:r>
            <a:r>
              <a:rPr lang="ko-KR" altLang="en-US" dirty="0"/>
              <a:t>추가된 풍부하고 화려한 고급 컴포넌트</a:t>
            </a:r>
            <a:endParaRPr lang="en-US" altLang="ko-KR" dirty="0"/>
          </a:p>
          <a:p>
            <a:pPr lvl="2"/>
            <a:r>
              <a:rPr lang="en-US" altLang="ko-KR" dirty="0"/>
              <a:t>AWT </a:t>
            </a:r>
            <a:r>
              <a:rPr lang="ko-KR" altLang="en-US" dirty="0"/>
              <a:t>컴포넌트에 </a:t>
            </a:r>
            <a:r>
              <a:rPr lang="en-US" altLang="ko-KR" dirty="0"/>
              <a:t>J</a:t>
            </a:r>
            <a:r>
              <a:rPr lang="ko-KR" altLang="en-US" dirty="0"/>
              <a:t>자가 덧붙여진 이름의 클래스</a:t>
            </a:r>
            <a:endParaRPr lang="en-US" altLang="ko-KR" dirty="0"/>
          </a:p>
          <a:p>
            <a:pPr lvl="2"/>
            <a:r>
              <a:rPr lang="ko-KR" altLang="en-US" dirty="0"/>
              <a:t>그 외 </a:t>
            </a:r>
            <a:r>
              <a:rPr lang="en-US" altLang="ko-KR" dirty="0"/>
              <a:t>J </a:t>
            </a:r>
            <a:r>
              <a:rPr lang="ko-KR" altLang="en-US" dirty="0"/>
              <a:t>자로 시작하는 클래스</a:t>
            </a:r>
            <a:endParaRPr lang="en-US" altLang="ko-KR" dirty="0"/>
          </a:p>
          <a:p>
            <a:pPr lvl="1"/>
            <a:r>
              <a:rPr lang="en-US" altLang="ko-KR" dirty="0" err="1"/>
              <a:t>javax.swing</a:t>
            </a:r>
            <a:r>
              <a:rPr lang="en-US" altLang="ko-KR" dirty="0"/>
              <a:t> </a:t>
            </a:r>
            <a:r>
              <a:rPr lang="ko-KR" altLang="en-US" dirty="0"/>
              <a:t>패키지</a:t>
            </a:r>
            <a:endParaRPr lang="en-US" altLang="ko-KR" dirty="0"/>
          </a:p>
          <a:p>
            <a:pPr lvl="1"/>
            <a:r>
              <a:rPr lang="en-US" altLang="ko-KR" dirty="0"/>
              <a:t>Swing </a:t>
            </a:r>
            <a:r>
              <a:rPr lang="ko-KR" altLang="en-US" dirty="0"/>
              <a:t>컴포넌트는 경량 컴포넌트</a:t>
            </a:r>
            <a:r>
              <a:rPr lang="en-US" altLang="ko-KR" dirty="0"/>
              <a:t>(Light weight components) </a:t>
            </a:r>
          </a:p>
          <a:p>
            <a:pPr lvl="2"/>
            <a:r>
              <a:rPr lang="en-US" altLang="ko-KR" dirty="0"/>
              <a:t>native(peer)</a:t>
            </a:r>
            <a:r>
              <a:rPr lang="ko-KR" altLang="en-US" dirty="0"/>
              <a:t> 운영체제에 의존하지 않음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4158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스윙 컴포넌트 예시</a:t>
            </a:r>
          </a:p>
        </p:txBody>
      </p:sp>
      <p:pic>
        <p:nvPicPr>
          <p:cNvPr id="4" name="그림 3" descr="JButton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58364" y="1575602"/>
            <a:ext cx="571500" cy="266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3568" y="1988840"/>
            <a:ext cx="8928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JButton</a:t>
            </a:r>
            <a:endParaRPr lang="ko-KR" altLang="en-US" sz="1400" dirty="0">
              <a:solidFill>
                <a:schemeClr val="accent2">
                  <a:lumMod val="75000"/>
                </a:schemeClr>
              </a:solidFill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pic>
        <p:nvPicPr>
          <p:cNvPr id="6" name="그림 5" descr="JCheckBox1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763688" y="1484784"/>
            <a:ext cx="1857375" cy="685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102055" y="2252362"/>
            <a:ext cx="11537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JCheckBox</a:t>
            </a:r>
            <a:endParaRPr lang="ko-KR" altLang="en-US" sz="1400" dirty="0">
              <a:solidFill>
                <a:schemeClr val="accent2">
                  <a:lumMod val="75000"/>
                </a:schemeClr>
              </a:solidFill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pic>
        <p:nvPicPr>
          <p:cNvPr id="8" name="그림 7" descr="JComboBox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995936" y="4293096"/>
            <a:ext cx="1619250" cy="1905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995936" y="6165304"/>
            <a:ext cx="12130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JComboBox</a:t>
            </a:r>
            <a:endParaRPr lang="ko-KR" altLang="en-US" sz="1400" dirty="0">
              <a:solidFill>
                <a:schemeClr val="accent2">
                  <a:lumMod val="75000"/>
                </a:schemeClr>
              </a:solidFill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pic>
        <p:nvPicPr>
          <p:cNvPr id="10" name="그림 9" descr="JList2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948264" y="4293096"/>
            <a:ext cx="476250" cy="1914525"/>
          </a:xfrm>
          <a:prstGeom prst="rect">
            <a:avLst/>
          </a:prstGeom>
        </p:spPr>
      </p:pic>
      <p:pic>
        <p:nvPicPr>
          <p:cNvPr id="11" name="그림 10" descr="JList1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6157689" y="4364534"/>
            <a:ext cx="638175" cy="1724025"/>
          </a:xfrm>
          <a:prstGeom prst="rect">
            <a:avLst/>
          </a:prstGeom>
        </p:spPr>
      </p:pic>
      <p:pic>
        <p:nvPicPr>
          <p:cNvPr id="12" name="그림 11" descr="JList3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7591206" y="4435972"/>
            <a:ext cx="790575" cy="15525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20272" y="6165304"/>
            <a:ext cx="6030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JList</a:t>
            </a:r>
            <a:endParaRPr lang="ko-KR" altLang="en-US" sz="1400" dirty="0">
              <a:solidFill>
                <a:schemeClr val="accent2">
                  <a:lumMod val="75000"/>
                </a:schemeClr>
              </a:solidFill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pic>
        <p:nvPicPr>
          <p:cNvPr id="14" name="그림 13" descr="JSlider.pn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5724128" y="1484784"/>
            <a:ext cx="2781300" cy="6953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04248" y="2204864"/>
            <a:ext cx="7761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JSlider</a:t>
            </a:r>
            <a:endParaRPr lang="ko-KR" altLang="en-US" sz="1400" dirty="0">
              <a:solidFill>
                <a:schemeClr val="accent2">
                  <a:lumMod val="75000"/>
                </a:schemeClr>
              </a:solidFill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pic>
        <p:nvPicPr>
          <p:cNvPr id="16" name="그림 15" descr="JRadioButton1.pn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3851920" y="1412776"/>
            <a:ext cx="1762125" cy="685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034429" y="2259196"/>
            <a:ext cx="1385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JRadioButton</a:t>
            </a:r>
            <a:endParaRPr lang="ko-KR" altLang="en-US" sz="1400" dirty="0">
              <a:solidFill>
                <a:schemeClr val="accent2">
                  <a:lumMod val="75000"/>
                </a:schemeClr>
              </a:solidFill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pic>
        <p:nvPicPr>
          <p:cNvPr id="18" name="그림 17" descr="JTextField.pn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323528" y="2996952"/>
            <a:ext cx="3009900" cy="5238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259632" y="3645024"/>
            <a:ext cx="10704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JTextField</a:t>
            </a:r>
            <a:endParaRPr lang="ko-KR" altLang="en-US" sz="1400" dirty="0">
              <a:solidFill>
                <a:schemeClr val="accent2">
                  <a:lumMod val="75000"/>
                </a:schemeClr>
              </a:solidFill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pic>
        <p:nvPicPr>
          <p:cNvPr id="20" name="그림 19" descr="JTextArea.png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899592" y="4509120"/>
            <a:ext cx="2114550" cy="12192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331640" y="5733256"/>
            <a:ext cx="10817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JTextArea</a:t>
            </a:r>
            <a:endParaRPr lang="ko-KR" altLang="en-US" sz="1400" dirty="0">
              <a:solidFill>
                <a:schemeClr val="accent2">
                  <a:lumMod val="75000"/>
                </a:schemeClr>
              </a:solidFill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pic>
        <p:nvPicPr>
          <p:cNvPr id="22" name="그림 21" descr="JSpinner.png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6228184" y="2996952"/>
            <a:ext cx="1885950" cy="2667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660232" y="3356992"/>
            <a:ext cx="9332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JSpinner</a:t>
            </a:r>
            <a:endParaRPr lang="ko-KR" altLang="en-US" sz="1400" dirty="0">
              <a:solidFill>
                <a:schemeClr val="accent2">
                  <a:lumMod val="75000"/>
                </a:schemeClr>
              </a:solidFill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pic>
        <p:nvPicPr>
          <p:cNvPr id="24" name="그림 23" descr="JPasswordField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3635896" y="2996952"/>
            <a:ext cx="2247900" cy="27622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995936" y="3429000"/>
            <a:ext cx="15485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JPasswordField</a:t>
            </a:r>
            <a:endParaRPr lang="ko-KR" altLang="en-US" sz="1400" dirty="0">
              <a:solidFill>
                <a:schemeClr val="accent2">
                  <a:lumMod val="75000"/>
                </a:schemeClr>
              </a:solidFill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26" name="슬라이드 번호 개체 틀 2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6482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슬라이드 번호 개체 틀 1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A6BD2C2-3D3B-4E94-BD92-61B02C5F4DEE}" type="slidenum">
              <a:rPr lang="ko-KR" altLang="en-US" smtClean="0"/>
              <a:pPr/>
              <a:t>4</a:t>
            </a:fld>
            <a:endParaRPr lang="ko-KR" altLang="en-US"/>
          </a:p>
        </p:txBody>
      </p:sp>
      <p:pic>
        <p:nvPicPr>
          <p:cNvPr id="4" name="그림 3" descr="JProgressBar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39552" y="764704"/>
            <a:ext cx="2914650" cy="190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65332" y="957928"/>
            <a:ext cx="1387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JProgressBar</a:t>
            </a:r>
            <a:endParaRPr lang="ko-KR" altLang="en-US" sz="1400" dirty="0">
              <a:solidFill>
                <a:schemeClr val="accent2">
                  <a:lumMod val="75000"/>
                </a:schemeClr>
              </a:solidFill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pic>
        <p:nvPicPr>
          <p:cNvPr id="6" name="그림 5" descr="JToolTib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923928" y="692696"/>
            <a:ext cx="1438275" cy="723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39952" y="1340768"/>
            <a:ext cx="8992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JToolTip</a:t>
            </a:r>
            <a:endParaRPr lang="ko-KR" altLang="en-US" sz="1400" dirty="0">
              <a:solidFill>
                <a:schemeClr val="accent2">
                  <a:lumMod val="75000"/>
                </a:schemeClr>
              </a:solidFill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pic>
        <p:nvPicPr>
          <p:cNvPr id="8" name="그림 7" descr="JScrollPane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156176" y="692696"/>
            <a:ext cx="2419350" cy="2095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04248" y="2780928"/>
            <a:ext cx="1204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JScrollPane</a:t>
            </a:r>
            <a:endParaRPr lang="ko-KR" altLang="en-US" sz="1400" dirty="0">
              <a:solidFill>
                <a:schemeClr val="accent2">
                  <a:lumMod val="75000"/>
                </a:schemeClr>
              </a:solidFill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732240" y="5864988"/>
            <a:ext cx="14970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JColorChooser</a:t>
            </a:r>
            <a:endParaRPr lang="ko-KR" altLang="en-US" sz="1400" dirty="0">
              <a:solidFill>
                <a:schemeClr val="accent2">
                  <a:lumMod val="75000"/>
                </a:schemeClr>
              </a:solidFill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995936" y="5864989"/>
            <a:ext cx="8174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JFrame</a:t>
            </a:r>
            <a:endParaRPr lang="ko-KR" altLang="en-US" sz="1400" dirty="0">
              <a:solidFill>
                <a:schemeClr val="accent2">
                  <a:lumMod val="75000"/>
                </a:schemeClr>
              </a:solidFill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59632" y="5889501"/>
            <a:ext cx="8151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JDialog</a:t>
            </a:r>
            <a:endParaRPr lang="ko-KR" altLang="en-US" sz="1400" dirty="0">
              <a:solidFill>
                <a:schemeClr val="accent2">
                  <a:lumMod val="75000"/>
                </a:schemeClr>
              </a:solidFill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pic>
        <p:nvPicPr>
          <p:cNvPr id="16" name="그림 15" descr="JMenu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83568" y="1700808"/>
            <a:ext cx="2333625" cy="130492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31640" y="3068960"/>
            <a:ext cx="7377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JMenu</a:t>
            </a:r>
            <a:endParaRPr lang="ko-KR" altLang="en-US" sz="1400" dirty="0">
              <a:solidFill>
                <a:schemeClr val="accent2">
                  <a:lumMod val="75000"/>
                </a:schemeClr>
              </a:solidFill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568" y="3838972"/>
            <a:ext cx="2325738" cy="1904182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47864" y="3310382"/>
            <a:ext cx="2383601" cy="2432772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70023" y="3291141"/>
            <a:ext cx="2743436" cy="2471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013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9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A6BD2C2-3D3B-4E94-BD92-61B02C5F4DEE}" type="slidenum">
              <a:rPr lang="ko-KR" altLang="en-US" smtClean="0"/>
              <a:pPr/>
              <a:t>5</a:t>
            </a:fld>
            <a:endParaRPr lang="ko-KR" altLang="en-US"/>
          </a:p>
        </p:txBody>
      </p:sp>
      <p:pic>
        <p:nvPicPr>
          <p:cNvPr id="4" name="그림 3" descr="JTabl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403648" y="260648"/>
            <a:ext cx="6372225" cy="20669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25130" y="2395808"/>
            <a:ext cx="7437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i="1" dirty="0" err="1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JTable</a:t>
            </a:r>
            <a:endParaRPr lang="ko-KR" altLang="en-US" sz="1400" i="1" dirty="0">
              <a:solidFill>
                <a:schemeClr val="accent2">
                  <a:lumMod val="75000"/>
                </a:schemeClr>
              </a:solidFill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pic>
        <p:nvPicPr>
          <p:cNvPr id="6" name="그림 5" descr="JTree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69504" y="3234462"/>
            <a:ext cx="2800350" cy="26765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130871" y="5910987"/>
            <a:ext cx="6697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i="1" dirty="0" err="1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JTree</a:t>
            </a:r>
            <a:endParaRPr lang="ko-KR" altLang="en-US" sz="1400" i="1" dirty="0">
              <a:solidFill>
                <a:schemeClr val="accent2">
                  <a:lumMod val="75000"/>
                </a:schemeClr>
              </a:solidFill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157936" y="6042774"/>
            <a:ext cx="25925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i="1" dirty="0" err="1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JEditorPane</a:t>
            </a:r>
            <a:r>
              <a:rPr lang="en-US" altLang="ko-KR" sz="1400" i="1" dirty="0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 and </a:t>
            </a:r>
            <a:r>
              <a:rPr lang="en-US" altLang="ko-KR" sz="1400" i="1" dirty="0" err="1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JTextPane</a:t>
            </a:r>
            <a:endParaRPr lang="ko-KR" altLang="en-US" sz="1400" i="1" dirty="0">
              <a:solidFill>
                <a:schemeClr val="accent2">
                  <a:lumMod val="75000"/>
                </a:schemeClr>
              </a:solidFill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pic>
        <p:nvPicPr>
          <p:cNvPr id="9" name="그림 8" descr="JEditorPane JTextPane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085928" y="2730406"/>
            <a:ext cx="2438400" cy="331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215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9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A6BD2C2-3D3B-4E94-BD92-61B02C5F4DEE}" type="slidenum">
              <a:rPr lang="ko-KR" altLang="en-US" smtClean="0"/>
              <a:pPr/>
              <a:t>6</a:t>
            </a:fld>
            <a:endParaRPr lang="ko-KR" altLang="en-US"/>
          </a:p>
        </p:txBody>
      </p:sp>
      <p:pic>
        <p:nvPicPr>
          <p:cNvPr id="4" name="그림 3" descr="JToolbar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9512" y="1412776"/>
            <a:ext cx="3733800" cy="361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4578" y="1849384"/>
            <a:ext cx="9543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i="1" dirty="0" err="1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JToolBar</a:t>
            </a:r>
            <a:endParaRPr lang="ko-KR" altLang="en-US" sz="1400" i="1" dirty="0">
              <a:solidFill>
                <a:schemeClr val="accent2">
                  <a:lumMod val="75000"/>
                </a:schemeClr>
              </a:solidFill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84782" y="3994282"/>
            <a:ext cx="13610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i="1" dirty="0" err="1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JTabbedPane</a:t>
            </a:r>
            <a:endParaRPr lang="ko-KR" altLang="en-US" sz="1400" i="1" dirty="0">
              <a:solidFill>
                <a:schemeClr val="accent2">
                  <a:lumMod val="75000"/>
                </a:schemeClr>
              </a:solidFill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pic>
        <p:nvPicPr>
          <p:cNvPr id="8" name="그림 7" descr="JSplitPane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139952" y="1340768"/>
            <a:ext cx="4781550" cy="25812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0152" y="3995159"/>
            <a:ext cx="11049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i="1" dirty="0" err="1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JSplitPane</a:t>
            </a:r>
            <a:endParaRPr lang="ko-KR" altLang="en-US" sz="1400" i="1" dirty="0">
              <a:solidFill>
                <a:schemeClr val="accent2">
                  <a:lumMod val="75000"/>
                </a:schemeClr>
              </a:solidFill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600" y="2257984"/>
            <a:ext cx="1753609" cy="163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849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Swing </a:t>
            </a:r>
            <a:r>
              <a:rPr lang="ko-KR" altLang="en-US"/>
              <a:t>으로</a:t>
            </a:r>
            <a:r>
              <a:rPr lang="en-US" altLang="ko-KR"/>
              <a:t> </a:t>
            </a:r>
            <a:r>
              <a:rPr lang="ko-KR" altLang="en-US"/>
              <a:t>만든 </a:t>
            </a:r>
            <a:r>
              <a:rPr lang="en-US" altLang="ko-KR"/>
              <a:t>GUI </a:t>
            </a:r>
            <a:r>
              <a:rPr lang="ko-KR" altLang="en-US"/>
              <a:t>프로그램 샘플</a:t>
            </a:r>
          </a:p>
        </p:txBody>
      </p:sp>
      <p:grpSp>
        <p:nvGrpSpPr>
          <p:cNvPr id="16" name="그룹 15"/>
          <p:cNvGrpSpPr/>
          <p:nvPr/>
        </p:nvGrpSpPr>
        <p:grpSpPr>
          <a:xfrm>
            <a:off x="641627" y="1700808"/>
            <a:ext cx="7487372" cy="4435839"/>
            <a:chOff x="357158" y="1747497"/>
            <a:chExt cx="7487372" cy="4435839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39255" y="2335786"/>
              <a:ext cx="4236441" cy="3429000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sp>
          <p:nvSpPr>
            <p:cNvPr id="5" name="TextBox 4"/>
            <p:cNvSpPr txBox="1"/>
            <p:nvPr/>
          </p:nvSpPr>
          <p:spPr>
            <a:xfrm>
              <a:off x="6122583" y="2558634"/>
              <a:ext cx="11770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 err="1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JMenuBar</a:t>
              </a:r>
              <a:endParaRPr lang="ko-KR" altLang="en-US" sz="1600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122583" y="2272882"/>
              <a:ext cx="90871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 err="1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JFrame</a:t>
              </a:r>
              <a:endParaRPr lang="ko-KR" altLang="en-US" sz="1600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00034" y="2487196"/>
              <a:ext cx="8178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 err="1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JMenu</a:t>
              </a:r>
              <a:endParaRPr lang="ko-KR" altLang="en-US" sz="1600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893870" y="5844782"/>
              <a:ext cx="124027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 err="1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JSplitPane</a:t>
              </a:r>
              <a:endParaRPr lang="ko-KR" altLang="en-US" sz="1600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194021" y="3773080"/>
              <a:ext cx="82657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 err="1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JLabel</a:t>
              </a:r>
              <a:endParaRPr lang="ko-KR" altLang="en-US" sz="1600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71472" y="3630204"/>
              <a:ext cx="66236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 err="1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JList</a:t>
              </a:r>
              <a:endParaRPr lang="ko-KR" altLang="en-US" sz="1600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071934" y="1915692"/>
              <a:ext cx="120039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 err="1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JTextField</a:t>
              </a:r>
              <a:endParaRPr lang="ko-KR" altLang="en-US" sz="1600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000364" y="1915692"/>
              <a:ext cx="82657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 err="1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JLabel</a:t>
              </a:r>
              <a:endParaRPr lang="ko-KR" altLang="en-US" sz="1600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714480" y="1915692"/>
              <a:ext cx="9948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 err="1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JButton</a:t>
              </a:r>
              <a:endParaRPr lang="ko-KR" altLang="en-US" sz="1600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57158" y="2772948"/>
              <a:ext cx="106356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 err="1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JToolBar</a:t>
              </a:r>
              <a:endParaRPr lang="ko-KR" altLang="en-US" sz="1600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122583" y="3273014"/>
              <a:ext cx="136107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 err="1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JComboBox</a:t>
              </a:r>
              <a:endParaRPr lang="ko-KR" altLang="en-US" sz="1600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316270" y="1747497"/>
              <a:ext cx="252826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프레임</a:t>
              </a:r>
              <a:r>
                <a:rPr lang="en-US" altLang="ko-KR" sz="16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 </a:t>
              </a:r>
              <a:r>
                <a:rPr lang="ko-KR" altLang="en-US" sz="16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윈도우 닫기 버튼</a:t>
              </a:r>
            </a:p>
          </p:txBody>
        </p:sp>
        <p:sp>
          <p:nvSpPr>
            <p:cNvPr id="18" name="자유형 17"/>
            <p:cNvSpPr/>
            <p:nvPr/>
          </p:nvSpPr>
          <p:spPr>
            <a:xfrm>
              <a:off x="1156138" y="2634893"/>
              <a:ext cx="725214" cy="49049"/>
            </a:xfrm>
            <a:custGeom>
              <a:avLst/>
              <a:gdLst>
                <a:gd name="connsiteX0" fmla="*/ 0 w 725214"/>
                <a:gd name="connsiteY0" fmla="*/ 49049 h 49049"/>
                <a:gd name="connsiteX1" fmla="*/ 620110 w 725214"/>
                <a:gd name="connsiteY1" fmla="*/ 7007 h 49049"/>
                <a:gd name="connsiteX2" fmla="*/ 630621 w 725214"/>
                <a:gd name="connsiteY2" fmla="*/ 7007 h 49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25214" h="49049">
                  <a:moveTo>
                    <a:pt x="0" y="49049"/>
                  </a:moveTo>
                  <a:lnTo>
                    <a:pt x="620110" y="7007"/>
                  </a:lnTo>
                  <a:cubicBezTo>
                    <a:pt x="725214" y="0"/>
                    <a:pt x="630621" y="7007"/>
                    <a:pt x="630621" y="7007"/>
                  </a:cubicBezTo>
                </a:path>
              </a:pathLst>
            </a:custGeom>
            <a:ln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19" name="자유형 18"/>
            <p:cNvSpPr/>
            <p:nvPr/>
          </p:nvSpPr>
          <p:spPr>
            <a:xfrm>
              <a:off x="5917060" y="2431693"/>
              <a:ext cx="313569" cy="71821"/>
            </a:xfrm>
            <a:custGeom>
              <a:avLst/>
              <a:gdLst>
                <a:gd name="connsiteX0" fmla="*/ 364359 w 364359"/>
                <a:gd name="connsiteY0" fmla="*/ 0 h 71821"/>
                <a:gd name="connsiteX1" fmla="*/ 49048 w 364359"/>
                <a:gd name="connsiteY1" fmla="*/ 63062 h 71821"/>
                <a:gd name="connsiteX2" fmla="*/ 70069 w 364359"/>
                <a:gd name="connsiteY2" fmla="*/ 52552 h 71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64359" h="71821">
                  <a:moveTo>
                    <a:pt x="364359" y="0"/>
                  </a:moveTo>
                  <a:lnTo>
                    <a:pt x="49048" y="63062"/>
                  </a:lnTo>
                  <a:cubicBezTo>
                    <a:pt x="0" y="71821"/>
                    <a:pt x="68317" y="52552"/>
                    <a:pt x="70069" y="52552"/>
                  </a:cubicBezTo>
                </a:path>
              </a:pathLst>
            </a:custGeom>
            <a:ln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20" name="자유형 19"/>
            <p:cNvSpPr/>
            <p:nvPr/>
          </p:nvSpPr>
          <p:spPr>
            <a:xfrm>
              <a:off x="5148064" y="3924163"/>
              <a:ext cx="1103586" cy="126123"/>
            </a:xfrm>
            <a:custGeom>
              <a:avLst/>
              <a:gdLst>
                <a:gd name="connsiteX0" fmla="*/ 1103586 w 1103586"/>
                <a:gd name="connsiteY0" fmla="*/ 63061 h 126123"/>
                <a:gd name="connsiteX1" fmla="*/ 599090 w 1103586"/>
                <a:gd name="connsiteY1" fmla="*/ 10510 h 126123"/>
                <a:gd name="connsiteX2" fmla="*/ 0 w 1103586"/>
                <a:gd name="connsiteY2" fmla="*/ 126123 h 126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03586" h="126123">
                  <a:moveTo>
                    <a:pt x="1103586" y="63061"/>
                  </a:moveTo>
                  <a:cubicBezTo>
                    <a:pt x="943303" y="31530"/>
                    <a:pt x="783021" y="0"/>
                    <a:pt x="599090" y="10510"/>
                  </a:cubicBezTo>
                  <a:cubicBezTo>
                    <a:pt x="415159" y="21020"/>
                    <a:pt x="207579" y="73571"/>
                    <a:pt x="0" y="126123"/>
                  </a:cubicBezTo>
                </a:path>
              </a:pathLst>
            </a:custGeom>
            <a:ln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21" name="자유형 20"/>
            <p:cNvSpPr/>
            <p:nvPr/>
          </p:nvSpPr>
          <p:spPr>
            <a:xfrm>
              <a:off x="1072055" y="3840079"/>
              <a:ext cx="704193" cy="84083"/>
            </a:xfrm>
            <a:custGeom>
              <a:avLst/>
              <a:gdLst>
                <a:gd name="connsiteX0" fmla="*/ 0 w 704193"/>
                <a:gd name="connsiteY0" fmla="*/ 0 h 84083"/>
                <a:gd name="connsiteX1" fmla="*/ 704193 w 704193"/>
                <a:gd name="connsiteY1" fmla="*/ 84083 h 84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04193" h="84083">
                  <a:moveTo>
                    <a:pt x="0" y="0"/>
                  </a:moveTo>
                  <a:lnTo>
                    <a:pt x="704193" y="84083"/>
                  </a:lnTo>
                </a:path>
              </a:pathLst>
            </a:custGeom>
            <a:ln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22" name="자유형 21"/>
            <p:cNvSpPr/>
            <p:nvPr/>
          </p:nvSpPr>
          <p:spPr>
            <a:xfrm>
              <a:off x="2386886" y="5536950"/>
              <a:ext cx="262758" cy="304800"/>
            </a:xfrm>
            <a:custGeom>
              <a:avLst/>
              <a:gdLst>
                <a:gd name="connsiteX0" fmla="*/ 0 w 262758"/>
                <a:gd name="connsiteY0" fmla="*/ 304800 h 304800"/>
                <a:gd name="connsiteX1" fmla="*/ 262758 w 262758"/>
                <a:gd name="connsiteY1" fmla="*/ 0 h 30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62758" h="304800">
                  <a:moveTo>
                    <a:pt x="0" y="304800"/>
                  </a:moveTo>
                  <a:lnTo>
                    <a:pt x="262758" y="0"/>
                  </a:lnTo>
                </a:path>
              </a:pathLst>
            </a:custGeom>
            <a:ln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23" name="자유형 22"/>
            <p:cNvSpPr/>
            <p:nvPr/>
          </p:nvSpPr>
          <p:spPr>
            <a:xfrm>
              <a:off x="2071576" y="5536950"/>
              <a:ext cx="210206" cy="325820"/>
            </a:xfrm>
            <a:custGeom>
              <a:avLst/>
              <a:gdLst>
                <a:gd name="connsiteX0" fmla="*/ 210206 w 210206"/>
                <a:gd name="connsiteY0" fmla="*/ 325820 h 325820"/>
                <a:gd name="connsiteX1" fmla="*/ 0 w 210206"/>
                <a:gd name="connsiteY1" fmla="*/ 0 h 325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0206" h="325820">
                  <a:moveTo>
                    <a:pt x="210206" y="325820"/>
                  </a:moveTo>
                  <a:lnTo>
                    <a:pt x="0" y="0"/>
                  </a:lnTo>
                </a:path>
              </a:pathLst>
            </a:custGeom>
            <a:ln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194021" y="4416022"/>
              <a:ext cx="135171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 err="1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JScrollPane</a:t>
              </a:r>
              <a:endParaRPr lang="ko-KR" altLang="en-US" sz="1600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26" name="자유형 25"/>
            <p:cNvSpPr/>
            <p:nvPr/>
          </p:nvSpPr>
          <p:spPr>
            <a:xfrm>
              <a:off x="5736643" y="4638866"/>
              <a:ext cx="493986" cy="136634"/>
            </a:xfrm>
            <a:custGeom>
              <a:avLst/>
              <a:gdLst>
                <a:gd name="connsiteX0" fmla="*/ 493986 w 493986"/>
                <a:gd name="connsiteY0" fmla="*/ 0 h 136634"/>
                <a:gd name="connsiteX1" fmla="*/ 409904 w 493986"/>
                <a:gd name="connsiteY1" fmla="*/ 63062 h 136634"/>
                <a:gd name="connsiteX2" fmla="*/ 0 w 493986"/>
                <a:gd name="connsiteY2" fmla="*/ 136634 h 136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93986" h="136634">
                  <a:moveTo>
                    <a:pt x="493986" y="0"/>
                  </a:moveTo>
                  <a:cubicBezTo>
                    <a:pt x="493110" y="20145"/>
                    <a:pt x="492235" y="40290"/>
                    <a:pt x="409904" y="63062"/>
                  </a:cubicBezTo>
                  <a:cubicBezTo>
                    <a:pt x="327573" y="85834"/>
                    <a:pt x="163786" y="111234"/>
                    <a:pt x="0" y="136634"/>
                  </a:cubicBezTo>
                </a:path>
              </a:pathLst>
            </a:custGeom>
            <a:ln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27" name="자유형 26"/>
            <p:cNvSpPr/>
            <p:nvPr/>
          </p:nvSpPr>
          <p:spPr>
            <a:xfrm>
              <a:off x="1219200" y="2904659"/>
              <a:ext cx="609600" cy="52551"/>
            </a:xfrm>
            <a:custGeom>
              <a:avLst/>
              <a:gdLst>
                <a:gd name="connsiteX0" fmla="*/ 0 w 609600"/>
                <a:gd name="connsiteY0" fmla="*/ 52551 h 52551"/>
                <a:gd name="connsiteX1" fmla="*/ 609600 w 609600"/>
                <a:gd name="connsiteY1" fmla="*/ 0 h 52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9600" h="52551">
                  <a:moveTo>
                    <a:pt x="0" y="52551"/>
                  </a:moveTo>
                  <a:lnTo>
                    <a:pt x="609600" y="0"/>
                  </a:lnTo>
                </a:path>
              </a:pathLst>
            </a:custGeom>
            <a:ln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28" name="자유형 27"/>
            <p:cNvSpPr/>
            <p:nvPr/>
          </p:nvSpPr>
          <p:spPr>
            <a:xfrm>
              <a:off x="2017986" y="2147914"/>
              <a:ext cx="31531" cy="672662"/>
            </a:xfrm>
            <a:custGeom>
              <a:avLst/>
              <a:gdLst>
                <a:gd name="connsiteX0" fmla="*/ 0 w 31531"/>
                <a:gd name="connsiteY0" fmla="*/ 0 h 672662"/>
                <a:gd name="connsiteX1" fmla="*/ 31531 w 31531"/>
                <a:gd name="connsiteY1" fmla="*/ 672662 h 672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531" h="672662">
                  <a:moveTo>
                    <a:pt x="0" y="0"/>
                  </a:moveTo>
                  <a:lnTo>
                    <a:pt x="31531" y="672662"/>
                  </a:lnTo>
                </a:path>
              </a:pathLst>
            </a:custGeom>
            <a:ln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29" name="자유형 28"/>
            <p:cNvSpPr/>
            <p:nvPr/>
          </p:nvSpPr>
          <p:spPr>
            <a:xfrm>
              <a:off x="3263462" y="2179445"/>
              <a:ext cx="68317" cy="672662"/>
            </a:xfrm>
            <a:custGeom>
              <a:avLst/>
              <a:gdLst>
                <a:gd name="connsiteX0" fmla="*/ 68317 w 68317"/>
                <a:gd name="connsiteY0" fmla="*/ 0 h 672662"/>
                <a:gd name="connsiteX1" fmla="*/ 5255 w 68317"/>
                <a:gd name="connsiteY1" fmla="*/ 273269 h 672662"/>
                <a:gd name="connsiteX2" fmla="*/ 36786 w 68317"/>
                <a:gd name="connsiteY2" fmla="*/ 672662 h 672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8317" h="672662">
                  <a:moveTo>
                    <a:pt x="68317" y="0"/>
                  </a:moveTo>
                  <a:cubicBezTo>
                    <a:pt x="39413" y="80579"/>
                    <a:pt x="10510" y="161159"/>
                    <a:pt x="5255" y="273269"/>
                  </a:cubicBezTo>
                  <a:cubicBezTo>
                    <a:pt x="0" y="385379"/>
                    <a:pt x="18393" y="529020"/>
                    <a:pt x="36786" y="672662"/>
                  </a:cubicBezTo>
                </a:path>
              </a:pathLst>
            </a:custGeom>
            <a:ln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30" name="자유형 29"/>
            <p:cNvSpPr/>
            <p:nvPr/>
          </p:nvSpPr>
          <p:spPr>
            <a:xfrm>
              <a:off x="4740166" y="2210976"/>
              <a:ext cx="98096" cy="641131"/>
            </a:xfrm>
            <a:custGeom>
              <a:avLst/>
              <a:gdLst>
                <a:gd name="connsiteX0" fmla="*/ 21020 w 98096"/>
                <a:gd name="connsiteY0" fmla="*/ 0 h 641131"/>
                <a:gd name="connsiteX1" fmla="*/ 94593 w 98096"/>
                <a:gd name="connsiteY1" fmla="*/ 210207 h 641131"/>
                <a:gd name="connsiteX2" fmla="*/ 0 w 98096"/>
                <a:gd name="connsiteY2" fmla="*/ 641131 h 641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096" h="641131">
                  <a:moveTo>
                    <a:pt x="21020" y="0"/>
                  </a:moveTo>
                  <a:cubicBezTo>
                    <a:pt x="59558" y="51676"/>
                    <a:pt x="98096" y="103352"/>
                    <a:pt x="94593" y="210207"/>
                  </a:cubicBezTo>
                  <a:cubicBezTo>
                    <a:pt x="91090" y="317062"/>
                    <a:pt x="45545" y="479096"/>
                    <a:pt x="0" y="641131"/>
                  </a:cubicBezTo>
                </a:path>
              </a:pathLst>
            </a:custGeom>
            <a:ln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31" name="자유형 30"/>
            <p:cNvSpPr/>
            <p:nvPr/>
          </p:nvSpPr>
          <p:spPr>
            <a:xfrm>
              <a:off x="5817365" y="2038512"/>
              <a:ext cx="157655" cy="367862"/>
            </a:xfrm>
            <a:custGeom>
              <a:avLst/>
              <a:gdLst>
                <a:gd name="connsiteX0" fmla="*/ 157655 w 157655"/>
                <a:gd name="connsiteY0" fmla="*/ 0 h 262759"/>
                <a:gd name="connsiteX1" fmla="*/ 0 w 157655"/>
                <a:gd name="connsiteY1" fmla="*/ 262759 h 262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655" h="262759">
                  <a:moveTo>
                    <a:pt x="157655" y="0"/>
                  </a:moveTo>
                  <a:lnTo>
                    <a:pt x="0" y="262759"/>
                  </a:lnTo>
                </a:path>
              </a:pathLst>
            </a:custGeom>
            <a:ln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32" name="자유형 31"/>
            <p:cNvSpPr/>
            <p:nvPr/>
          </p:nvSpPr>
          <p:spPr>
            <a:xfrm>
              <a:off x="5580111" y="3030783"/>
              <a:ext cx="587455" cy="465958"/>
            </a:xfrm>
            <a:custGeom>
              <a:avLst/>
              <a:gdLst>
                <a:gd name="connsiteX0" fmla="*/ 693682 w 693682"/>
                <a:gd name="connsiteY0" fmla="*/ 451945 h 465958"/>
                <a:gd name="connsiteX1" fmla="*/ 388882 w 693682"/>
                <a:gd name="connsiteY1" fmla="*/ 441434 h 465958"/>
                <a:gd name="connsiteX2" fmla="*/ 84082 w 693682"/>
                <a:gd name="connsiteY2" fmla="*/ 304800 h 465958"/>
                <a:gd name="connsiteX3" fmla="*/ 0 w 693682"/>
                <a:gd name="connsiteY3" fmla="*/ 0 h 465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3682" h="465958">
                  <a:moveTo>
                    <a:pt x="693682" y="451945"/>
                  </a:moveTo>
                  <a:cubicBezTo>
                    <a:pt x="592082" y="458951"/>
                    <a:pt x="490482" y="465958"/>
                    <a:pt x="388882" y="441434"/>
                  </a:cubicBezTo>
                  <a:cubicBezTo>
                    <a:pt x="287282" y="416910"/>
                    <a:pt x="148896" y="378372"/>
                    <a:pt x="84082" y="304800"/>
                  </a:cubicBezTo>
                  <a:cubicBezTo>
                    <a:pt x="19268" y="231228"/>
                    <a:pt x="9634" y="115614"/>
                    <a:pt x="0" y="0"/>
                  </a:cubicBezTo>
                </a:path>
              </a:pathLst>
            </a:custGeom>
            <a:ln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33" name="자유형 32"/>
            <p:cNvSpPr/>
            <p:nvPr/>
          </p:nvSpPr>
          <p:spPr>
            <a:xfrm>
              <a:off x="2112579" y="2168935"/>
              <a:ext cx="851338" cy="662151"/>
            </a:xfrm>
            <a:custGeom>
              <a:avLst/>
              <a:gdLst>
                <a:gd name="connsiteX0" fmla="*/ 0 w 851338"/>
                <a:gd name="connsiteY0" fmla="*/ 0 h 662151"/>
                <a:gd name="connsiteX1" fmla="*/ 304800 w 851338"/>
                <a:gd name="connsiteY1" fmla="*/ 199696 h 662151"/>
                <a:gd name="connsiteX2" fmla="*/ 756745 w 851338"/>
                <a:gd name="connsiteY2" fmla="*/ 388882 h 662151"/>
                <a:gd name="connsiteX3" fmla="*/ 851338 w 851338"/>
                <a:gd name="connsiteY3" fmla="*/ 662151 h 662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1338" h="662151">
                  <a:moveTo>
                    <a:pt x="0" y="0"/>
                  </a:moveTo>
                  <a:cubicBezTo>
                    <a:pt x="89338" y="67441"/>
                    <a:pt x="178676" y="134882"/>
                    <a:pt x="304800" y="199696"/>
                  </a:cubicBezTo>
                  <a:cubicBezTo>
                    <a:pt x="430924" y="264510"/>
                    <a:pt x="665655" y="311806"/>
                    <a:pt x="756745" y="388882"/>
                  </a:cubicBezTo>
                  <a:cubicBezTo>
                    <a:pt x="847835" y="465958"/>
                    <a:pt x="849586" y="564054"/>
                    <a:pt x="851338" y="662151"/>
                  </a:cubicBezTo>
                </a:path>
              </a:pathLst>
            </a:custGeom>
            <a:ln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34" name="자유형 33"/>
            <p:cNvSpPr/>
            <p:nvPr/>
          </p:nvSpPr>
          <p:spPr>
            <a:xfrm>
              <a:off x="5242657" y="2668176"/>
              <a:ext cx="914400" cy="57807"/>
            </a:xfrm>
            <a:custGeom>
              <a:avLst/>
              <a:gdLst>
                <a:gd name="connsiteX0" fmla="*/ 914400 w 914400"/>
                <a:gd name="connsiteY0" fmla="*/ 57807 h 57807"/>
                <a:gd name="connsiteX1" fmla="*/ 756745 w 914400"/>
                <a:gd name="connsiteY1" fmla="*/ 36786 h 57807"/>
                <a:gd name="connsiteX2" fmla="*/ 294290 w 914400"/>
                <a:gd name="connsiteY2" fmla="*/ 5255 h 57807"/>
                <a:gd name="connsiteX3" fmla="*/ 0 w 914400"/>
                <a:gd name="connsiteY3" fmla="*/ 5255 h 57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4400" h="57807">
                  <a:moveTo>
                    <a:pt x="914400" y="57807"/>
                  </a:moveTo>
                  <a:cubicBezTo>
                    <a:pt x="887248" y="51676"/>
                    <a:pt x="860097" y="45545"/>
                    <a:pt x="756745" y="36786"/>
                  </a:cubicBezTo>
                  <a:cubicBezTo>
                    <a:pt x="653393" y="28027"/>
                    <a:pt x="420414" y="10510"/>
                    <a:pt x="294290" y="5255"/>
                  </a:cubicBezTo>
                  <a:cubicBezTo>
                    <a:pt x="168166" y="0"/>
                    <a:pt x="84083" y="2627"/>
                    <a:pt x="0" y="5255"/>
                  </a:cubicBezTo>
                </a:path>
              </a:pathLst>
            </a:custGeom>
            <a:ln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</p:grpSp>
      <p:sp>
        <p:nvSpPr>
          <p:cNvPr id="35" name="슬라이드 번호 개체 틀 3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0923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직사각형 204"/>
          <p:cNvSpPr/>
          <p:nvPr/>
        </p:nvSpPr>
        <p:spPr>
          <a:xfrm>
            <a:off x="178184" y="3121018"/>
            <a:ext cx="8858312" cy="3286148"/>
          </a:xfrm>
          <a:prstGeom prst="rect">
            <a:avLst/>
          </a:prstGeom>
          <a:solidFill>
            <a:srgbClr val="FDFD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200" name="직사각형 199"/>
          <p:cNvSpPr/>
          <p:nvPr/>
        </p:nvSpPr>
        <p:spPr>
          <a:xfrm>
            <a:off x="535374" y="977878"/>
            <a:ext cx="8286808" cy="207170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idx="4294967295"/>
          </p:nvPr>
        </p:nvSpPr>
        <p:spPr>
          <a:xfrm>
            <a:off x="1670622" y="0"/>
            <a:ext cx="5295533" cy="679450"/>
          </a:xfrm>
        </p:spPr>
        <p:txBody>
          <a:bodyPr/>
          <a:lstStyle/>
          <a:p>
            <a:r>
              <a:rPr lang="en-US" altLang="ko-KR" dirty="0"/>
              <a:t>GUI </a:t>
            </a:r>
            <a:r>
              <a:rPr lang="ko-KR" altLang="en-US" dirty="0"/>
              <a:t>라이브러리 계층 구조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3678646" y="620688"/>
            <a:ext cx="857256" cy="285752"/>
          </a:xfrm>
          <a:prstGeom prst="rect">
            <a:avLst/>
          </a:prstGeom>
          <a:solidFill>
            <a:schemeClr val="bg2">
              <a:lumMod val="90000"/>
            </a:schemeClr>
          </a:solidFill>
          <a:ln w="31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Object</a:t>
            </a:r>
            <a:endParaRPr lang="ko-KR" altLang="en-US" sz="1000" dirty="0">
              <a:solidFill>
                <a:schemeClr val="tx1"/>
              </a:solidFill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4250150" y="1192192"/>
            <a:ext cx="857256" cy="285752"/>
          </a:xfrm>
          <a:prstGeom prst="rect">
            <a:avLst/>
          </a:prstGeom>
          <a:solidFill>
            <a:schemeClr val="bg2">
              <a:lumMod val="90000"/>
            </a:schemeClr>
          </a:solidFill>
          <a:ln w="31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Dimension</a:t>
            </a:r>
            <a:endParaRPr lang="ko-KR" altLang="en-US" sz="1000" dirty="0">
              <a:solidFill>
                <a:schemeClr val="tx1"/>
              </a:solidFill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321720" y="1192192"/>
            <a:ext cx="857256" cy="285752"/>
          </a:xfrm>
          <a:prstGeom prst="rect">
            <a:avLst/>
          </a:prstGeom>
          <a:solidFill>
            <a:schemeClr val="bg2">
              <a:lumMod val="90000"/>
            </a:schemeClr>
          </a:solidFill>
          <a:ln w="31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Color</a:t>
            </a:r>
            <a:endParaRPr lang="ko-KR" altLang="en-US" sz="1000" dirty="0">
              <a:solidFill>
                <a:schemeClr val="tx1"/>
              </a:solidFill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964134" y="1192192"/>
            <a:ext cx="857256" cy="285752"/>
          </a:xfrm>
          <a:prstGeom prst="rect">
            <a:avLst/>
          </a:prstGeom>
          <a:solidFill>
            <a:schemeClr val="bg2">
              <a:lumMod val="90000"/>
            </a:schemeClr>
          </a:solidFill>
          <a:ln w="31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FontMetrics</a:t>
            </a:r>
            <a:endParaRPr lang="ko-KR" altLang="en-US" sz="1000" dirty="0">
              <a:solidFill>
                <a:schemeClr val="tx1"/>
              </a:solidFill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821126" y="1192192"/>
            <a:ext cx="857256" cy="285752"/>
          </a:xfrm>
          <a:prstGeom prst="rect">
            <a:avLst/>
          </a:prstGeom>
          <a:solidFill>
            <a:schemeClr val="bg2">
              <a:lumMod val="90000"/>
            </a:schemeClr>
          </a:solidFill>
          <a:ln w="31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Font</a:t>
            </a:r>
            <a:endParaRPr lang="ko-KR" altLang="en-US" sz="1000" dirty="0">
              <a:solidFill>
                <a:schemeClr val="tx1"/>
              </a:solidFill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6536166" y="1192192"/>
            <a:ext cx="857256" cy="285752"/>
          </a:xfrm>
          <a:prstGeom prst="rect">
            <a:avLst/>
          </a:prstGeom>
          <a:solidFill>
            <a:schemeClr val="bg2">
              <a:lumMod val="90000"/>
            </a:schemeClr>
          </a:solidFill>
          <a:ln w="31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Graphics</a:t>
            </a:r>
            <a:endParaRPr lang="ko-KR" altLang="en-US" sz="1000" dirty="0">
              <a:solidFill>
                <a:schemeClr val="tx1"/>
              </a:solidFill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3178580" y="1192192"/>
            <a:ext cx="857256" cy="285752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Component</a:t>
            </a:r>
            <a:endParaRPr lang="ko-KR" altLang="en-US" sz="1000" b="1" dirty="0">
              <a:solidFill>
                <a:schemeClr val="tx1"/>
              </a:solidFill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4035836" y="1763696"/>
            <a:ext cx="857256" cy="285752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Container</a:t>
            </a:r>
            <a:endParaRPr lang="ko-KR" altLang="en-US" sz="1000" b="1" dirty="0">
              <a:solidFill>
                <a:schemeClr val="tx1"/>
              </a:solidFill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5321720" y="2263762"/>
            <a:ext cx="857256" cy="285752"/>
          </a:xfrm>
          <a:prstGeom prst="rect">
            <a:avLst/>
          </a:prstGeom>
          <a:solidFill>
            <a:schemeClr val="bg2">
              <a:lumMod val="90000"/>
            </a:schemeClr>
          </a:solidFill>
          <a:ln w="31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Panel</a:t>
            </a:r>
            <a:endParaRPr lang="ko-KR" altLang="en-US" sz="1000" dirty="0">
              <a:solidFill>
                <a:schemeClr val="tx1"/>
              </a:solidFill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6536166" y="2263762"/>
            <a:ext cx="857256" cy="285752"/>
          </a:xfrm>
          <a:prstGeom prst="rect">
            <a:avLst/>
          </a:prstGeom>
          <a:solidFill>
            <a:schemeClr val="bg2">
              <a:lumMod val="90000"/>
            </a:schemeClr>
          </a:solidFill>
          <a:ln w="31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Window</a:t>
            </a:r>
            <a:endParaRPr lang="ko-KR" altLang="en-US" sz="1000" dirty="0">
              <a:solidFill>
                <a:schemeClr val="tx1"/>
              </a:solidFill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4035836" y="3192456"/>
            <a:ext cx="857256" cy="285752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err="1">
                <a:solidFill>
                  <a:schemeClr val="tx1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JComponent</a:t>
            </a:r>
            <a:endParaRPr lang="ko-KR" altLang="en-US" sz="1000" b="1" dirty="0">
              <a:solidFill>
                <a:schemeClr val="tx1"/>
              </a:solidFill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6536166" y="2692390"/>
            <a:ext cx="857256" cy="285752"/>
          </a:xfrm>
          <a:prstGeom prst="rect">
            <a:avLst/>
          </a:prstGeom>
          <a:solidFill>
            <a:schemeClr val="bg2">
              <a:lumMod val="90000"/>
            </a:schemeClr>
          </a:solidFill>
          <a:ln w="31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Frame</a:t>
            </a:r>
            <a:endParaRPr lang="ko-KR" altLang="en-US" sz="1000" dirty="0">
              <a:solidFill>
                <a:schemeClr val="tx1"/>
              </a:solidFill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7679174" y="2692390"/>
            <a:ext cx="857256" cy="285752"/>
          </a:xfrm>
          <a:prstGeom prst="rect">
            <a:avLst/>
          </a:prstGeom>
          <a:solidFill>
            <a:schemeClr val="bg2">
              <a:lumMod val="90000"/>
            </a:schemeClr>
          </a:solidFill>
          <a:ln w="31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Dialog</a:t>
            </a:r>
            <a:endParaRPr lang="ko-KR" altLang="en-US" sz="1000" dirty="0">
              <a:solidFill>
                <a:schemeClr val="tx1"/>
              </a:solidFill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5321720" y="2692390"/>
            <a:ext cx="857256" cy="285752"/>
          </a:xfrm>
          <a:prstGeom prst="rect">
            <a:avLst/>
          </a:prstGeom>
          <a:solidFill>
            <a:schemeClr val="bg2">
              <a:lumMod val="90000"/>
            </a:schemeClr>
          </a:solidFill>
          <a:ln w="31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Applet</a:t>
            </a:r>
            <a:endParaRPr lang="ko-KR" altLang="en-US" sz="1000" dirty="0">
              <a:solidFill>
                <a:schemeClr val="tx1"/>
              </a:solidFill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6536166" y="3192456"/>
            <a:ext cx="857256" cy="285752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err="1">
                <a:solidFill>
                  <a:schemeClr val="tx1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JFrame</a:t>
            </a:r>
            <a:endParaRPr lang="ko-KR" altLang="en-US" sz="1000" b="1" dirty="0">
              <a:solidFill>
                <a:schemeClr val="tx1"/>
              </a:solidFill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7679174" y="3192456"/>
            <a:ext cx="857256" cy="285752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err="1">
                <a:solidFill>
                  <a:schemeClr val="tx1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JDialog</a:t>
            </a:r>
            <a:endParaRPr lang="ko-KR" altLang="en-US" sz="1000" b="1" dirty="0">
              <a:solidFill>
                <a:schemeClr val="tx1"/>
              </a:solidFill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5321720" y="3192456"/>
            <a:ext cx="857256" cy="285752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err="1">
                <a:solidFill>
                  <a:schemeClr val="tx1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JApplet</a:t>
            </a:r>
            <a:endParaRPr lang="ko-KR" altLang="en-US" sz="1000" b="1" dirty="0">
              <a:solidFill>
                <a:schemeClr val="tx1"/>
              </a:solidFill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grpSp>
        <p:nvGrpSpPr>
          <p:cNvPr id="248" name="그룹 247"/>
          <p:cNvGrpSpPr/>
          <p:nvPr/>
        </p:nvGrpSpPr>
        <p:grpSpPr>
          <a:xfrm>
            <a:off x="821126" y="1763696"/>
            <a:ext cx="2714644" cy="1071570"/>
            <a:chOff x="785786" y="2071678"/>
            <a:chExt cx="2714644" cy="1071570"/>
          </a:xfrm>
        </p:grpSpPr>
        <p:sp>
          <p:nvSpPr>
            <p:cNvPr id="30" name="직사각형 29"/>
            <p:cNvSpPr/>
            <p:nvPr/>
          </p:nvSpPr>
          <p:spPr>
            <a:xfrm>
              <a:off x="785786" y="2071678"/>
              <a:ext cx="2714644" cy="107157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924999" y="2135597"/>
              <a:ext cx="626456" cy="27071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3175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Button</a:t>
              </a:r>
              <a:endParaRPr lang="ko-KR" altLang="en-US" sz="1000" dirty="0">
                <a:solidFill>
                  <a:schemeClr val="tx1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924999" y="2812378"/>
              <a:ext cx="696063" cy="27071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3175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Checkbox</a:t>
              </a:r>
              <a:endParaRPr lang="ko-KR" altLang="en-US" sz="1000" dirty="0">
                <a:solidFill>
                  <a:schemeClr val="tx1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2386730" y="2135597"/>
              <a:ext cx="1044094" cy="27071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3175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err="1">
                  <a:solidFill>
                    <a:schemeClr val="tx1"/>
                  </a:solidFill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TextComponent</a:t>
              </a:r>
              <a:endParaRPr lang="ko-KR" altLang="en-US" sz="1000" dirty="0">
                <a:solidFill>
                  <a:schemeClr val="tx1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1690667" y="2135597"/>
              <a:ext cx="556850" cy="27071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3175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Label</a:t>
              </a:r>
              <a:endParaRPr lang="ko-KR" altLang="en-US" sz="1000" dirty="0">
                <a:solidFill>
                  <a:schemeClr val="tx1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>
            <a:xfrm>
              <a:off x="1690667" y="2812378"/>
              <a:ext cx="556850" cy="27071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3175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Choice</a:t>
              </a:r>
              <a:endParaRPr lang="ko-KR" altLang="en-US" sz="1000" dirty="0">
                <a:solidFill>
                  <a:schemeClr val="tx1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2386730" y="2473988"/>
              <a:ext cx="696063" cy="27071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3175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Scrollbar</a:t>
              </a:r>
              <a:endParaRPr lang="ko-KR" altLang="en-US" sz="1000" dirty="0">
                <a:solidFill>
                  <a:schemeClr val="tx1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924999" y="2473988"/>
              <a:ext cx="626456" cy="27071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3175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List</a:t>
              </a:r>
              <a:endParaRPr lang="ko-KR" altLang="en-US" sz="1000" dirty="0">
                <a:solidFill>
                  <a:schemeClr val="tx1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1690667" y="2473988"/>
              <a:ext cx="556850" cy="27071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3175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Canvas</a:t>
              </a:r>
              <a:endParaRPr lang="ko-KR" altLang="en-US" sz="1000" dirty="0">
                <a:solidFill>
                  <a:schemeClr val="tx1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</p:grpSp>
      <p:cxnSp>
        <p:nvCxnSpPr>
          <p:cNvPr id="37" name="Shape 36"/>
          <p:cNvCxnSpPr>
            <a:stCxn id="8" idx="0"/>
            <a:endCxn id="4" idx="2"/>
          </p:cNvCxnSpPr>
          <p:nvPr/>
        </p:nvCxnSpPr>
        <p:spPr>
          <a:xfrm rot="5400000" flipH="1" flipV="1">
            <a:off x="2535638" y="-379444"/>
            <a:ext cx="285752" cy="285752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꺾인 연결선 39"/>
          <p:cNvCxnSpPr>
            <a:stCxn id="7" idx="0"/>
            <a:endCxn id="4" idx="2"/>
          </p:cNvCxnSpPr>
          <p:nvPr/>
        </p:nvCxnSpPr>
        <p:spPr>
          <a:xfrm rot="5400000" flipH="1" flipV="1">
            <a:off x="3107142" y="192060"/>
            <a:ext cx="285752" cy="1714512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hape 41"/>
          <p:cNvCxnSpPr>
            <a:stCxn id="11" idx="0"/>
            <a:endCxn id="4" idx="2"/>
          </p:cNvCxnSpPr>
          <p:nvPr/>
        </p:nvCxnSpPr>
        <p:spPr>
          <a:xfrm rot="5400000" flipH="1" flipV="1">
            <a:off x="3714365" y="799283"/>
            <a:ext cx="285752" cy="500066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꺾인 연결선 44"/>
          <p:cNvCxnSpPr>
            <a:stCxn id="5" idx="0"/>
            <a:endCxn id="4" idx="2"/>
          </p:cNvCxnSpPr>
          <p:nvPr/>
        </p:nvCxnSpPr>
        <p:spPr>
          <a:xfrm rot="16200000" flipV="1">
            <a:off x="4250150" y="763564"/>
            <a:ext cx="285752" cy="571504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꺾인 연결선 46"/>
          <p:cNvCxnSpPr>
            <a:stCxn id="6" idx="0"/>
            <a:endCxn id="4" idx="2"/>
          </p:cNvCxnSpPr>
          <p:nvPr/>
        </p:nvCxnSpPr>
        <p:spPr>
          <a:xfrm rot="16200000" flipV="1">
            <a:off x="4785935" y="227779"/>
            <a:ext cx="285752" cy="1643074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꺾인 연결선 48"/>
          <p:cNvCxnSpPr>
            <a:stCxn id="10" idx="0"/>
            <a:endCxn id="4" idx="2"/>
          </p:cNvCxnSpPr>
          <p:nvPr/>
        </p:nvCxnSpPr>
        <p:spPr>
          <a:xfrm rot="16200000" flipV="1">
            <a:off x="5393158" y="-379444"/>
            <a:ext cx="285752" cy="285752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꺾인 연결선 50"/>
          <p:cNvCxnSpPr>
            <a:endCxn id="11" idx="2"/>
          </p:cNvCxnSpPr>
          <p:nvPr/>
        </p:nvCxnSpPr>
        <p:spPr>
          <a:xfrm rot="5400000" flipH="1" flipV="1">
            <a:off x="2749952" y="906440"/>
            <a:ext cx="285752" cy="142876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꺾인 연결선 52"/>
          <p:cNvCxnSpPr>
            <a:stCxn id="12" idx="0"/>
            <a:endCxn id="11" idx="2"/>
          </p:cNvCxnSpPr>
          <p:nvPr/>
        </p:nvCxnSpPr>
        <p:spPr>
          <a:xfrm rot="16200000" flipV="1">
            <a:off x="3892960" y="1192192"/>
            <a:ext cx="285752" cy="857256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/>
          <p:cNvCxnSpPr>
            <a:stCxn id="15" idx="0"/>
            <a:endCxn id="12" idx="2"/>
          </p:cNvCxnSpPr>
          <p:nvPr/>
        </p:nvCxnSpPr>
        <p:spPr>
          <a:xfrm rot="5400000" flipH="1" flipV="1">
            <a:off x="3892960" y="2620952"/>
            <a:ext cx="1143008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꺾인 연결선 57"/>
          <p:cNvCxnSpPr>
            <a:stCxn id="13" idx="0"/>
            <a:endCxn id="12" idx="2"/>
          </p:cNvCxnSpPr>
          <p:nvPr/>
        </p:nvCxnSpPr>
        <p:spPr>
          <a:xfrm rot="16200000" flipV="1">
            <a:off x="5000249" y="1513663"/>
            <a:ext cx="214314" cy="1285884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꺾인 연결선 59"/>
          <p:cNvCxnSpPr>
            <a:stCxn id="14" idx="0"/>
            <a:endCxn id="12" idx="2"/>
          </p:cNvCxnSpPr>
          <p:nvPr/>
        </p:nvCxnSpPr>
        <p:spPr>
          <a:xfrm rot="16200000" flipV="1">
            <a:off x="5607472" y="906440"/>
            <a:ext cx="214314" cy="250033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/>
          <p:cNvCxnSpPr>
            <a:stCxn id="18" idx="0"/>
            <a:endCxn id="13" idx="2"/>
          </p:cNvCxnSpPr>
          <p:nvPr/>
        </p:nvCxnSpPr>
        <p:spPr>
          <a:xfrm rot="5400000" flipH="1" flipV="1">
            <a:off x="5678910" y="2620952"/>
            <a:ext cx="142876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/>
          <p:cNvCxnSpPr>
            <a:stCxn id="21" idx="0"/>
            <a:endCxn id="18" idx="2"/>
          </p:cNvCxnSpPr>
          <p:nvPr/>
        </p:nvCxnSpPr>
        <p:spPr>
          <a:xfrm rot="5400000" flipH="1" flipV="1">
            <a:off x="5643191" y="3085299"/>
            <a:ext cx="214314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/>
          <p:cNvCxnSpPr>
            <a:stCxn id="19" idx="0"/>
            <a:endCxn id="16" idx="2"/>
          </p:cNvCxnSpPr>
          <p:nvPr/>
        </p:nvCxnSpPr>
        <p:spPr>
          <a:xfrm rot="5400000" flipH="1" flipV="1">
            <a:off x="6857637" y="3085299"/>
            <a:ext cx="214314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화살표 연결선 69"/>
          <p:cNvCxnSpPr>
            <a:stCxn id="20" idx="0"/>
            <a:endCxn id="17" idx="2"/>
          </p:cNvCxnSpPr>
          <p:nvPr/>
        </p:nvCxnSpPr>
        <p:spPr>
          <a:xfrm rot="5400000" flipH="1" flipV="1">
            <a:off x="8000645" y="3085299"/>
            <a:ext cx="214314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꺾인 연결선 71"/>
          <p:cNvCxnSpPr>
            <a:stCxn id="17" idx="0"/>
            <a:endCxn id="14" idx="2"/>
          </p:cNvCxnSpPr>
          <p:nvPr/>
        </p:nvCxnSpPr>
        <p:spPr>
          <a:xfrm rot="16200000" flipV="1">
            <a:off x="7464860" y="2049448"/>
            <a:ext cx="142876" cy="1143008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꺾인 연결선 73"/>
          <p:cNvCxnSpPr>
            <a:stCxn id="16" idx="0"/>
            <a:endCxn id="14" idx="2"/>
          </p:cNvCxnSpPr>
          <p:nvPr/>
        </p:nvCxnSpPr>
        <p:spPr>
          <a:xfrm rot="5400000" flipH="1" flipV="1">
            <a:off x="6893356" y="2620952"/>
            <a:ext cx="142876" cy="1588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직사각형 76"/>
          <p:cNvSpPr/>
          <p:nvPr/>
        </p:nvSpPr>
        <p:spPr>
          <a:xfrm>
            <a:off x="4821654" y="3763960"/>
            <a:ext cx="1214446" cy="285752"/>
          </a:xfrm>
          <a:prstGeom prst="rect">
            <a:avLst/>
          </a:prstGeom>
          <a:solidFill>
            <a:schemeClr val="bg2">
              <a:lumMod val="90000"/>
            </a:schemeClr>
          </a:solidFill>
          <a:ln w="31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JTextComponent</a:t>
            </a:r>
            <a:endParaRPr lang="ko-KR" altLang="en-US" sz="1000" dirty="0">
              <a:solidFill>
                <a:schemeClr val="tx1"/>
              </a:solidFill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7036232" y="3763960"/>
            <a:ext cx="1000132" cy="285752"/>
          </a:xfrm>
          <a:prstGeom prst="rect">
            <a:avLst/>
          </a:prstGeom>
          <a:solidFill>
            <a:schemeClr val="bg2">
              <a:lumMod val="90000"/>
            </a:schemeClr>
          </a:solidFill>
          <a:ln w="31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AbstractButton</a:t>
            </a:r>
            <a:endParaRPr lang="ko-KR" altLang="en-US" sz="1000" dirty="0">
              <a:solidFill>
                <a:schemeClr val="tx1"/>
              </a:solidFill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81" name="직사각형 80"/>
          <p:cNvSpPr/>
          <p:nvPr/>
        </p:nvSpPr>
        <p:spPr>
          <a:xfrm>
            <a:off x="4107274" y="4335464"/>
            <a:ext cx="857256" cy="285752"/>
          </a:xfrm>
          <a:prstGeom prst="rect">
            <a:avLst/>
          </a:prstGeom>
          <a:solidFill>
            <a:schemeClr val="bg2">
              <a:lumMod val="90000"/>
            </a:schemeClr>
          </a:solidFill>
          <a:ln w="31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JEditorPane</a:t>
            </a:r>
            <a:endParaRPr lang="ko-KR" altLang="en-US" sz="1000" dirty="0">
              <a:solidFill>
                <a:schemeClr val="tx1"/>
              </a:solidFill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82" name="직사각형 81"/>
          <p:cNvSpPr/>
          <p:nvPr/>
        </p:nvSpPr>
        <p:spPr>
          <a:xfrm>
            <a:off x="5035968" y="4335464"/>
            <a:ext cx="857256" cy="285752"/>
          </a:xfrm>
          <a:prstGeom prst="rect">
            <a:avLst/>
          </a:prstGeom>
          <a:solidFill>
            <a:schemeClr val="bg2">
              <a:lumMod val="90000"/>
            </a:schemeClr>
          </a:solidFill>
          <a:ln w="31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JTextField</a:t>
            </a:r>
            <a:endParaRPr lang="ko-KR" altLang="en-US" sz="1000" dirty="0">
              <a:solidFill>
                <a:schemeClr val="tx1"/>
              </a:solidFill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83" name="직사각형 82"/>
          <p:cNvSpPr/>
          <p:nvPr/>
        </p:nvSpPr>
        <p:spPr>
          <a:xfrm>
            <a:off x="5964662" y="4335464"/>
            <a:ext cx="857256" cy="285752"/>
          </a:xfrm>
          <a:prstGeom prst="rect">
            <a:avLst/>
          </a:prstGeom>
          <a:solidFill>
            <a:schemeClr val="bg2">
              <a:lumMod val="90000"/>
            </a:schemeClr>
          </a:solidFill>
          <a:ln w="31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JTextArea</a:t>
            </a:r>
            <a:endParaRPr lang="ko-KR" altLang="en-US" sz="1000" dirty="0">
              <a:solidFill>
                <a:schemeClr val="tx1"/>
              </a:solidFill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84" name="직사각형 83"/>
          <p:cNvSpPr/>
          <p:nvPr/>
        </p:nvSpPr>
        <p:spPr>
          <a:xfrm>
            <a:off x="6107538" y="4835530"/>
            <a:ext cx="785818" cy="285752"/>
          </a:xfrm>
          <a:prstGeom prst="rect">
            <a:avLst/>
          </a:prstGeom>
          <a:solidFill>
            <a:schemeClr val="bg2">
              <a:lumMod val="90000"/>
            </a:schemeClr>
          </a:solidFill>
          <a:ln w="31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JMenuItem</a:t>
            </a:r>
            <a:endParaRPr lang="ko-KR" altLang="en-US" sz="1000" dirty="0">
              <a:solidFill>
                <a:schemeClr val="tx1"/>
              </a:solidFill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85" name="직사각형 84"/>
          <p:cNvSpPr/>
          <p:nvPr/>
        </p:nvSpPr>
        <p:spPr>
          <a:xfrm>
            <a:off x="6964794" y="4835530"/>
            <a:ext cx="857256" cy="285752"/>
          </a:xfrm>
          <a:prstGeom prst="rect">
            <a:avLst/>
          </a:prstGeom>
          <a:solidFill>
            <a:schemeClr val="bg2">
              <a:lumMod val="90000"/>
            </a:schemeClr>
          </a:solidFill>
          <a:ln w="31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JButton</a:t>
            </a:r>
            <a:endParaRPr lang="ko-KR" altLang="en-US" sz="1000" dirty="0">
              <a:solidFill>
                <a:schemeClr val="tx1"/>
              </a:solidFill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86" name="직사각형 85"/>
          <p:cNvSpPr/>
          <p:nvPr/>
        </p:nvSpPr>
        <p:spPr>
          <a:xfrm>
            <a:off x="7893488" y="4835530"/>
            <a:ext cx="928694" cy="285752"/>
          </a:xfrm>
          <a:prstGeom prst="rect">
            <a:avLst/>
          </a:prstGeom>
          <a:solidFill>
            <a:schemeClr val="bg2">
              <a:lumMod val="90000"/>
            </a:schemeClr>
          </a:solidFill>
          <a:ln w="31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JToggleButton</a:t>
            </a:r>
            <a:endParaRPr lang="ko-KR" altLang="en-US" sz="1000" dirty="0">
              <a:solidFill>
                <a:schemeClr val="tx1"/>
              </a:solidFill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4964530" y="4835530"/>
            <a:ext cx="1000132" cy="285752"/>
          </a:xfrm>
          <a:prstGeom prst="rect">
            <a:avLst/>
          </a:prstGeom>
          <a:solidFill>
            <a:schemeClr val="bg2">
              <a:lumMod val="90000"/>
            </a:schemeClr>
          </a:solidFill>
          <a:ln w="31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JPasswordField</a:t>
            </a:r>
            <a:endParaRPr lang="ko-KR" altLang="en-US" sz="1000" dirty="0">
              <a:solidFill>
                <a:schemeClr val="tx1"/>
              </a:solidFill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cxnSp>
        <p:nvCxnSpPr>
          <p:cNvPr id="94" name="꺾인 연결선 93"/>
          <p:cNvCxnSpPr>
            <a:stCxn id="81" idx="0"/>
            <a:endCxn id="77" idx="2"/>
          </p:cNvCxnSpPr>
          <p:nvPr/>
        </p:nvCxnSpPr>
        <p:spPr>
          <a:xfrm rot="5400000" flipH="1" flipV="1">
            <a:off x="4839513" y="3746101"/>
            <a:ext cx="285752" cy="892975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꺾인 연결선 97"/>
          <p:cNvCxnSpPr>
            <a:stCxn id="83" idx="0"/>
            <a:endCxn id="77" idx="2"/>
          </p:cNvCxnSpPr>
          <p:nvPr/>
        </p:nvCxnSpPr>
        <p:spPr>
          <a:xfrm rot="16200000" flipV="1">
            <a:off x="5768208" y="3710381"/>
            <a:ext cx="285752" cy="964413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화살표 연결선 110"/>
          <p:cNvCxnSpPr>
            <a:stCxn id="91" idx="0"/>
            <a:endCxn id="82" idx="2"/>
          </p:cNvCxnSpPr>
          <p:nvPr/>
        </p:nvCxnSpPr>
        <p:spPr>
          <a:xfrm rot="5400000" flipH="1" flipV="1">
            <a:off x="5357439" y="4728373"/>
            <a:ext cx="214314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꺾인 연결선 112"/>
          <p:cNvCxnSpPr>
            <a:stCxn id="84" idx="0"/>
            <a:endCxn id="80" idx="2"/>
          </p:cNvCxnSpPr>
          <p:nvPr/>
        </p:nvCxnSpPr>
        <p:spPr>
          <a:xfrm rot="5400000" flipH="1" flipV="1">
            <a:off x="6625463" y="3924696"/>
            <a:ext cx="785818" cy="1035851"/>
          </a:xfrm>
          <a:prstGeom prst="bentConnector3">
            <a:avLst>
              <a:gd name="adj1" fmla="val 15474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꺾인 연결선 115"/>
          <p:cNvCxnSpPr>
            <a:stCxn id="85" idx="0"/>
            <a:endCxn id="80" idx="2"/>
          </p:cNvCxnSpPr>
          <p:nvPr/>
        </p:nvCxnSpPr>
        <p:spPr>
          <a:xfrm rot="5400000" flipH="1" flipV="1">
            <a:off x="7071951" y="4371183"/>
            <a:ext cx="785818" cy="142876"/>
          </a:xfrm>
          <a:prstGeom prst="bentConnector3">
            <a:avLst>
              <a:gd name="adj1" fmla="val 16753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꺾인 연결선 118"/>
          <p:cNvCxnSpPr>
            <a:stCxn id="86" idx="0"/>
            <a:endCxn id="80" idx="2"/>
          </p:cNvCxnSpPr>
          <p:nvPr/>
        </p:nvCxnSpPr>
        <p:spPr>
          <a:xfrm rot="16200000" flipV="1">
            <a:off x="7554158" y="4031852"/>
            <a:ext cx="785818" cy="821537"/>
          </a:xfrm>
          <a:prstGeom prst="bentConnector3">
            <a:avLst>
              <a:gd name="adj1" fmla="val 15475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직선 화살표 연결선 121"/>
          <p:cNvCxnSpPr>
            <a:stCxn id="82" idx="0"/>
            <a:endCxn id="77" idx="2"/>
          </p:cNvCxnSpPr>
          <p:nvPr/>
        </p:nvCxnSpPr>
        <p:spPr>
          <a:xfrm flipH="1" flipV="1">
            <a:off x="5428877" y="4049712"/>
            <a:ext cx="35719" cy="28575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직사각형 147"/>
          <p:cNvSpPr/>
          <p:nvPr/>
        </p:nvSpPr>
        <p:spPr>
          <a:xfrm>
            <a:off x="5393158" y="5264158"/>
            <a:ext cx="785818" cy="285752"/>
          </a:xfrm>
          <a:prstGeom prst="rect">
            <a:avLst/>
          </a:prstGeom>
          <a:solidFill>
            <a:schemeClr val="bg2">
              <a:lumMod val="90000"/>
            </a:schemeClr>
          </a:solidFill>
          <a:ln w="31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JMenu</a:t>
            </a:r>
            <a:endParaRPr lang="ko-KR" altLang="en-US" sz="1000" dirty="0">
              <a:solidFill>
                <a:schemeClr val="tx1"/>
              </a:solidFill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149" name="직사각형 148"/>
          <p:cNvSpPr/>
          <p:nvPr/>
        </p:nvSpPr>
        <p:spPr>
          <a:xfrm>
            <a:off x="5678910" y="5621348"/>
            <a:ext cx="1214446" cy="285752"/>
          </a:xfrm>
          <a:prstGeom prst="rect">
            <a:avLst/>
          </a:prstGeom>
          <a:solidFill>
            <a:schemeClr val="bg2">
              <a:lumMod val="90000"/>
            </a:schemeClr>
          </a:solidFill>
          <a:ln w="31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JCheckBoxMenuItem</a:t>
            </a:r>
            <a:endParaRPr lang="ko-KR" altLang="en-US" sz="1000" dirty="0">
              <a:solidFill>
                <a:schemeClr val="tx1"/>
              </a:solidFill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150" name="직사각형 149"/>
          <p:cNvSpPr/>
          <p:nvPr/>
        </p:nvSpPr>
        <p:spPr>
          <a:xfrm>
            <a:off x="6393290" y="5978538"/>
            <a:ext cx="1357322" cy="285752"/>
          </a:xfrm>
          <a:prstGeom prst="rect">
            <a:avLst/>
          </a:prstGeom>
          <a:solidFill>
            <a:schemeClr val="bg2">
              <a:lumMod val="90000"/>
            </a:schemeClr>
          </a:solidFill>
          <a:ln w="31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JRadioButtonMenuItem</a:t>
            </a:r>
            <a:endParaRPr lang="ko-KR" altLang="en-US" sz="1000" dirty="0">
              <a:solidFill>
                <a:schemeClr val="tx1"/>
              </a:solidFill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cxnSp>
        <p:nvCxnSpPr>
          <p:cNvPr id="152" name="꺾인 연결선 151"/>
          <p:cNvCxnSpPr>
            <a:stCxn id="148" idx="0"/>
            <a:endCxn id="84" idx="2"/>
          </p:cNvCxnSpPr>
          <p:nvPr/>
        </p:nvCxnSpPr>
        <p:spPr>
          <a:xfrm rot="5400000" flipH="1" flipV="1">
            <a:off x="6071819" y="4835530"/>
            <a:ext cx="142876" cy="71438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직사각형 158"/>
          <p:cNvSpPr/>
          <p:nvPr/>
        </p:nvSpPr>
        <p:spPr>
          <a:xfrm>
            <a:off x="7464860" y="5264158"/>
            <a:ext cx="785818" cy="285752"/>
          </a:xfrm>
          <a:prstGeom prst="rect">
            <a:avLst/>
          </a:prstGeom>
          <a:solidFill>
            <a:schemeClr val="bg2">
              <a:lumMod val="90000"/>
            </a:schemeClr>
          </a:solidFill>
          <a:ln w="31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JCheckBox</a:t>
            </a:r>
            <a:endParaRPr lang="ko-KR" altLang="en-US" sz="1000" dirty="0">
              <a:solidFill>
                <a:schemeClr val="tx1"/>
              </a:solidFill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160" name="직사각형 159"/>
          <p:cNvSpPr/>
          <p:nvPr/>
        </p:nvSpPr>
        <p:spPr>
          <a:xfrm>
            <a:off x="7893488" y="5621348"/>
            <a:ext cx="928694" cy="285752"/>
          </a:xfrm>
          <a:prstGeom prst="rect">
            <a:avLst/>
          </a:prstGeom>
          <a:solidFill>
            <a:schemeClr val="bg2">
              <a:lumMod val="90000"/>
            </a:schemeClr>
          </a:solidFill>
          <a:ln w="31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JRadioButton</a:t>
            </a:r>
            <a:endParaRPr lang="ko-KR" altLang="en-US" sz="1000" dirty="0">
              <a:solidFill>
                <a:schemeClr val="tx1"/>
              </a:solidFill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cxnSp>
        <p:nvCxnSpPr>
          <p:cNvPr id="162" name="꺾인 연결선 161"/>
          <p:cNvCxnSpPr>
            <a:stCxn id="159" idx="0"/>
            <a:endCxn id="86" idx="2"/>
          </p:cNvCxnSpPr>
          <p:nvPr/>
        </p:nvCxnSpPr>
        <p:spPr>
          <a:xfrm rot="5400000" flipH="1" flipV="1">
            <a:off x="8036364" y="4942687"/>
            <a:ext cx="142876" cy="500066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꺾인 연결선 163"/>
          <p:cNvCxnSpPr>
            <a:stCxn id="160" idx="0"/>
            <a:endCxn id="86" idx="2"/>
          </p:cNvCxnSpPr>
          <p:nvPr/>
        </p:nvCxnSpPr>
        <p:spPr>
          <a:xfrm rot="5400000" flipH="1" flipV="1">
            <a:off x="8107802" y="5371315"/>
            <a:ext cx="500066" cy="1588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6" name="그룹 255"/>
          <p:cNvGrpSpPr/>
          <p:nvPr/>
        </p:nvGrpSpPr>
        <p:grpSpPr>
          <a:xfrm>
            <a:off x="321060" y="3692522"/>
            <a:ext cx="3714776" cy="2714644"/>
            <a:chOff x="285720" y="4000504"/>
            <a:chExt cx="3714776" cy="2714644"/>
          </a:xfrm>
        </p:grpSpPr>
        <p:sp>
          <p:nvSpPr>
            <p:cNvPr id="189" name="직사각형 188"/>
            <p:cNvSpPr/>
            <p:nvPr/>
          </p:nvSpPr>
          <p:spPr>
            <a:xfrm>
              <a:off x="285720" y="4000504"/>
              <a:ext cx="3714776" cy="271464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78" name="직사각형 77"/>
            <p:cNvSpPr/>
            <p:nvPr/>
          </p:nvSpPr>
          <p:spPr>
            <a:xfrm>
              <a:off x="428596" y="4143380"/>
              <a:ext cx="642942" cy="28575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3175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err="1">
                  <a:solidFill>
                    <a:schemeClr val="tx1"/>
                  </a:solidFill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JLabel</a:t>
              </a:r>
              <a:endParaRPr lang="ko-KR" altLang="en-US" sz="1000" dirty="0">
                <a:solidFill>
                  <a:schemeClr val="tx1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165" name="직사각형 164"/>
            <p:cNvSpPr/>
            <p:nvPr/>
          </p:nvSpPr>
          <p:spPr>
            <a:xfrm>
              <a:off x="1214414" y="4143380"/>
              <a:ext cx="642942" cy="28575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3175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err="1">
                  <a:solidFill>
                    <a:schemeClr val="tx1"/>
                  </a:solidFill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JList</a:t>
              </a:r>
              <a:endParaRPr lang="ko-KR" altLang="en-US" sz="1000" dirty="0">
                <a:solidFill>
                  <a:schemeClr val="tx1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166" name="직사각형 165"/>
            <p:cNvSpPr/>
            <p:nvPr/>
          </p:nvSpPr>
          <p:spPr>
            <a:xfrm>
              <a:off x="2000232" y="4143380"/>
              <a:ext cx="785818" cy="28575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3175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err="1">
                  <a:solidFill>
                    <a:schemeClr val="tx1"/>
                  </a:solidFill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JComboBox</a:t>
              </a:r>
              <a:endParaRPr lang="ko-KR" altLang="en-US" sz="1000" dirty="0">
                <a:solidFill>
                  <a:schemeClr val="tx1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167" name="직사각형 166"/>
            <p:cNvSpPr/>
            <p:nvPr/>
          </p:nvSpPr>
          <p:spPr>
            <a:xfrm>
              <a:off x="1357290" y="4500570"/>
              <a:ext cx="785818" cy="28575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3175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err="1">
                  <a:solidFill>
                    <a:schemeClr val="tx1"/>
                  </a:solidFill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JPanel</a:t>
              </a:r>
              <a:endParaRPr lang="ko-KR" altLang="en-US" sz="1000" dirty="0">
                <a:solidFill>
                  <a:schemeClr val="tx1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168" name="직사각형 167"/>
            <p:cNvSpPr/>
            <p:nvPr/>
          </p:nvSpPr>
          <p:spPr>
            <a:xfrm>
              <a:off x="428596" y="4857760"/>
              <a:ext cx="857256" cy="28575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3175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err="1">
                  <a:solidFill>
                    <a:schemeClr val="tx1"/>
                  </a:solidFill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JOptionPane</a:t>
              </a:r>
              <a:endParaRPr lang="ko-KR" altLang="en-US" sz="1000" dirty="0">
                <a:solidFill>
                  <a:schemeClr val="tx1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169" name="직사각형 168"/>
            <p:cNvSpPr/>
            <p:nvPr/>
          </p:nvSpPr>
          <p:spPr>
            <a:xfrm>
              <a:off x="2928926" y="4143380"/>
              <a:ext cx="857256" cy="28575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3175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err="1">
                  <a:solidFill>
                    <a:schemeClr val="tx1"/>
                  </a:solidFill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JSlider</a:t>
              </a:r>
              <a:endParaRPr lang="ko-KR" altLang="en-US" sz="1000" dirty="0">
                <a:solidFill>
                  <a:schemeClr val="tx1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170" name="직사각형 169"/>
            <p:cNvSpPr/>
            <p:nvPr/>
          </p:nvSpPr>
          <p:spPr>
            <a:xfrm>
              <a:off x="428596" y="4500570"/>
              <a:ext cx="857256" cy="28575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3175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err="1">
                  <a:solidFill>
                    <a:schemeClr val="tx1"/>
                  </a:solidFill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JScrollBar</a:t>
              </a:r>
              <a:endParaRPr lang="ko-KR" altLang="en-US" sz="1000" dirty="0">
                <a:solidFill>
                  <a:schemeClr val="tx1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171" name="직사각형 170"/>
            <p:cNvSpPr/>
            <p:nvPr/>
          </p:nvSpPr>
          <p:spPr>
            <a:xfrm>
              <a:off x="1357290" y="4857760"/>
              <a:ext cx="928694" cy="28575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3175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err="1">
                  <a:solidFill>
                    <a:schemeClr val="tx1"/>
                  </a:solidFill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JTabbedPane</a:t>
              </a:r>
              <a:endParaRPr lang="ko-KR" altLang="en-US" sz="1000" dirty="0">
                <a:solidFill>
                  <a:schemeClr val="tx1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172" name="직사각형 171"/>
            <p:cNvSpPr/>
            <p:nvPr/>
          </p:nvSpPr>
          <p:spPr>
            <a:xfrm>
              <a:off x="2357422" y="4857760"/>
              <a:ext cx="928694" cy="28575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3175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err="1">
                  <a:solidFill>
                    <a:schemeClr val="tx1"/>
                  </a:solidFill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JSplitPane</a:t>
              </a:r>
              <a:endParaRPr lang="ko-KR" altLang="en-US" sz="1000" dirty="0">
                <a:solidFill>
                  <a:schemeClr val="tx1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173" name="직사각형 172"/>
            <p:cNvSpPr/>
            <p:nvPr/>
          </p:nvSpPr>
          <p:spPr>
            <a:xfrm>
              <a:off x="2214546" y="4500570"/>
              <a:ext cx="928694" cy="28575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3175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err="1">
                  <a:solidFill>
                    <a:schemeClr val="tx1"/>
                  </a:solidFill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JLayeredPane</a:t>
              </a:r>
              <a:endParaRPr lang="ko-KR" altLang="en-US" sz="1000" dirty="0">
                <a:solidFill>
                  <a:schemeClr val="tx1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174" name="직사각형 173"/>
            <p:cNvSpPr/>
            <p:nvPr/>
          </p:nvSpPr>
          <p:spPr>
            <a:xfrm>
              <a:off x="428596" y="5214950"/>
              <a:ext cx="857256" cy="28575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3175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err="1">
                  <a:solidFill>
                    <a:schemeClr val="tx1"/>
                  </a:solidFill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JSeparator</a:t>
              </a:r>
              <a:endParaRPr lang="ko-KR" altLang="en-US" sz="1000" dirty="0">
                <a:solidFill>
                  <a:schemeClr val="tx1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175" name="직사각형 174"/>
            <p:cNvSpPr/>
            <p:nvPr/>
          </p:nvSpPr>
          <p:spPr>
            <a:xfrm>
              <a:off x="1428728" y="5214950"/>
              <a:ext cx="928694" cy="28575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3175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err="1">
                  <a:solidFill>
                    <a:schemeClr val="tx1"/>
                  </a:solidFill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JRootPane</a:t>
              </a:r>
              <a:endParaRPr lang="ko-KR" altLang="en-US" sz="1000" dirty="0">
                <a:solidFill>
                  <a:schemeClr val="tx1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176" name="직사각형 175"/>
            <p:cNvSpPr/>
            <p:nvPr/>
          </p:nvSpPr>
          <p:spPr>
            <a:xfrm>
              <a:off x="2428860" y="5214950"/>
              <a:ext cx="928694" cy="28575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3175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err="1">
                  <a:solidFill>
                    <a:schemeClr val="tx1"/>
                  </a:solidFill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JToolBar</a:t>
              </a:r>
              <a:endParaRPr lang="ko-KR" altLang="en-US" sz="1000" dirty="0">
                <a:solidFill>
                  <a:schemeClr val="tx1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177" name="직사각형 176"/>
            <p:cNvSpPr/>
            <p:nvPr/>
          </p:nvSpPr>
          <p:spPr>
            <a:xfrm>
              <a:off x="428596" y="5572140"/>
              <a:ext cx="785818" cy="28575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3175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err="1">
                  <a:solidFill>
                    <a:schemeClr val="tx1"/>
                  </a:solidFill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JMenuBar</a:t>
              </a:r>
              <a:endParaRPr lang="ko-KR" altLang="en-US" sz="1000" dirty="0">
                <a:solidFill>
                  <a:schemeClr val="tx1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178" name="직사각형 177"/>
            <p:cNvSpPr/>
            <p:nvPr/>
          </p:nvSpPr>
          <p:spPr>
            <a:xfrm>
              <a:off x="1285852" y="5572140"/>
              <a:ext cx="714380" cy="28575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3175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err="1">
                  <a:solidFill>
                    <a:schemeClr val="tx1"/>
                  </a:solidFill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JToolTip</a:t>
              </a:r>
              <a:endParaRPr lang="ko-KR" altLang="en-US" sz="1000" dirty="0">
                <a:solidFill>
                  <a:schemeClr val="tx1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179" name="직사각형 178"/>
            <p:cNvSpPr/>
            <p:nvPr/>
          </p:nvSpPr>
          <p:spPr>
            <a:xfrm>
              <a:off x="2071670" y="5572140"/>
              <a:ext cx="857256" cy="28575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3175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err="1">
                  <a:solidFill>
                    <a:schemeClr val="tx1"/>
                  </a:solidFill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JPopupMenu</a:t>
              </a:r>
              <a:endParaRPr lang="ko-KR" altLang="en-US" sz="1000" dirty="0">
                <a:solidFill>
                  <a:schemeClr val="tx1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180" name="직사각형 179"/>
            <p:cNvSpPr/>
            <p:nvPr/>
          </p:nvSpPr>
          <p:spPr>
            <a:xfrm>
              <a:off x="3000364" y="5572140"/>
              <a:ext cx="928694" cy="28575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3175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err="1">
                  <a:solidFill>
                    <a:schemeClr val="tx1"/>
                  </a:solidFill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JFileChooser</a:t>
              </a:r>
              <a:endParaRPr lang="ko-KR" altLang="en-US" sz="1000" dirty="0">
                <a:solidFill>
                  <a:schemeClr val="tx1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181" name="직사각형 180"/>
            <p:cNvSpPr/>
            <p:nvPr/>
          </p:nvSpPr>
          <p:spPr>
            <a:xfrm>
              <a:off x="428596" y="5929330"/>
              <a:ext cx="928694" cy="28575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3175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err="1">
                  <a:solidFill>
                    <a:schemeClr val="tx1"/>
                  </a:solidFill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JColorChooser</a:t>
              </a:r>
              <a:endParaRPr lang="ko-KR" altLang="en-US" sz="1000" dirty="0">
                <a:solidFill>
                  <a:schemeClr val="tx1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182" name="직사각형 181"/>
            <p:cNvSpPr/>
            <p:nvPr/>
          </p:nvSpPr>
          <p:spPr>
            <a:xfrm>
              <a:off x="1428728" y="5929330"/>
              <a:ext cx="571504" cy="28575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3175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err="1">
                  <a:solidFill>
                    <a:schemeClr val="tx1"/>
                  </a:solidFill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JTree</a:t>
              </a:r>
              <a:endParaRPr lang="ko-KR" altLang="en-US" sz="1000" dirty="0">
                <a:solidFill>
                  <a:schemeClr val="tx1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183" name="직사각형 182"/>
            <p:cNvSpPr/>
            <p:nvPr/>
          </p:nvSpPr>
          <p:spPr>
            <a:xfrm>
              <a:off x="2071670" y="5929330"/>
              <a:ext cx="571504" cy="28575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3175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err="1">
                  <a:solidFill>
                    <a:schemeClr val="tx1"/>
                  </a:solidFill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JTable</a:t>
              </a:r>
              <a:endParaRPr lang="ko-KR" altLang="en-US" sz="1000" dirty="0">
                <a:solidFill>
                  <a:schemeClr val="tx1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184" name="직사각형 183"/>
            <p:cNvSpPr/>
            <p:nvPr/>
          </p:nvSpPr>
          <p:spPr>
            <a:xfrm>
              <a:off x="428596" y="6286520"/>
              <a:ext cx="928694" cy="28575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3175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err="1">
                  <a:solidFill>
                    <a:schemeClr val="tx1"/>
                  </a:solidFill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JProgressBar</a:t>
              </a:r>
              <a:endParaRPr lang="ko-KR" altLang="en-US" sz="1000" dirty="0">
                <a:solidFill>
                  <a:schemeClr val="tx1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185" name="직사각형 184"/>
            <p:cNvSpPr/>
            <p:nvPr/>
          </p:nvSpPr>
          <p:spPr>
            <a:xfrm>
              <a:off x="2714612" y="5929330"/>
              <a:ext cx="928694" cy="28575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3175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err="1">
                  <a:solidFill>
                    <a:schemeClr val="tx1"/>
                  </a:solidFill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JTableHeader</a:t>
              </a:r>
              <a:endParaRPr lang="ko-KR" altLang="en-US" sz="1000" dirty="0">
                <a:solidFill>
                  <a:schemeClr val="tx1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186" name="직사각형 185"/>
            <p:cNvSpPr/>
            <p:nvPr/>
          </p:nvSpPr>
          <p:spPr>
            <a:xfrm>
              <a:off x="1428728" y="6286520"/>
              <a:ext cx="642942" cy="28575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3175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err="1">
                  <a:solidFill>
                    <a:schemeClr val="tx1"/>
                  </a:solidFill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JSpinner</a:t>
              </a:r>
              <a:endParaRPr lang="ko-KR" altLang="en-US" sz="1000" dirty="0">
                <a:solidFill>
                  <a:schemeClr val="tx1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187" name="직사각형 186"/>
            <p:cNvSpPr/>
            <p:nvPr/>
          </p:nvSpPr>
          <p:spPr>
            <a:xfrm>
              <a:off x="3000364" y="6286520"/>
              <a:ext cx="928694" cy="28575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3175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err="1">
                  <a:solidFill>
                    <a:schemeClr val="tx1"/>
                  </a:solidFill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JInternalFrame</a:t>
              </a:r>
              <a:endParaRPr lang="ko-KR" altLang="en-US" sz="1000" dirty="0">
                <a:solidFill>
                  <a:schemeClr val="tx1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188" name="직사각형 187"/>
            <p:cNvSpPr/>
            <p:nvPr/>
          </p:nvSpPr>
          <p:spPr>
            <a:xfrm>
              <a:off x="2143108" y="6286520"/>
              <a:ext cx="785818" cy="28575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3175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err="1">
                  <a:solidFill>
                    <a:schemeClr val="tx1"/>
                  </a:solidFill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JScrollPane</a:t>
              </a:r>
              <a:endParaRPr lang="ko-KR" altLang="en-US" sz="1000" dirty="0">
                <a:solidFill>
                  <a:schemeClr val="tx1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</p:grpSp>
      <p:cxnSp>
        <p:nvCxnSpPr>
          <p:cNvPr id="192" name="꺾인 연결선 191"/>
          <p:cNvCxnSpPr>
            <a:stCxn id="189" idx="0"/>
            <a:endCxn id="15" idx="2"/>
          </p:cNvCxnSpPr>
          <p:nvPr/>
        </p:nvCxnSpPr>
        <p:spPr>
          <a:xfrm rot="5400000" flipH="1" flipV="1">
            <a:off x="3214299" y="2442357"/>
            <a:ext cx="214314" cy="2286016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꺾인 연결선 193"/>
          <p:cNvCxnSpPr>
            <a:stCxn id="77" idx="0"/>
            <a:endCxn id="15" idx="2"/>
          </p:cNvCxnSpPr>
          <p:nvPr/>
        </p:nvCxnSpPr>
        <p:spPr>
          <a:xfrm rot="16200000" flipV="1">
            <a:off x="4803795" y="3138877"/>
            <a:ext cx="285752" cy="964413"/>
          </a:xfrm>
          <a:prstGeom prst="bentConnector3">
            <a:avLst>
              <a:gd name="adj1" fmla="val 60548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꺾인 연결선 197"/>
          <p:cNvCxnSpPr>
            <a:stCxn id="80" idx="0"/>
            <a:endCxn id="15" idx="2"/>
          </p:cNvCxnSpPr>
          <p:nvPr/>
        </p:nvCxnSpPr>
        <p:spPr>
          <a:xfrm rot="16200000" flipV="1">
            <a:off x="5857505" y="2085167"/>
            <a:ext cx="285752" cy="3071834"/>
          </a:xfrm>
          <a:prstGeom prst="bentConnector3">
            <a:avLst>
              <a:gd name="adj1" fmla="val 60549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꺾인 연결선 233"/>
          <p:cNvCxnSpPr>
            <a:stCxn id="149" idx="0"/>
            <a:endCxn id="84" idx="2"/>
          </p:cNvCxnSpPr>
          <p:nvPr/>
        </p:nvCxnSpPr>
        <p:spPr>
          <a:xfrm rot="5400000" flipH="1" flipV="1">
            <a:off x="6143257" y="5264158"/>
            <a:ext cx="500066" cy="214314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꺾인 연결선 235"/>
          <p:cNvCxnSpPr>
            <a:stCxn id="150" idx="0"/>
            <a:endCxn id="84" idx="2"/>
          </p:cNvCxnSpPr>
          <p:nvPr/>
        </p:nvCxnSpPr>
        <p:spPr>
          <a:xfrm rot="16200000" flipV="1">
            <a:off x="6357571" y="5264158"/>
            <a:ext cx="857256" cy="571504"/>
          </a:xfrm>
          <a:prstGeom prst="bentConnector3">
            <a:avLst>
              <a:gd name="adj1" fmla="val 71099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TextBox 245"/>
          <p:cNvSpPr txBox="1"/>
          <p:nvPr/>
        </p:nvSpPr>
        <p:spPr>
          <a:xfrm>
            <a:off x="7470174" y="977878"/>
            <a:ext cx="1501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AWT </a:t>
            </a:r>
            <a:r>
              <a: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클래스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178184" y="3121018"/>
            <a:ext cx="1479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Swing </a:t>
            </a:r>
            <a:r>
              <a: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클래스</a:t>
            </a:r>
          </a:p>
        </p:txBody>
      </p:sp>
      <p:sp>
        <p:nvSpPr>
          <p:cNvPr id="107" name="슬라이드 번호 개체 틀 10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A6BD2C2-3D3B-4E94-BD92-61B02C5F4DEE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46355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Swing </a:t>
            </a:r>
            <a:r>
              <a:rPr lang="ko-KR" altLang="en-US"/>
              <a:t>클래스의 특징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클래스 이름이 </a:t>
            </a:r>
            <a:r>
              <a:rPr lang="en-US" altLang="ko-KR" dirty="0"/>
              <a:t>J </a:t>
            </a:r>
            <a:r>
              <a:rPr lang="ko-KR" altLang="en-US" dirty="0"/>
              <a:t>자로 시작</a:t>
            </a:r>
            <a:endParaRPr lang="en-US" altLang="ko-KR" dirty="0"/>
          </a:p>
          <a:p>
            <a:r>
              <a:rPr lang="ko-KR" altLang="en-US" dirty="0"/>
              <a:t>화려하고 다양한 컴포넌트로 쉽게 </a:t>
            </a:r>
            <a:r>
              <a:rPr lang="en-US" altLang="ko-KR" dirty="0"/>
              <a:t>GUI </a:t>
            </a:r>
            <a:r>
              <a:rPr lang="ko-KR" altLang="en-US" dirty="0"/>
              <a:t>프로그래밍</a:t>
            </a:r>
            <a:endParaRPr lang="en-US" altLang="ko-KR" dirty="0"/>
          </a:p>
          <a:p>
            <a:r>
              <a:rPr lang="ko-KR" altLang="en-US" dirty="0"/>
              <a:t>스윙 컴포넌트는 </a:t>
            </a:r>
            <a:r>
              <a:rPr lang="en-US" altLang="ko-KR" dirty="0"/>
              <a:t>2 </a:t>
            </a:r>
            <a:r>
              <a:rPr lang="ko-KR" altLang="en-US" dirty="0"/>
              <a:t>가지 유형</a:t>
            </a:r>
            <a:endParaRPr lang="en-US" altLang="ko-KR" dirty="0"/>
          </a:p>
          <a:p>
            <a:pPr lvl="1"/>
            <a:r>
              <a:rPr lang="en-US" altLang="ko-KR" dirty="0" err="1"/>
              <a:t>JComponent</a:t>
            </a:r>
            <a:r>
              <a:rPr lang="ko-KR" altLang="en-US" dirty="0"/>
              <a:t>를 상속받는 클래스</a:t>
            </a:r>
            <a:endParaRPr lang="en-US" altLang="ko-KR" dirty="0"/>
          </a:p>
          <a:p>
            <a:pPr lvl="2"/>
            <a:r>
              <a:rPr lang="ko-KR" altLang="en-US" dirty="0"/>
              <a:t>대부분의 스윙 컴포넌트들이 이에 해당</a:t>
            </a:r>
            <a:endParaRPr lang="en-US" altLang="ko-KR" dirty="0"/>
          </a:p>
          <a:p>
            <a:pPr lvl="1"/>
            <a:r>
              <a:rPr lang="en-US" altLang="ko-KR" dirty="0"/>
              <a:t>AWT</a:t>
            </a:r>
            <a:r>
              <a:rPr lang="ko-KR" altLang="en-US" dirty="0"/>
              <a:t>의 </a:t>
            </a:r>
            <a:r>
              <a:rPr lang="en-US" altLang="ko-KR" dirty="0"/>
              <a:t>Container</a:t>
            </a:r>
            <a:r>
              <a:rPr lang="ko-KR" altLang="en-US" dirty="0"/>
              <a:t>를 상속받는 몇 개의  클래스</a:t>
            </a:r>
            <a:endParaRPr lang="en-US" altLang="ko-KR" dirty="0"/>
          </a:p>
          <a:p>
            <a:pPr lvl="2"/>
            <a:r>
              <a:rPr lang="en-US" altLang="ko-KR" dirty="0" err="1"/>
              <a:t>JApplet</a:t>
            </a:r>
            <a:r>
              <a:rPr lang="en-US" altLang="ko-KR" dirty="0"/>
              <a:t>, </a:t>
            </a:r>
            <a:r>
              <a:rPr lang="en-US" altLang="ko-KR" dirty="0" err="1"/>
              <a:t>JDialog</a:t>
            </a:r>
            <a:r>
              <a:rPr lang="en-US" altLang="ko-KR" dirty="0"/>
              <a:t>, </a:t>
            </a:r>
            <a:r>
              <a:rPr lang="en-US" altLang="ko-KR" dirty="0" err="1"/>
              <a:t>JFrame</a:t>
            </a:r>
            <a:r>
              <a:rPr lang="en-US" altLang="ko-KR" dirty="0"/>
              <a:t> </a:t>
            </a:r>
            <a:r>
              <a:rPr lang="ko-KR" altLang="en-US" dirty="0"/>
              <a:t>등</a:t>
            </a:r>
            <a:endParaRPr lang="en-US" altLang="ko-KR" dirty="0"/>
          </a:p>
          <a:p>
            <a:r>
              <a:rPr lang="en-US" altLang="ko-KR" dirty="0" err="1"/>
              <a:t>JComponent</a:t>
            </a:r>
            <a:endParaRPr lang="en-US" altLang="ko-KR" dirty="0"/>
          </a:p>
          <a:p>
            <a:pPr lvl="1"/>
            <a:r>
              <a:rPr lang="ko-KR" altLang="en-US" dirty="0"/>
              <a:t>스윙 컴포넌트의 공통 속성을</a:t>
            </a:r>
            <a:r>
              <a:rPr lang="en-US" altLang="ko-KR" dirty="0"/>
              <a:t> </a:t>
            </a:r>
            <a:r>
              <a:rPr lang="ko-KR" altLang="en-US" dirty="0"/>
              <a:t>구현한 추상 클래스 </a:t>
            </a:r>
            <a:endParaRPr lang="en-US" altLang="ko-KR" dirty="0"/>
          </a:p>
          <a:p>
            <a:pPr lvl="2"/>
            <a:r>
              <a:rPr lang="en-US" altLang="ko-KR" strike="sngStrike" dirty="0"/>
              <a:t>new </a:t>
            </a:r>
            <a:r>
              <a:rPr lang="en-US" altLang="ko-KR" strike="sngStrike" dirty="0" err="1"/>
              <a:t>JComponent</a:t>
            </a:r>
            <a:r>
              <a:rPr lang="en-US" altLang="ko-KR" strike="sngStrike" dirty="0"/>
              <a:t>()</a:t>
            </a:r>
            <a:r>
              <a:rPr lang="en-US" altLang="ko-KR" dirty="0"/>
              <a:t>  </a:t>
            </a:r>
            <a:r>
              <a:rPr lang="ko-KR" altLang="en-US" dirty="0"/>
              <a:t>로 인스턴스를 생성할 수 없음</a:t>
            </a:r>
            <a:endParaRPr lang="en-US" altLang="ko-KR" dirty="0"/>
          </a:p>
          <a:p>
            <a:pPr lvl="1"/>
            <a:r>
              <a:rPr lang="en-US" altLang="ko-KR" dirty="0"/>
              <a:t>AWT</a:t>
            </a:r>
            <a:r>
              <a:rPr lang="ko-KR" altLang="en-US" dirty="0"/>
              <a:t>의 </a:t>
            </a:r>
            <a:r>
              <a:rPr lang="en-US" altLang="ko-KR" dirty="0"/>
              <a:t>Component</a:t>
            </a:r>
            <a:r>
              <a:rPr lang="ko-KR" altLang="en-US" dirty="0"/>
              <a:t>를 상속받음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1485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컨테이너와 컴포넌트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ko-KR" altLang="en-US" dirty="0"/>
              <a:t>컨테이너</a:t>
            </a:r>
            <a:endParaRPr lang="en-US" altLang="ko-KR" dirty="0"/>
          </a:p>
          <a:p>
            <a:pPr lvl="1"/>
            <a:r>
              <a:rPr lang="ko-KR" altLang="en-US" dirty="0"/>
              <a:t>다른 </a:t>
            </a:r>
            <a:r>
              <a:rPr lang="en-US" altLang="ko-KR" dirty="0"/>
              <a:t>GUI </a:t>
            </a:r>
            <a:r>
              <a:rPr lang="ko-KR" altLang="en-US" dirty="0"/>
              <a:t>컴포넌트를 포함할 수 있는 컴포넌트</a:t>
            </a:r>
            <a:endParaRPr lang="en-US" altLang="ko-KR" dirty="0"/>
          </a:p>
          <a:p>
            <a:pPr lvl="1"/>
            <a:r>
              <a:rPr lang="en-US" altLang="ko-KR" dirty="0" err="1"/>
              <a:t>java.awt.Container</a:t>
            </a:r>
            <a:r>
              <a:rPr lang="ko-KR" altLang="en-US" dirty="0"/>
              <a:t> 상속</a:t>
            </a:r>
            <a:endParaRPr lang="en-US" altLang="ko-KR" dirty="0"/>
          </a:p>
          <a:p>
            <a:pPr lvl="1"/>
            <a:r>
              <a:rPr lang="ko-KR" altLang="en-US" dirty="0"/>
              <a:t>다른 컨테이너에 포함될 수 있음</a:t>
            </a:r>
            <a:endParaRPr lang="en-US" altLang="ko-KR" dirty="0"/>
          </a:p>
          <a:p>
            <a:pPr lvl="1"/>
            <a:r>
              <a:rPr lang="ko-KR" altLang="en-US" dirty="0"/>
              <a:t>종류들</a:t>
            </a:r>
            <a:endParaRPr lang="en-US" altLang="ko-KR" dirty="0"/>
          </a:p>
          <a:p>
            <a:pPr lvl="2"/>
            <a:r>
              <a:rPr lang="en-US" altLang="ko-KR" dirty="0"/>
              <a:t>AWT </a:t>
            </a:r>
            <a:r>
              <a:rPr lang="ko-KR" altLang="en-US" dirty="0"/>
              <a:t>컨테이너 </a:t>
            </a:r>
            <a:r>
              <a:rPr lang="en-US" altLang="ko-KR" dirty="0"/>
              <a:t>: Panel, Frame, Applet, Dialog, Window</a:t>
            </a:r>
          </a:p>
          <a:p>
            <a:pPr lvl="2"/>
            <a:r>
              <a:rPr lang="en-US" altLang="ko-KR" dirty="0"/>
              <a:t>Swing </a:t>
            </a:r>
            <a:r>
              <a:rPr lang="ko-KR" altLang="en-US" dirty="0"/>
              <a:t>컨테이너 </a:t>
            </a:r>
            <a:r>
              <a:rPr lang="en-US" altLang="ko-KR" dirty="0"/>
              <a:t>: </a:t>
            </a:r>
            <a:r>
              <a:rPr lang="en-US" altLang="ko-KR" dirty="0" err="1"/>
              <a:t>JPanel</a:t>
            </a:r>
            <a:r>
              <a:rPr lang="en-US" altLang="ko-KR" dirty="0"/>
              <a:t> </a:t>
            </a:r>
            <a:r>
              <a:rPr lang="en-US" altLang="ko-KR" dirty="0" err="1"/>
              <a:t>JFrame</a:t>
            </a:r>
            <a:r>
              <a:rPr lang="en-US" altLang="ko-KR" dirty="0"/>
              <a:t>, </a:t>
            </a:r>
            <a:r>
              <a:rPr lang="en-US" altLang="ko-KR" dirty="0" err="1"/>
              <a:t>JApplet</a:t>
            </a:r>
            <a:r>
              <a:rPr lang="en-US" altLang="ko-KR" dirty="0"/>
              <a:t>, </a:t>
            </a:r>
            <a:r>
              <a:rPr lang="en-US" altLang="ko-KR" dirty="0" err="1"/>
              <a:t>JDialog</a:t>
            </a:r>
            <a:r>
              <a:rPr lang="en-US" altLang="ko-KR" dirty="0"/>
              <a:t>, </a:t>
            </a:r>
            <a:r>
              <a:rPr lang="en-US" altLang="ko-KR" dirty="0" err="1"/>
              <a:t>JWindow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최상위 컨테이너</a:t>
            </a:r>
            <a:endParaRPr lang="en-US" altLang="ko-KR" dirty="0"/>
          </a:p>
          <a:p>
            <a:pPr lvl="1"/>
            <a:r>
              <a:rPr lang="ko-KR" altLang="en-US" dirty="0"/>
              <a:t>다른 컨테이너에 속하지 않고 독립적으로 화면에 출력 가능한 컨테이너</a:t>
            </a:r>
            <a:endParaRPr lang="en-US" altLang="ko-KR" dirty="0"/>
          </a:p>
          <a:p>
            <a:pPr lvl="2"/>
            <a:r>
              <a:rPr lang="en-US" altLang="ko-KR" dirty="0" err="1"/>
              <a:t>JFrame</a:t>
            </a:r>
            <a:r>
              <a:rPr lang="en-US" altLang="ko-KR" dirty="0"/>
              <a:t>, </a:t>
            </a:r>
            <a:r>
              <a:rPr lang="en-US" altLang="ko-KR" dirty="0" err="1"/>
              <a:t>JDialog</a:t>
            </a:r>
            <a:r>
              <a:rPr lang="en-US" altLang="ko-KR" dirty="0"/>
              <a:t>, </a:t>
            </a:r>
            <a:r>
              <a:rPr lang="en-US" altLang="ko-KR" dirty="0" err="1"/>
              <a:t>JApplet</a:t>
            </a:r>
            <a:endParaRPr lang="en-US" altLang="ko-KR" dirty="0"/>
          </a:p>
          <a:p>
            <a:pPr lvl="1"/>
            <a:r>
              <a:rPr lang="ko-KR" altLang="en-US" dirty="0"/>
              <a:t>모든 컴포넌트는 컨테이너에 포함되어야 화면에 출력 가능</a:t>
            </a:r>
          </a:p>
          <a:p>
            <a:endParaRPr lang="en-US" altLang="ko-KR" dirty="0"/>
          </a:p>
          <a:p>
            <a:r>
              <a:rPr lang="ko-KR" altLang="en-US" dirty="0"/>
              <a:t>컴포넌트</a:t>
            </a:r>
            <a:endParaRPr lang="en-US" altLang="ko-KR" dirty="0"/>
          </a:p>
          <a:p>
            <a:pPr lvl="1"/>
            <a:r>
              <a:rPr lang="ko-KR" altLang="en-US" dirty="0"/>
              <a:t>컨테이너에 포함되어야 화면에 출력될 수 있는 순수 컴포넌트</a:t>
            </a:r>
            <a:endParaRPr lang="en-US" altLang="ko-KR" dirty="0"/>
          </a:p>
          <a:p>
            <a:pPr lvl="1"/>
            <a:r>
              <a:rPr lang="ko-KR" altLang="en-US" dirty="0"/>
              <a:t>모든 컴포넌트는 </a:t>
            </a:r>
            <a:r>
              <a:rPr lang="en-US" altLang="ko-KR" dirty="0" err="1"/>
              <a:t>java.awt.Component</a:t>
            </a:r>
            <a:r>
              <a:rPr lang="ko-KR" altLang="en-US" dirty="0"/>
              <a:t>를 상속받음</a:t>
            </a:r>
            <a:endParaRPr lang="en-US" altLang="ko-KR" dirty="0"/>
          </a:p>
          <a:p>
            <a:pPr lvl="1"/>
            <a:r>
              <a:rPr lang="ko-KR" altLang="en-US" dirty="0"/>
              <a:t>모든 스윙 컴포넌트는 </a:t>
            </a:r>
            <a:r>
              <a:rPr lang="en-US" altLang="ko-KR" dirty="0" err="1"/>
              <a:t>javax.swing.JComponent</a:t>
            </a:r>
            <a:r>
              <a:rPr lang="ko-KR" altLang="en-US" dirty="0"/>
              <a:t>를 상속받음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910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컨테이너와 컴포넌트의 포함관계</a:t>
            </a:r>
          </a:p>
        </p:txBody>
      </p:sp>
      <p:sp>
        <p:nvSpPr>
          <p:cNvPr id="26" name="슬라이드 번호 개체 틀 2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11</a:t>
            </a:fld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645" y="1484784"/>
            <a:ext cx="7970731" cy="381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6609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스윙 </a:t>
            </a:r>
            <a:r>
              <a:rPr lang="en-US" altLang="ko-KR"/>
              <a:t>GUI </a:t>
            </a:r>
            <a:r>
              <a:rPr lang="ko-KR" altLang="en-US"/>
              <a:t>프로그램 만들기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/>
              <a:t>1. </a:t>
            </a:r>
            <a:r>
              <a:rPr lang="ko-KR" altLang="en-US" dirty="0"/>
              <a:t>스윙</a:t>
            </a:r>
            <a:r>
              <a:rPr lang="en-US" altLang="ko-KR" dirty="0"/>
              <a:t> </a:t>
            </a:r>
            <a:r>
              <a:rPr lang="ko-KR" altLang="en-US" dirty="0"/>
              <a:t>프레임 작성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2. main() </a:t>
            </a:r>
            <a:r>
              <a:rPr lang="ko-KR" altLang="en-US" dirty="0" err="1"/>
              <a:t>메소드</a:t>
            </a:r>
            <a:r>
              <a:rPr lang="en-US" altLang="ko-KR" dirty="0"/>
              <a:t> </a:t>
            </a:r>
            <a:r>
              <a:rPr lang="ko-KR" altLang="en-US" dirty="0"/>
              <a:t>작성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3. </a:t>
            </a:r>
            <a:r>
              <a:rPr lang="ko-KR" altLang="en-US" dirty="0"/>
              <a:t>프레임에 스윙 컴포넌트 붙이기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스윙 패키지 사용을 위한 </a:t>
            </a:r>
            <a:r>
              <a:rPr lang="en-US" altLang="ko-KR" dirty="0"/>
              <a:t>import</a:t>
            </a:r>
            <a:r>
              <a:rPr lang="ko-KR" altLang="en-US" dirty="0"/>
              <a:t>문</a:t>
            </a:r>
            <a:endParaRPr lang="en-US" altLang="ko-KR" dirty="0"/>
          </a:p>
          <a:p>
            <a:pPr lvl="1"/>
            <a:r>
              <a:rPr lang="en-US" altLang="ko-KR" dirty="0"/>
              <a:t>import </a:t>
            </a:r>
            <a:r>
              <a:rPr lang="en-US" altLang="ko-KR" dirty="0" err="1"/>
              <a:t>java.awt</a:t>
            </a:r>
            <a:r>
              <a:rPr lang="en-US" altLang="ko-KR" dirty="0"/>
              <a:t>.*; // </a:t>
            </a:r>
            <a:r>
              <a:rPr lang="ko-KR" altLang="en-US" dirty="0"/>
              <a:t>그래픽 처리를 위한 클래스들의 경로명</a:t>
            </a:r>
          </a:p>
          <a:p>
            <a:pPr lvl="1"/>
            <a:r>
              <a:rPr lang="en-US" altLang="ko-KR" dirty="0"/>
              <a:t>import </a:t>
            </a:r>
            <a:r>
              <a:rPr lang="en-US" altLang="ko-KR" dirty="0" err="1"/>
              <a:t>java.awt.event</a:t>
            </a:r>
            <a:r>
              <a:rPr lang="en-US" altLang="ko-KR" dirty="0"/>
              <a:t>.*; // AWT </a:t>
            </a:r>
            <a:r>
              <a:rPr lang="ko-KR" altLang="en-US" dirty="0"/>
              <a:t>이벤트 사용을 위한 경로명</a:t>
            </a:r>
          </a:p>
          <a:p>
            <a:pPr lvl="1"/>
            <a:r>
              <a:rPr lang="en-US" altLang="ko-KR" dirty="0"/>
              <a:t>import </a:t>
            </a:r>
            <a:r>
              <a:rPr lang="en-US" altLang="ko-KR" dirty="0" err="1"/>
              <a:t>javax.swing</a:t>
            </a:r>
            <a:r>
              <a:rPr lang="en-US" altLang="ko-KR" dirty="0"/>
              <a:t>.*; // </a:t>
            </a:r>
            <a:r>
              <a:rPr lang="ko-KR" altLang="en-US" dirty="0"/>
              <a:t>스윙 컴포넌트 클래스들의 경로명</a:t>
            </a:r>
          </a:p>
          <a:p>
            <a:pPr lvl="1"/>
            <a:r>
              <a:rPr lang="en-US" altLang="ko-KR" dirty="0"/>
              <a:t>import </a:t>
            </a:r>
            <a:r>
              <a:rPr lang="en-US" altLang="ko-KR" dirty="0" err="1"/>
              <a:t>javax.swing.event</a:t>
            </a:r>
            <a:r>
              <a:rPr lang="en-US" altLang="ko-KR" dirty="0"/>
              <a:t>.*; // </a:t>
            </a:r>
            <a:r>
              <a:rPr lang="ko-KR" altLang="en-US" dirty="0"/>
              <a:t>스윙 이벤트를 위한 경로명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59636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스윙 프레임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12648" y="1340768"/>
            <a:ext cx="8153400" cy="2373984"/>
          </a:xfrm>
        </p:spPr>
        <p:txBody>
          <a:bodyPr>
            <a:normAutofit fontScale="85000" lnSpcReduction="20000"/>
          </a:bodyPr>
          <a:lstStyle/>
          <a:p>
            <a:r>
              <a:rPr lang="ko-KR" altLang="en-US" dirty="0"/>
              <a:t>모든 스윙 컴포넌트를 담는 최상위 </a:t>
            </a:r>
            <a:r>
              <a:rPr lang="en-US" altLang="ko-KR" dirty="0"/>
              <a:t>GUI </a:t>
            </a:r>
            <a:r>
              <a:rPr lang="ko-KR" altLang="en-US" dirty="0"/>
              <a:t>컨테이너</a:t>
            </a:r>
            <a:endParaRPr lang="en-US" altLang="ko-KR" dirty="0"/>
          </a:p>
          <a:p>
            <a:pPr lvl="1"/>
            <a:r>
              <a:rPr lang="en-US" altLang="ko-KR" dirty="0" err="1"/>
              <a:t>JFrame</a:t>
            </a:r>
            <a:r>
              <a:rPr lang="ko-KR" altLang="en-US" dirty="0"/>
              <a:t>을 상속받아 구현</a:t>
            </a:r>
            <a:endParaRPr lang="en-US" altLang="ko-KR" dirty="0"/>
          </a:p>
          <a:p>
            <a:pPr lvl="1"/>
            <a:r>
              <a:rPr lang="ko-KR" altLang="en-US" dirty="0"/>
              <a:t>컴포넌트가 화면에 보이려면 스윙 프레임 내에 부착되어야 함</a:t>
            </a:r>
            <a:endParaRPr lang="en-US" altLang="ko-KR" dirty="0"/>
          </a:p>
          <a:p>
            <a:pPr lvl="1"/>
            <a:r>
              <a:rPr lang="ko-KR" altLang="en-US" dirty="0"/>
              <a:t>프레임을 닫으면 프레임 내의 모든 컴포넌트가 보이지 않게 됨</a:t>
            </a:r>
            <a:endParaRPr lang="en-US" altLang="ko-KR" dirty="0"/>
          </a:p>
          <a:p>
            <a:r>
              <a:rPr lang="ko-KR" altLang="en-US" dirty="0"/>
              <a:t>스윙 프레임</a:t>
            </a:r>
            <a:r>
              <a:rPr lang="en-US" altLang="ko-KR" dirty="0"/>
              <a:t>(</a:t>
            </a:r>
            <a:r>
              <a:rPr lang="en-US" altLang="ko-KR" dirty="0" err="1"/>
              <a:t>JFrame</a:t>
            </a:r>
            <a:r>
              <a:rPr lang="en-US" altLang="ko-KR" dirty="0"/>
              <a:t>)</a:t>
            </a:r>
            <a:r>
              <a:rPr lang="ko-KR" altLang="en-US" dirty="0"/>
              <a:t> 기본 구성</a:t>
            </a:r>
            <a:endParaRPr lang="en-US" altLang="ko-KR" dirty="0"/>
          </a:p>
          <a:p>
            <a:pPr lvl="1"/>
            <a:r>
              <a:rPr lang="ko-KR" altLang="en-US" dirty="0"/>
              <a:t>프레임 </a:t>
            </a:r>
            <a:r>
              <a:rPr lang="en-US" altLang="ko-KR" dirty="0"/>
              <a:t>– </a:t>
            </a:r>
            <a:r>
              <a:rPr lang="ko-KR" altLang="en-US" dirty="0"/>
              <a:t>스윙 프로그램의 기본 틀</a:t>
            </a:r>
            <a:endParaRPr lang="en-US" altLang="ko-KR" dirty="0"/>
          </a:p>
          <a:p>
            <a:pPr lvl="1"/>
            <a:r>
              <a:rPr lang="ko-KR" altLang="en-US" dirty="0" err="1"/>
              <a:t>메뉴바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메뉴들이 부착되는 공간</a:t>
            </a:r>
            <a:endParaRPr lang="en-US" altLang="ko-KR" dirty="0"/>
          </a:p>
          <a:p>
            <a:pPr lvl="1"/>
            <a:r>
              <a:rPr lang="ko-KR" altLang="en-US" dirty="0" err="1"/>
              <a:t>컨텐트</a:t>
            </a:r>
            <a:r>
              <a:rPr lang="ko-KR" altLang="en-US" dirty="0"/>
              <a:t> 팬 </a:t>
            </a:r>
            <a:r>
              <a:rPr lang="en-US" altLang="ko-KR" dirty="0"/>
              <a:t>– GUI </a:t>
            </a:r>
            <a:r>
              <a:rPr lang="ko-KR" altLang="en-US" dirty="0"/>
              <a:t>컴포넌트들이 부착되는 공간</a:t>
            </a:r>
            <a:endParaRPr lang="en-US" altLang="ko-KR" dirty="0"/>
          </a:p>
          <a:p>
            <a:endParaRPr lang="ko-KR" altLang="en-US" dirty="0"/>
          </a:p>
        </p:txBody>
      </p:sp>
      <p:grpSp>
        <p:nvGrpSpPr>
          <p:cNvPr id="9" name="그룹 8"/>
          <p:cNvGrpSpPr/>
          <p:nvPr/>
        </p:nvGrpSpPr>
        <p:grpSpPr>
          <a:xfrm>
            <a:off x="612648" y="3714752"/>
            <a:ext cx="7924853" cy="2928958"/>
            <a:chOff x="651095" y="3503288"/>
            <a:chExt cx="7924853" cy="2928958"/>
          </a:xfrm>
        </p:grpSpPr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1095" y="4158834"/>
              <a:ext cx="2863487" cy="1934462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sp>
          <p:nvSpPr>
            <p:cNvPr id="7" name="정육면체 6"/>
            <p:cNvSpPr/>
            <p:nvPr/>
          </p:nvSpPr>
          <p:spPr>
            <a:xfrm>
              <a:off x="5646990" y="3931916"/>
              <a:ext cx="2714644" cy="2000264"/>
            </a:xfrm>
            <a:prstGeom prst="cube">
              <a:avLst>
                <a:gd name="adj" fmla="val 4629"/>
              </a:avLst>
            </a:prstGeom>
            <a:solidFill>
              <a:schemeClr val="bg2">
                <a:lumMod val="25000"/>
              </a:schemeClr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Frame</a:t>
              </a:r>
            </a:p>
            <a:p>
              <a:pPr algn="ctr"/>
              <a:endPara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  <a:p>
              <a:pPr algn="ctr"/>
              <a:endPara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  <a:p>
              <a:pPr algn="ctr"/>
              <a:endPara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  <a:p>
              <a:pPr algn="ctr"/>
              <a:endPara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  <a:p>
              <a:pPr algn="ctr"/>
              <a:endPara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  <a:p>
              <a:pPr algn="ctr"/>
              <a:endParaRPr lang="ko-KR" altLang="en-US" sz="1400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4" name="정육면체 3"/>
            <p:cNvSpPr/>
            <p:nvPr/>
          </p:nvSpPr>
          <p:spPr>
            <a:xfrm>
              <a:off x="5218362" y="4574858"/>
              <a:ext cx="2714644" cy="1714512"/>
            </a:xfrm>
            <a:prstGeom prst="cube">
              <a:avLst>
                <a:gd name="adj" fmla="val 6245"/>
              </a:avLst>
            </a:prstGeom>
            <a:solidFill>
              <a:schemeClr val="accent4">
                <a:lumMod val="75000"/>
              </a:schemeClr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Content Pane</a:t>
              </a:r>
              <a:endParaRPr lang="ko-KR" altLang="en-US" sz="1400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5" name="정육면체 4"/>
            <p:cNvSpPr/>
            <p:nvPr/>
          </p:nvSpPr>
          <p:spPr>
            <a:xfrm>
              <a:off x="5218362" y="4431982"/>
              <a:ext cx="2714644" cy="285752"/>
            </a:xfrm>
            <a:prstGeom prst="cube">
              <a:avLst>
                <a:gd name="adj" fmla="val 35549"/>
              </a:avLst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Menu Bar</a:t>
              </a:r>
              <a:endParaRPr lang="ko-KR" altLang="en-US" sz="1400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cxnSp>
          <p:nvCxnSpPr>
            <p:cNvPr id="10" name="직선 화살표 연결선 9"/>
            <p:cNvCxnSpPr/>
            <p:nvPr/>
          </p:nvCxnSpPr>
          <p:spPr>
            <a:xfrm flipV="1">
              <a:off x="2360842" y="4074792"/>
              <a:ext cx="3286148" cy="214314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화살표 연결선 11"/>
            <p:cNvCxnSpPr/>
            <p:nvPr/>
          </p:nvCxnSpPr>
          <p:spPr>
            <a:xfrm>
              <a:off x="3218098" y="4503420"/>
              <a:ext cx="1928826" cy="142876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화살표 연결선 13"/>
            <p:cNvCxnSpPr>
              <a:endCxn id="4" idx="2"/>
            </p:cNvCxnSpPr>
            <p:nvPr/>
          </p:nvCxnSpPr>
          <p:spPr>
            <a:xfrm>
              <a:off x="3360974" y="5074924"/>
              <a:ext cx="1857388" cy="410725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3146660" y="3789040"/>
              <a:ext cx="194752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타이틀 바를 가진 </a:t>
              </a:r>
              <a:r>
                <a:rPr lang="en-US" altLang="ko-KR" sz="14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Frame</a:t>
              </a:r>
              <a:endParaRPr lang="ko-KR" altLang="en-US" sz="1400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075354" y="4574858"/>
              <a:ext cx="64633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dirty="0" err="1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메뉴바</a:t>
              </a:r>
              <a:endParaRPr lang="ko-KR" altLang="en-US" sz="1400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621739" y="5280286"/>
              <a:ext cx="1412566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dirty="0" err="1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컨텐트</a:t>
              </a:r>
              <a:r>
                <a:rPr lang="ko-KR" altLang="en-US" sz="14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 팬 </a:t>
              </a:r>
              <a:r>
                <a:rPr lang="en-US" altLang="ko-KR" sz="14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:</a:t>
              </a:r>
            </a:p>
            <a:p>
              <a:r>
                <a:rPr lang="ko-KR" altLang="en-US" sz="14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화면에 출력될</a:t>
              </a:r>
              <a:endPara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  <a:p>
              <a:r>
                <a:rPr lang="ko-KR" altLang="en-US" sz="14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모든 컴포넌트들이</a:t>
              </a:r>
              <a:endPara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  <a:p>
              <a:r>
                <a:rPr lang="ko-KR" altLang="en-US" sz="14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부착되는 공간</a:t>
              </a:r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5004048" y="3789040"/>
              <a:ext cx="3571900" cy="264320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789998" y="3503288"/>
              <a:ext cx="81740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err="1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JFrame</a:t>
              </a:r>
              <a:endParaRPr lang="ko-KR" altLang="en-US" sz="1400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</p:grpSp>
      <p:sp>
        <p:nvSpPr>
          <p:cNvPr id="21" name="슬라이드 번호 개체 틀 20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87212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예제 </a:t>
            </a:r>
            <a:r>
              <a:rPr lang="en-US" altLang="ko-KR" dirty="0"/>
              <a:t>9-1 : 300x300 </a:t>
            </a:r>
            <a:r>
              <a:rPr lang="ko-KR" altLang="en-US" dirty="0"/>
              <a:t>크기의 스윙 프레임 만들기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01870596-DAFA-46D2-82A7-2B6B5F8E0EA4}" type="slidenum">
              <a:rPr lang="ko-KR" altLang="en-US" smtClean="0"/>
              <a:t>14</a:t>
            </a:fld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612648" y="1917974"/>
            <a:ext cx="4679432" cy="329320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6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import </a:t>
            </a:r>
            <a:r>
              <a:rPr lang="en-US" altLang="ko-KR" sz="16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javax.swing</a:t>
            </a:r>
            <a:r>
              <a:rPr lang="en-US" altLang="ko-KR" sz="16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.*;</a:t>
            </a:r>
          </a:p>
          <a:p>
            <a:pPr defTabSz="180000"/>
            <a:endParaRPr lang="en-US" altLang="ko-KR" sz="16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6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public class </a:t>
            </a:r>
            <a:r>
              <a:rPr lang="en-US" altLang="ko-KR" sz="16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MyFrame</a:t>
            </a:r>
            <a:r>
              <a:rPr lang="en-US" altLang="ko-KR" sz="16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extends </a:t>
            </a:r>
            <a:r>
              <a:rPr lang="en-US" altLang="ko-KR" sz="16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JFrame</a:t>
            </a:r>
            <a:r>
              <a:rPr lang="en-US" altLang="ko-KR" sz="16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16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{</a:t>
            </a:r>
          </a:p>
          <a:p>
            <a:pPr defTabSz="180000"/>
            <a:r>
              <a:rPr lang="en-US" altLang="ko-KR" sz="16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public </a:t>
            </a:r>
            <a:r>
              <a:rPr lang="en-US" altLang="ko-KR" sz="16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MyFrame</a:t>
            </a:r>
            <a:r>
              <a:rPr lang="en-US" altLang="ko-KR" sz="16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 {</a:t>
            </a:r>
          </a:p>
          <a:p>
            <a:pPr defTabSz="180000"/>
            <a:r>
              <a:rPr lang="en-US" altLang="ko-KR" sz="16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6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setTitle</a:t>
            </a:r>
            <a:r>
              <a:rPr lang="en-US" altLang="ko-KR" sz="16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("300x300 </a:t>
            </a:r>
            <a:r>
              <a:rPr lang="ko-KR" altLang="en-US" sz="16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스윙 프레임 만들기</a:t>
            </a:r>
            <a:r>
              <a:rPr lang="en-US" altLang="ko-KR" sz="16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");</a:t>
            </a:r>
          </a:p>
          <a:p>
            <a:pPr defTabSz="180000"/>
            <a:r>
              <a:rPr lang="en-US" altLang="ko-KR" sz="16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6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setSize</a:t>
            </a:r>
            <a:r>
              <a:rPr lang="en-US" altLang="ko-KR" sz="16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(300,300); </a:t>
            </a:r>
            <a:r>
              <a:rPr lang="en-US" altLang="ko-KR" sz="16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// </a:t>
            </a:r>
            <a:r>
              <a:rPr lang="ko-KR" altLang="en-US" sz="16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프레임 크기 </a:t>
            </a:r>
            <a:r>
              <a:rPr lang="en-US" altLang="ko-KR" sz="16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300x300</a:t>
            </a:r>
          </a:p>
          <a:p>
            <a:pPr defTabSz="180000"/>
            <a:r>
              <a:rPr lang="en-US" altLang="ko-KR" sz="16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6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setVisible</a:t>
            </a:r>
            <a:r>
              <a:rPr lang="en-US" altLang="ko-KR" sz="16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(true)</a:t>
            </a:r>
            <a:r>
              <a:rPr lang="en-US" altLang="ko-KR" sz="16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; // </a:t>
            </a:r>
            <a:r>
              <a:rPr lang="ko-KR" altLang="en-US" sz="16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프레임 출력</a:t>
            </a:r>
          </a:p>
          <a:p>
            <a:pPr defTabSz="180000"/>
            <a:r>
              <a:rPr lang="en-US" altLang="ko-KR" sz="16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}</a:t>
            </a:r>
          </a:p>
          <a:p>
            <a:pPr defTabSz="180000"/>
            <a:endParaRPr lang="en-US" altLang="ko-KR" sz="16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6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public static void main(String[] </a:t>
            </a:r>
            <a:r>
              <a:rPr lang="en-US" altLang="ko-KR" sz="16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args</a:t>
            </a:r>
            <a:r>
              <a:rPr lang="en-US" altLang="ko-KR" sz="16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 {</a:t>
            </a:r>
          </a:p>
          <a:p>
            <a:pPr defTabSz="180000"/>
            <a:r>
              <a:rPr lang="en-US" altLang="ko-KR" sz="16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6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MyFrame</a:t>
            </a:r>
            <a:r>
              <a:rPr lang="en-US" altLang="ko-KR" sz="16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frame = </a:t>
            </a:r>
            <a:r>
              <a:rPr lang="en-US" altLang="ko-KR" sz="16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new </a:t>
            </a:r>
            <a:r>
              <a:rPr lang="en-US" altLang="ko-KR" sz="16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MyFrame</a:t>
            </a:r>
            <a:r>
              <a:rPr lang="en-US" altLang="ko-KR" sz="16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</a:t>
            </a:r>
          </a:p>
          <a:p>
            <a:pPr defTabSz="180000"/>
            <a:r>
              <a:rPr lang="en-US" altLang="ko-KR" sz="16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}</a:t>
            </a:r>
          </a:p>
          <a:p>
            <a:pPr defTabSz="180000"/>
            <a:r>
              <a:rPr lang="en-US" altLang="ko-KR" sz="16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}</a:t>
            </a:r>
            <a:endParaRPr lang="ko-KR" altLang="en-US" sz="16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24675" y="1415742"/>
            <a:ext cx="327525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300×300 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크기의 스윙 프레임을 작성하라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.</a:t>
            </a:r>
            <a:endParaRPr lang="ko-KR" altLang="en-US" sz="1400" dirty="0">
              <a:solidFill>
                <a:schemeClr val="accent2">
                  <a:lumMod val="75000"/>
                </a:schemeClr>
              </a:solidFill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8144" y="2276872"/>
            <a:ext cx="2232248" cy="2291817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8423765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main()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위치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1560" y="2852937"/>
            <a:ext cx="3888432" cy="31085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import </a:t>
            </a:r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javax.swing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.*;</a:t>
            </a:r>
          </a:p>
          <a:p>
            <a:endParaRPr lang="en-US" altLang="ko-KR" sz="14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r>
              <a:rPr lang="en-US" altLang="ko-KR" sz="14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public class </a:t>
            </a:r>
            <a:r>
              <a:rPr lang="en-US" altLang="ko-KR" sz="14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MyFrame</a:t>
            </a:r>
            <a:r>
              <a:rPr lang="en-US" altLang="ko-KR" sz="14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extends </a:t>
            </a:r>
            <a:r>
              <a:rPr lang="en-US" altLang="ko-KR" sz="14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JFrame</a:t>
            </a:r>
            <a:r>
              <a:rPr lang="en-US" altLang="ko-KR" sz="14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{</a:t>
            </a:r>
          </a:p>
          <a:p>
            <a:pPr defTabSz="271463"/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</a:t>
            </a:r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MyFrame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 {</a:t>
            </a:r>
          </a:p>
          <a:p>
            <a:pPr defTabSz="271463"/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setTitle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</a:t>
            </a:r>
            <a:r>
              <a:rPr lang="ko-KR" altLang="en-US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첫번째</a:t>
            </a:r>
            <a:r>
              <a:rPr lang="ko-KR" altLang="en-US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프레임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");</a:t>
            </a:r>
          </a:p>
          <a:p>
            <a:pPr defTabSz="271463"/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setSize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(300,300);</a:t>
            </a:r>
          </a:p>
          <a:p>
            <a:pPr defTabSz="271463"/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setVisible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(true);</a:t>
            </a:r>
          </a:p>
          <a:p>
            <a:pPr defTabSz="271463"/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}</a:t>
            </a:r>
          </a:p>
          <a:p>
            <a:pPr defTabSz="271463"/>
            <a:endParaRPr lang="en-US" altLang="ko-KR" sz="14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271463"/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</a:t>
            </a:r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public static void main(String [] </a:t>
            </a:r>
            <a:r>
              <a:rPr lang="en-US" altLang="ko-KR" sz="1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args</a:t>
            </a:r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) {</a:t>
            </a:r>
          </a:p>
          <a:p>
            <a:pPr defTabSz="271463"/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MyFrame</a:t>
            </a:r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 mf=new </a:t>
            </a:r>
            <a:r>
              <a:rPr lang="en-US" altLang="ko-KR" sz="1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MyFrame</a:t>
            </a:r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</a:t>
            </a:r>
          </a:p>
          <a:p>
            <a:pPr defTabSz="271463"/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	}</a:t>
            </a:r>
          </a:p>
          <a:p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}</a:t>
            </a:r>
          </a:p>
          <a:p>
            <a:endParaRPr lang="ko-KR" altLang="en-US" sz="14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148064" y="2852936"/>
            <a:ext cx="3842334" cy="31085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import </a:t>
            </a:r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javax.swing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.*;</a:t>
            </a:r>
          </a:p>
          <a:p>
            <a:endParaRPr lang="en-US" altLang="ko-KR" sz="14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r>
              <a:rPr lang="en-US" altLang="ko-KR" sz="14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class </a:t>
            </a:r>
            <a:r>
              <a:rPr lang="en-US" altLang="ko-KR" sz="14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MyFrame</a:t>
            </a:r>
            <a:r>
              <a:rPr lang="en-US" altLang="ko-KR" sz="14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extends </a:t>
            </a:r>
            <a:r>
              <a:rPr lang="en-US" altLang="ko-KR" sz="14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JFrame</a:t>
            </a:r>
            <a:r>
              <a:rPr lang="en-US" altLang="ko-KR" sz="14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{</a:t>
            </a:r>
          </a:p>
          <a:p>
            <a:pPr defTabSz="271463"/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</a:t>
            </a:r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MyFrame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 {</a:t>
            </a:r>
          </a:p>
          <a:p>
            <a:pPr defTabSz="271463"/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setTitle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</a:t>
            </a:r>
            <a:r>
              <a:rPr lang="ko-KR" altLang="en-US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첫번째</a:t>
            </a:r>
            <a:r>
              <a:rPr lang="ko-KR" altLang="en-US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프레임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");</a:t>
            </a:r>
          </a:p>
          <a:p>
            <a:pPr defTabSz="271463"/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setSize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(300,300);</a:t>
            </a:r>
          </a:p>
          <a:p>
            <a:pPr defTabSz="271463"/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setVisible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(true);</a:t>
            </a:r>
          </a:p>
          <a:p>
            <a:pPr defTabSz="271463"/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}</a:t>
            </a:r>
          </a:p>
          <a:p>
            <a:pPr defTabSz="271463"/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}</a:t>
            </a:r>
          </a:p>
          <a:p>
            <a:pPr defTabSz="271463"/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public class </a:t>
            </a:r>
            <a:r>
              <a:rPr lang="en-US" altLang="ko-KR" sz="1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MyApp</a:t>
            </a:r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 {</a:t>
            </a:r>
          </a:p>
          <a:p>
            <a:pPr defTabSz="271463"/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	public static void main(String [] </a:t>
            </a:r>
            <a:r>
              <a:rPr lang="en-US" altLang="ko-KR" sz="1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args</a:t>
            </a:r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) {</a:t>
            </a:r>
          </a:p>
          <a:p>
            <a:pPr defTabSz="271463"/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MyFrame</a:t>
            </a:r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 mf = new </a:t>
            </a:r>
            <a:r>
              <a:rPr lang="en-US" altLang="ko-KR" sz="1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MyFrame</a:t>
            </a:r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</a:t>
            </a:r>
          </a:p>
          <a:p>
            <a:pPr defTabSz="271463"/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	}</a:t>
            </a:r>
          </a:p>
          <a:p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}</a:t>
            </a:r>
            <a:endParaRPr lang="ko-KR" altLang="en-US" sz="1400" b="1" dirty="0">
              <a:solidFill>
                <a:schemeClr val="tx1">
                  <a:lumMod val="85000"/>
                  <a:lumOff val="15000"/>
                </a:schemeClr>
              </a:solidFill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15</a:t>
            </a:fld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768267" y="5961480"/>
            <a:ext cx="31053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main()</a:t>
            </a:r>
            <a:r>
              <a:rPr lang="ko-KR" altLang="en-US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을 프레임 클래스 내의 멤버로 작성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6537" y="5961480"/>
            <a:ext cx="30954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main()</a:t>
            </a:r>
            <a:r>
              <a:rPr lang="ko-KR" altLang="en-US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을 가진 다른 클래스 </a:t>
            </a:r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MyApp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ko-KR" altLang="en-US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작성</a:t>
            </a:r>
          </a:p>
        </p:txBody>
      </p:sp>
      <p:sp>
        <p:nvSpPr>
          <p:cNvPr id="10" name="모서리가 둥근 사각형 설명선 9"/>
          <p:cNvSpPr/>
          <p:nvPr/>
        </p:nvSpPr>
        <p:spPr>
          <a:xfrm>
            <a:off x="697826" y="2427630"/>
            <a:ext cx="576064" cy="289441"/>
          </a:xfrm>
          <a:prstGeom prst="wedgeRoundRectCallout">
            <a:avLst>
              <a:gd name="adj1" fmla="val 39008"/>
              <a:gd name="adj2" fmla="val 92594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ko-KR" altLang="en-US" sz="1100" dirty="0">
                <a:solidFill>
                  <a:schemeClr val="tx1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권장</a:t>
            </a: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064" y="254998"/>
            <a:ext cx="2232248" cy="2291817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0855517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프레임에 컴포넌트 붙이기</a:t>
            </a:r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16</a:t>
            </a:fld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3582265" y="3429000"/>
            <a:ext cx="4365356" cy="7386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Container c = </a:t>
            </a:r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frame.getContentPane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</a:t>
            </a:r>
          </a:p>
          <a:p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JButton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b = new </a:t>
            </a:r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JButton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("Click");</a:t>
            </a:r>
          </a:p>
          <a:p>
            <a:r>
              <a:rPr lang="en-US" altLang="ko-KR" sz="14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c.add</a:t>
            </a:r>
            <a:r>
              <a:rPr lang="en-US" altLang="ko-KR" sz="14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(b);</a:t>
            </a:r>
            <a:endParaRPr lang="ko-KR" altLang="en-US" sz="1400" b="1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582265" y="4530182"/>
            <a:ext cx="4365356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JPanel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p = new </a:t>
            </a:r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JPanel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</a:t>
            </a:r>
          </a:p>
          <a:p>
            <a:r>
              <a:rPr lang="en-US" altLang="ko-KR" sz="14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frame.setContentPane</a:t>
            </a:r>
            <a:r>
              <a:rPr lang="en-US" altLang="ko-KR" sz="14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(p);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2209753" y="1556792"/>
            <a:ext cx="5737868" cy="95410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public </a:t>
            </a:r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MyFrame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 { // </a:t>
            </a:r>
            <a:r>
              <a:rPr lang="ko-KR" altLang="en-US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생성자</a:t>
            </a:r>
            <a:endParaRPr lang="ko-KR" altLang="en-US" sz="14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</a:t>
            </a:r>
            <a:r>
              <a:rPr lang="en-US" altLang="ko-KR" sz="14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super("</a:t>
            </a:r>
            <a:r>
              <a:rPr lang="ko-KR" altLang="en-US" sz="14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타이틀문자열</a:t>
            </a:r>
            <a:r>
              <a:rPr lang="en-US" altLang="ko-KR" sz="14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")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; // </a:t>
            </a:r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Jframe</a:t>
            </a:r>
            <a:r>
              <a:rPr lang="ko-KR" altLang="en-US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의 </a:t>
            </a:r>
            <a:r>
              <a:rPr lang="ko-KR" altLang="en-US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생성자</a:t>
            </a:r>
            <a:r>
              <a:rPr lang="ko-KR" altLang="en-US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호출하여 타이틀 달기</a:t>
            </a:r>
          </a:p>
          <a:p>
            <a:pPr defTabSz="180000"/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</a:t>
            </a:r>
            <a:r>
              <a:rPr lang="en-US" altLang="ko-KR" sz="14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setTitle</a:t>
            </a:r>
            <a:r>
              <a:rPr lang="en-US" altLang="ko-KR" sz="14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</a:t>
            </a:r>
            <a:r>
              <a:rPr lang="ko-KR" altLang="en-US" sz="14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타이틀문자열</a:t>
            </a:r>
            <a:r>
              <a:rPr lang="en-US" altLang="ko-KR" sz="14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")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; // </a:t>
            </a:r>
            <a:r>
              <a:rPr lang="ko-KR" altLang="en-US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메소드를</a:t>
            </a:r>
            <a:r>
              <a:rPr lang="ko-KR" altLang="en-US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호출하여 타이틀 달기</a:t>
            </a:r>
          </a:p>
          <a:p>
            <a:pPr defTabSz="180000"/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}</a:t>
            </a:r>
            <a:endParaRPr lang="ko-KR" altLang="en-US" sz="1400" b="1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3582265" y="2852936"/>
            <a:ext cx="4365356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Container </a:t>
            </a:r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contentPane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= </a:t>
            </a:r>
            <a:r>
              <a:rPr lang="en-US" altLang="ko-KR" sz="14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frame.getContentPane</a:t>
            </a:r>
            <a:r>
              <a:rPr lang="en-US" altLang="ko-KR" sz="14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 </a:t>
            </a:r>
            <a:endParaRPr lang="ko-KR" altLang="en-US" sz="1400" b="1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99592" y="1870955"/>
            <a:ext cx="10070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타이틀 달기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39872" y="2852936"/>
            <a:ext cx="14847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컨텐트팬</a:t>
            </a:r>
            <a:r>
              <a:rPr lang="ko-KR" altLang="en-US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알아내기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9555" y="3596495"/>
            <a:ext cx="19720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컨텐트팬에</a:t>
            </a:r>
            <a:r>
              <a:rPr lang="ko-KR" altLang="en-US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컴포넌트 달기</a:t>
            </a:r>
            <a:endParaRPr lang="en-US" altLang="ko-KR" sz="14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209753" y="4529233"/>
            <a:ext cx="11641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컨텐트팬</a:t>
            </a:r>
            <a:r>
              <a:rPr lang="ko-KR" altLang="en-US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변경</a:t>
            </a:r>
          </a:p>
        </p:txBody>
      </p:sp>
    </p:spTree>
    <p:extLst>
      <p:ext uri="{BB962C8B-B14F-4D97-AF65-F5344CB8AC3E}">
        <p14:creationId xmlns:p14="http://schemas.microsoft.com/office/powerpoint/2010/main" val="23613005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sz="2400" dirty="0"/>
              <a:t>예제 </a:t>
            </a:r>
            <a:r>
              <a:rPr lang="en-US" altLang="ko-KR" sz="2400" dirty="0"/>
              <a:t>9-2 : 3</a:t>
            </a:r>
            <a:r>
              <a:rPr lang="ko-KR" altLang="en-US" sz="2400" dirty="0"/>
              <a:t>개의 버튼 컴포넌트를 가진 스윙프레임 만들기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539552" y="1916832"/>
            <a:ext cx="5072098" cy="452431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import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javax.swing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.*;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import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java.awt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.*;</a:t>
            </a:r>
          </a:p>
          <a:p>
            <a:pPr defTabSz="180000"/>
            <a:endParaRPr lang="en-US" altLang="ko-KR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public class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ContentPaneEx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extends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JFrame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public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ContentPaneEx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 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setTitle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ContentPane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과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JFrame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");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setDefaultCloseOperation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JFrame.EXIT_ON_CLOSE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</a:p>
          <a:p>
            <a:pPr defTabSz="180000"/>
            <a:endParaRPr lang="en-US" altLang="ko-KR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Container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contentPane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=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getContentPane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contentPane.setBackground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Color.ORANGE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contentPane.setLayout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(new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FlowLayout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());</a:t>
            </a:r>
          </a:p>
          <a:p>
            <a:pPr defTabSz="180000"/>
            <a:endParaRPr lang="en-US" altLang="ko-KR" sz="1200" b="1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contentPane.add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(new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JButton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("OK"));</a:t>
            </a:r>
          </a:p>
          <a:p>
            <a:pPr defTabSz="180000"/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contentPane.add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(new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JButton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("Cancel"));</a:t>
            </a:r>
          </a:p>
          <a:p>
            <a:pPr defTabSz="180000"/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contentPane.add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(new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JButton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("Ignore"));</a:t>
            </a:r>
          </a:p>
          <a:p>
            <a:pPr defTabSz="180000"/>
            <a:endParaRPr lang="en-US" altLang="ko-KR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setSize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(300, 150);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setVisible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(true);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}</a:t>
            </a:r>
          </a:p>
          <a:p>
            <a:pPr defTabSz="180000"/>
            <a:endParaRPr lang="en-US" altLang="ko-KR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public static void main(String[]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args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 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new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ContentPaneEx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}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}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17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2564" y="1916832"/>
            <a:ext cx="2671294" cy="1335647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sp>
        <p:nvSpPr>
          <p:cNvPr id="6" name="직사각형 5"/>
          <p:cNvSpPr/>
          <p:nvPr/>
        </p:nvSpPr>
        <p:spPr>
          <a:xfrm>
            <a:off x="437870" y="1301864"/>
            <a:ext cx="823858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다음 그림과 같이 </a:t>
            </a:r>
            <a:r>
              <a:rPr lang="ko-KR" altLang="en-US" sz="1400" dirty="0" err="1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컨텐트팬의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 배경색을 오렌지색으로 하고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, 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이곳에 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OK, Cancel, Ignore 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버튼들을 부착한 스윙 프로그램을 작성하라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.</a:t>
            </a:r>
            <a:endParaRPr lang="ko-KR" altLang="en-US" sz="1400" dirty="0">
              <a:solidFill>
                <a:schemeClr val="accent2">
                  <a:lumMod val="75000"/>
                </a:schemeClr>
              </a:solidFill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235027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스윙 응용프로그램의 종료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12648" y="1340768"/>
            <a:ext cx="8153400" cy="4524032"/>
          </a:xfrm>
        </p:spPr>
        <p:txBody>
          <a:bodyPr>
            <a:normAutofit/>
          </a:bodyPr>
          <a:lstStyle/>
          <a:p>
            <a:r>
              <a:rPr lang="ko-KR" altLang="en-US" dirty="0"/>
              <a:t>응용프로그램 내에서 스스로 종료</a:t>
            </a:r>
            <a:endParaRPr lang="en-US" altLang="ko-KR" dirty="0"/>
          </a:p>
          <a:p>
            <a:endParaRPr lang="en-US" altLang="ko-KR" dirty="0"/>
          </a:p>
          <a:p>
            <a:pPr lvl="1"/>
            <a:r>
              <a:rPr lang="ko-KR" altLang="en-US" dirty="0"/>
              <a:t>언제 어디서나 무조건 종료</a:t>
            </a:r>
            <a:endParaRPr lang="en-US" altLang="ko-KR" dirty="0"/>
          </a:p>
          <a:p>
            <a:r>
              <a:rPr lang="ko-KR" altLang="en-US" b="1" dirty="0"/>
              <a:t>프레임 종료버튼</a:t>
            </a:r>
            <a:r>
              <a:rPr lang="en-US" altLang="ko-KR" b="1" dirty="0"/>
              <a:t>(X)</a:t>
            </a:r>
            <a:r>
              <a:rPr lang="ko-KR" altLang="en-US" b="1" dirty="0"/>
              <a:t>이 클릭되면 어떤 일이 일어나는가</a:t>
            </a:r>
            <a:r>
              <a:rPr lang="en-US" altLang="ko-KR" b="1" dirty="0"/>
              <a:t>?</a:t>
            </a:r>
          </a:p>
          <a:p>
            <a:pPr lvl="1"/>
            <a:r>
              <a:rPr lang="ko-KR" altLang="en-US" dirty="0"/>
              <a:t>프레임을 종료하여 프레임 윈도우가 닫힘</a:t>
            </a:r>
            <a:endParaRPr lang="en-US" altLang="ko-KR" dirty="0"/>
          </a:p>
          <a:p>
            <a:pPr lvl="2"/>
            <a:r>
              <a:rPr lang="ko-KR" altLang="en-US" dirty="0"/>
              <a:t>프레임이 화면에서 보이지 않게 되고 응용프로그램이 사라짐</a:t>
            </a:r>
            <a:endParaRPr lang="en-US" altLang="ko-KR" dirty="0"/>
          </a:p>
          <a:p>
            <a:pPr lvl="1"/>
            <a:r>
              <a:rPr lang="ko-KR" altLang="en-US" dirty="0"/>
              <a:t>프레임이 보이지 않게 되지만 응용프로그램이 종료한 것 아님</a:t>
            </a:r>
            <a:endParaRPr lang="en-US" altLang="ko-KR" dirty="0"/>
          </a:p>
          <a:p>
            <a:pPr lvl="2"/>
            <a:r>
              <a:rPr lang="ko-KR" altLang="en-US" dirty="0"/>
              <a:t>키보드나 마우스 입력을 받지 못함</a:t>
            </a:r>
            <a:endParaRPr lang="en-US" altLang="ko-KR" dirty="0"/>
          </a:p>
          <a:p>
            <a:pPr lvl="2"/>
            <a:r>
              <a:rPr lang="ko-KR" altLang="en-US" dirty="0"/>
              <a:t>다시 </a:t>
            </a:r>
            <a:r>
              <a:rPr lang="en-US" altLang="ko-KR" dirty="0" err="1"/>
              <a:t>setVisible</a:t>
            </a:r>
            <a:r>
              <a:rPr lang="en-US" altLang="ko-KR" dirty="0"/>
              <a:t>(true)</a:t>
            </a:r>
            <a:r>
              <a:rPr lang="ko-KR" altLang="en-US" dirty="0"/>
              <a:t>를 호출하면 보이게 되고 이전 처럼 작동함</a:t>
            </a:r>
            <a:endParaRPr lang="en-US" altLang="ko-KR" dirty="0"/>
          </a:p>
          <a:p>
            <a:r>
              <a:rPr lang="ko-KR" altLang="en-US" dirty="0"/>
              <a:t>프레임 종료버튼이 클릭될 때 프레임을 닫고 응용 프로그램이 종료하도록 하는 방법</a:t>
            </a:r>
            <a:endParaRPr lang="en-US" altLang="ko-KR" dirty="0"/>
          </a:p>
        </p:txBody>
      </p:sp>
      <p:sp>
        <p:nvSpPr>
          <p:cNvPr id="4" name="직사각형 3"/>
          <p:cNvSpPr/>
          <p:nvPr/>
        </p:nvSpPr>
        <p:spPr>
          <a:xfrm>
            <a:off x="1339839" y="1794334"/>
            <a:ext cx="1936017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System.exit</a:t>
            </a:r>
            <a:r>
              <a:rPr lang="en-US" altLang="ko-KR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(0);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1403648" y="5805264"/>
            <a:ext cx="6390456" cy="6463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frame.setDefaultCloseOperation</a:t>
            </a:r>
            <a:r>
              <a:rPr lang="en-US" altLang="ko-KR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JFrame.EXIT_ON_CLOSE</a:t>
            </a:r>
            <a:r>
              <a:rPr lang="en-US" altLang="ko-KR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  <a:endParaRPr lang="ko-KR" altLang="en-US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02464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main() </a:t>
            </a:r>
            <a:r>
              <a:rPr lang="ko-KR" altLang="en-US" dirty="0"/>
              <a:t>종료 뒤에도 프레임이 살아 있는 이유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스윙 프로그램이 실행되는 동안 생성되는 </a:t>
            </a:r>
            <a:r>
              <a:rPr lang="ko-KR" altLang="en-US" dirty="0" err="1"/>
              <a:t>스레드</a:t>
            </a:r>
            <a:endParaRPr lang="en-US" altLang="ko-KR" dirty="0"/>
          </a:p>
          <a:p>
            <a:pPr lvl="1"/>
            <a:r>
              <a:rPr lang="ko-KR" altLang="en-US" dirty="0"/>
              <a:t>메인 </a:t>
            </a:r>
            <a:r>
              <a:rPr lang="ko-KR" altLang="en-US" dirty="0" err="1"/>
              <a:t>스레드</a:t>
            </a:r>
            <a:endParaRPr lang="en-US" altLang="ko-KR" dirty="0"/>
          </a:p>
          <a:p>
            <a:pPr lvl="2"/>
            <a:r>
              <a:rPr lang="en-US" altLang="ko-KR" dirty="0"/>
              <a:t>main()</a:t>
            </a:r>
            <a:r>
              <a:rPr lang="ko-KR" altLang="en-US" dirty="0"/>
              <a:t>을 실행하는 </a:t>
            </a:r>
            <a:r>
              <a:rPr lang="ko-KR" altLang="en-US" dirty="0" err="1"/>
              <a:t>스레드</a:t>
            </a:r>
            <a:r>
              <a:rPr lang="ko-KR" altLang="en-US" dirty="0"/>
              <a:t> </a:t>
            </a:r>
            <a:endParaRPr lang="en-US" altLang="ko-KR" dirty="0"/>
          </a:p>
          <a:p>
            <a:pPr lvl="2"/>
            <a:r>
              <a:rPr lang="ko-KR" altLang="en-US" dirty="0"/>
              <a:t>자바 응용프로그램의 실행을 시작한 </a:t>
            </a:r>
            <a:r>
              <a:rPr lang="ko-KR" altLang="en-US" dirty="0" err="1"/>
              <a:t>스레드</a:t>
            </a:r>
            <a:endParaRPr lang="en-US" altLang="ko-KR" dirty="0"/>
          </a:p>
          <a:p>
            <a:pPr lvl="1"/>
            <a:r>
              <a:rPr lang="ko-KR" altLang="en-US" dirty="0"/>
              <a:t>이벤트 분배 </a:t>
            </a:r>
            <a:r>
              <a:rPr lang="ko-KR" altLang="en-US" dirty="0" err="1"/>
              <a:t>스레드</a:t>
            </a:r>
            <a:endParaRPr lang="en-US" altLang="ko-KR" dirty="0"/>
          </a:p>
          <a:p>
            <a:pPr lvl="2"/>
            <a:r>
              <a:rPr lang="ko-KR" altLang="en-US" dirty="0"/>
              <a:t>스윙 응용프로그램이 실행될 때 자동으로 실행되는 </a:t>
            </a:r>
            <a:r>
              <a:rPr lang="ko-KR" altLang="en-US" dirty="0" err="1"/>
              <a:t>스레드</a:t>
            </a:r>
            <a:endParaRPr lang="en-US" altLang="ko-KR" dirty="0"/>
          </a:p>
          <a:p>
            <a:pPr lvl="2"/>
            <a:r>
              <a:rPr lang="ko-KR" altLang="en-US" dirty="0"/>
              <a:t>이벤트 분배 </a:t>
            </a:r>
            <a:r>
              <a:rPr lang="ko-KR" altLang="en-US" dirty="0" err="1"/>
              <a:t>스레드의</a:t>
            </a:r>
            <a:r>
              <a:rPr lang="ko-KR" altLang="en-US" dirty="0"/>
              <a:t> 역할</a:t>
            </a:r>
            <a:endParaRPr lang="en-US" altLang="ko-KR" dirty="0"/>
          </a:p>
          <a:p>
            <a:pPr lvl="3"/>
            <a:r>
              <a:rPr lang="ko-KR" altLang="en-US" dirty="0"/>
              <a:t>프레임과 버튼 등 </a:t>
            </a:r>
            <a:r>
              <a:rPr lang="en-US" altLang="ko-KR" dirty="0"/>
              <a:t>GUI </a:t>
            </a:r>
            <a:r>
              <a:rPr lang="ko-KR" altLang="en-US" dirty="0"/>
              <a:t>화면 그리기</a:t>
            </a:r>
            <a:endParaRPr lang="en-US" altLang="ko-KR" dirty="0"/>
          </a:p>
          <a:p>
            <a:pPr lvl="3"/>
            <a:r>
              <a:rPr lang="ko-KR" altLang="en-US" dirty="0"/>
              <a:t>키나 마우스 입력을 받아 이벤트를 처리할 코드 호출</a:t>
            </a:r>
            <a:endParaRPr lang="en-US" altLang="ko-KR" dirty="0"/>
          </a:p>
          <a:p>
            <a:r>
              <a:rPr lang="ko-KR" altLang="en-US" dirty="0"/>
              <a:t>자바 응용프로그램의 종료 조건</a:t>
            </a:r>
            <a:endParaRPr lang="en-US" altLang="ko-KR" dirty="0"/>
          </a:p>
          <a:p>
            <a:pPr lvl="1"/>
            <a:r>
              <a:rPr lang="ko-KR" altLang="en-US" dirty="0"/>
              <a:t>실행 중인 사용자 </a:t>
            </a:r>
            <a:r>
              <a:rPr lang="ko-KR" altLang="en-US" dirty="0" err="1"/>
              <a:t>스레드가</a:t>
            </a:r>
            <a:r>
              <a:rPr lang="ko-KR" altLang="en-US" dirty="0"/>
              <a:t> 하나도 없을 때 종료</a:t>
            </a:r>
            <a:endParaRPr lang="en-US" altLang="ko-KR" dirty="0"/>
          </a:p>
          <a:p>
            <a:r>
              <a:rPr lang="ko-KR" altLang="en-US" dirty="0"/>
              <a:t>스윙 프로그램 </a:t>
            </a:r>
            <a:r>
              <a:rPr lang="en-US" altLang="ko-KR" dirty="0"/>
              <a:t>main()</a:t>
            </a:r>
            <a:r>
              <a:rPr lang="ko-KR" altLang="en-US" dirty="0"/>
              <a:t> 종료 뒤 프레임이 살아있는 이유</a:t>
            </a:r>
            <a:endParaRPr lang="en-US" altLang="ko-KR" dirty="0"/>
          </a:p>
          <a:p>
            <a:pPr lvl="1"/>
            <a:r>
              <a:rPr lang="ko-KR" altLang="en-US" dirty="0"/>
              <a:t>메인 </a:t>
            </a:r>
            <a:r>
              <a:rPr lang="ko-KR" altLang="en-US" dirty="0" err="1"/>
              <a:t>스레드가</a:t>
            </a:r>
            <a:r>
              <a:rPr lang="ko-KR" altLang="en-US" dirty="0"/>
              <a:t> 종료되어도 이벤트 분배 </a:t>
            </a:r>
            <a:r>
              <a:rPr lang="ko-KR" altLang="en-US" dirty="0" err="1"/>
              <a:t>스레드가</a:t>
            </a:r>
            <a:r>
              <a:rPr lang="ko-KR" altLang="en-US" dirty="0"/>
              <a:t> 살아 있어 프레임 화면을 그리고 마우스나 키 입력을 받기 때문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4270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/>
          <p:cNvGrpSpPr/>
          <p:nvPr/>
        </p:nvGrpSpPr>
        <p:grpSpPr>
          <a:xfrm>
            <a:off x="663426" y="1700808"/>
            <a:ext cx="5441069" cy="4268624"/>
            <a:chOff x="1564877" y="1924804"/>
            <a:chExt cx="5441069" cy="4268624"/>
          </a:xfrm>
        </p:grpSpPr>
        <p:pic>
          <p:nvPicPr>
            <p:cNvPr id="3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28152" y="2505842"/>
              <a:ext cx="3791027" cy="34861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4" name="TextBox 23"/>
            <p:cNvSpPr txBox="1"/>
            <p:nvPr/>
          </p:nvSpPr>
          <p:spPr>
            <a:xfrm>
              <a:off x="1721570" y="1924804"/>
              <a:ext cx="181895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컨테이너</a:t>
              </a:r>
              <a:r>
                <a:rPr lang="en-US" altLang="ko-KR" sz="14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(Container)</a:t>
              </a:r>
              <a:endParaRPr lang="ko-KR" altLang="en-US" sz="1400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239565" y="4869160"/>
              <a:ext cx="176638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배치관리자</a:t>
              </a:r>
              <a:endPara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  <a:p>
              <a:r>
                <a:rPr lang="en-US" altLang="ko-KR" sz="14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(Layout Manager)</a:t>
              </a:r>
              <a:endParaRPr lang="ko-KR" altLang="en-US" sz="1400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1564877" y="2309534"/>
              <a:ext cx="2088232" cy="379459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3532398" y="4180344"/>
              <a:ext cx="288032" cy="13212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782295" y="3292116"/>
              <a:ext cx="68640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이쪽으로</a:t>
              </a:r>
              <a:endPara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  <a:p>
              <a:r>
                <a:rPr lang="ko-KR" altLang="en-US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 가세요</a:t>
              </a:r>
              <a:r>
                <a:rPr lang="en-US" altLang="ko-KR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.</a:t>
              </a:r>
              <a:endPara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686032" y="5670208"/>
              <a:ext cx="132119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4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컴포넌트</a:t>
              </a:r>
              <a:endPara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  <a:p>
              <a:pPr algn="ctr"/>
              <a:r>
                <a:rPr lang="en-US" altLang="ko-KR" sz="14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(Component)</a:t>
              </a:r>
              <a:endParaRPr lang="ko-KR" altLang="en-US" sz="1400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컨테이너와 배치 개념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09721" y="2069422"/>
            <a:ext cx="437211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600" dirty="0">
                <a:solidFill>
                  <a:srgbClr val="0070C0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컨테이너마다 하나의 배치관리자가 존재하며</a:t>
            </a:r>
            <a:r>
              <a:rPr lang="en-US" altLang="ko-KR" sz="1600" dirty="0">
                <a:solidFill>
                  <a:srgbClr val="0070C0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, </a:t>
            </a:r>
            <a:r>
              <a:rPr lang="ko-KR" altLang="en-US" sz="1600" dirty="0">
                <a:solidFill>
                  <a:srgbClr val="0070C0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삽입되는 모든 컴포넌트의 위치와 크기를   결정하고  적절히 배치한다</a:t>
            </a:r>
            <a:r>
              <a:rPr lang="en-US" altLang="ko-KR" sz="1600" dirty="0">
                <a:solidFill>
                  <a:srgbClr val="0070C0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.</a:t>
            </a:r>
          </a:p>
          <a:p>
            <a:endParaRPr lang="en-US" altLang="ko-KR" sz="1600" dirty="0">
              <a:solidFill>
                <a:srgbClr val="0070C0"/>
              </a:solidFill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marL="360363" indent="-360363"/>
            <a:r>
              <a:rPr lang="en-US" altLang="ko-KR" sz="1600" dirty="0">
                <a:solidFill>
                  <a:srgbClr val="0070C0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2.  </a:t>
            </a:r>
            <a:r>
              <a:rPr lang="ko-KR" altLang="en-US" sz="1600" dirty="0">
                <a:solidFill>
                  <a:srgbClr val="0070C0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컨테이너의 크기가 변하면 내부 컴포넌트들의 위치와 크기를 모두 재조절하고 재배치한다</a:t>
            </a:r>
            <a:r>
              <a:rPr lang="en-US" altLang="ko-KR" sz="1600" dirty="0">
                <a:solidFill>
                  <a:srgbClr val="0070C0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.</a:t>
            </a:r>
            <a:endParaRPr lang="ko-KR" altLang="en-US" sz="1600" dirty="0">
              <a:solidFill>
                <a:srgbClr val="0070C0"/>
              </a:solidFill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12" name="슬라이드 번호 개체 틀 1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56303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배치 관리자 대표 유형 </a:t>
            </a:r>
            <a:r>
              <a:rPr lang="en-US" altLang="ko-KR" dirty="0"/>
              <a:t>4 </a:t>
            </a:r>
            <a:r>
              <a:rPr lang="ko-KR" altLang="en-US" dirty="0"/>
              <a:t>가지</a:t>
            </a:r>
          </a:p>
        </p:txBody>
      </p:sp>
      <p:sp>
        <p:nvSpPr>
          <p:cNvPr id="52" name="내용 개체 틀 51"/>
          <p:cNvSpPr>
            <a:spLocks noGrp="1"/>
          </p:cNvSpPr>
          <p:nvPr>
            <p:ph sz="quarter" idx="1"/>
          </p:nvPr>
        </p:nvSpPr>
        <p:spPr>
          <a:xfrm>
            <a:off x="642910" y="1285860"/>
            <a:ext cx="8153400" cy="571504"/>
          </a:xfrm>
        </p:spPr>
        <p:txBody>
          <a:bodyPr>
            <a:normAutofit/>
          </a:bodyPr>
          <a:lstStyle/>
          <a:p>
            <a:r>
              <a:rPr lang="en-US" altLang="ko-KR" dirty="0"/>
              <a:t>java.awt </a:t>
            </a:r>
            <a:r>
              <a:rPr lang="ko-KR" altLang="en-US" dirty="0"/>
              <a:t>패키지에 구현되어 있음</a:t>
            </a:r>
            <a:endParaRPr lang="en-US" altLang="ko-KR" dirty="0"/>
          </a:p>
        </p:txBody>
      </p:sp>
      <p:sp>
        <p:nvSpPr>
          <p:cNvPr id="73" name="TextBox 72"/>
          <p:cNvSpPr txBox="1"/>
          <p:nvPr/>
        </p:nvSpPr>
        <p:spPr>
          <a:xfrm>
            <a:off x="5652120" y="1691515"/>
            <a:ext cx="17668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BorderLayout</a:t>
            </a:r>
            <a:endParaRPr lang="ko-KR" altLang="en-US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755576" y="1772816"/>
            <a:ext cx="7472630" cy="4464496"/>
            <a:chOff x="755576" y="1772816"/>
            <a:chExt cx="7472630" cy="4464496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5576" y="2060847"/>
              <a:ext cx="7472630" cy="41764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6" name="TextBox 65"/>
            <p:cNvSpPr txBox="1"/>
            <p:nvPr/>
          </p:nvSpPr>
          <p:spPr>
            <a:xfrm>
              <a:off x="3347864" y="3295200"/>
              <a:ext cx="623889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5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이쪽으로</a:t>
              </a:r>
              <a:endPara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  <a:p>
              <a:r>
                <a:rPr lang="ko-KR" altLang="en-US" sz="105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 가세요</a:t>
              </a:r>
              <a:r>
                <a:rPr lang="en-US" altLang="ko-KR" sz="105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.</a:t>
              </a:r>
              <a:endParaRPr lang="ko-KR" altLang="en-US" sz="1050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3434327" y="5526895"/>
              <a:ext cx="623889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5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이쪽으로</a:t>
              </a:r>
              <a:endPara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  <a:p>
              <a:r>
                <a:rPr lang="ko-KR" altLang="en-US" sz="105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 가세요</a:t>
              </a:r>
              <a:r>
                <a:rPr lang="en-US" altLang="ko-KR" sz="105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.</a:t>
              </a:r>
              <a:endParaRPr lang="ko-KR" altLang="en-US" sz="1050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7466775" y="3216767"/>
              <a:ext cx="623889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5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이쪽으로</a:t>
              </a:r>
              <a:endPara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  <a:p>
              <a:r>
                <a:rPr lang="ko-KR" altLang="en-US" sz="105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 가세요</a:t>
              </a:r>
              <a:r>
                <a:rPr lang="en-US" altLang="ko-KR" sz="105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.</a:t>
              </a:r>
              <a:endParaRPr lang="ko-KR" altLang="en-US" sz="1050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7538783" y="5513920"/>
              <a:ext cx="623889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5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이쪽으로</a:t>
              </a:r>
              <a:endPara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  <a:p>
              <a:r>
                <a:rPr lang="ko-KR" altLang="en-US" sz="105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 가세요</a:t>
              </a:r>
              <a:r>
                <a:rPr lang="en-US" altLang="ko-KR" sz="105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.</a:t>
              </a:r>
              <a:endParaRPr lang="ko-KR" altLang="en-US" sz="1050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1547664" y="1772816"/>
              <a:ext cx="15007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 err="1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FlowLayout</a:t>
              </a:r>
              <a:endPara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1547663" y="4149079"/>
              <a:ext cx="14667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 err="1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GridLayout</a:t>
              </a:r>
              <a:endPara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5758142" y="4157627"/>
              <a:ext cx="15427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 err="1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CardLayout</a:t>
              </a:r>
              <a:endPara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</p:grpSp>
      <p:sp>
        <p:nvSpPr>
          <p:cNvPr id="14" name="슬라이드 번호 개체 틀 1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99302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컨테이너와 배치관리자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12648" y="1340768"/>
            <a:ext cx="8153400" cy="3816424"/>
          </a:xfrm>
        </p:spPr>
        <p:txBody>
          <a:bodyPr>
            <a:normAutofit fontScale="85000" lnSpcReduction="20000"/>
          </a:bodyPr>
          <a:lstStyle/>
          <a:p>
            <a:r>
              <a:rPr lang="ko-KR" altLang="en-US" dirty="0"/>
              <a:t>컨테이너의 디폴트 배치관리자</a:t>
            </a:r>
            <a:endParaRPr lang="en-US" altLang="ko-KR" dirty="0"/>
          </a:p>
          <a:p>
            <a:pPr lvl="1"/>
            <a:r>
              <a:rPr lang="ko-KR" altLang="en-US" dirty="0"/>
              <a:t>컨테이너는 생성시 디폴트 배치관리자 설정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365760" lvl="1" indent="0"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컨테이너에 새로운 배치관리자 설정</a:t>
            </a:r>
            <a:endParaRPr lang="en-US" altLang="ko-KR" dirty="0"/>
          </a:p>
          <a:p>
            <a:pPr lvl="1"/>
            <a:r>
              <a:rPr lang="en-US" altLang="ko-KR" dirty="0" err="1"/>
              <a:t>Container.setLayout</a:t>
            </a:r>
            <a:r>
              <a:rPr lang="en-US" altLang="ko-KR" dirty="0"/>
              <a:t>(</a:t>
            </a:r>
            <a:r>
              <a:rPr lang="en-US" altLang="ko-KR" dirty="0" err="1"/>
              <a:t>LayoutManager</a:t>
            </a:r>
            <a:r>
              <a:rPr lang="en-US" altLang="ko-KR" dirty="0"/>
              <a:t> lm)</a:t>
            </a:r>
          </a:p>
          <a:p>
            <a:pPr lvl="2"/>
            <a:r>
              <a:rPr lang="en-US" altLang="ko-KR" dirty="0"/>
              <a:t>lm</a:t>
            </a:r>
            <a:r>
              <a:rPr lang="ko-KR" altLang="en-US" dirty="0"/>
              <a:t>을 새로운 배치관리자로 설정</a:t>
            </a:r>
          </a:p>
          <a:p>
            <a:pPr lvl="1"/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29195" y="5156496"/>
            <a:ext cx="3456385" cy="8309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//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JPanel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패널에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BorderLayout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배치관리자 설정</a:t>
            </a:r>
            <a:endParaRPr lang="en-US" altLang="ko-KR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endParaRPr lang="en-US" altLang="ko-KR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JPanel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p = new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JPanel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</a:t>
            </a:r>
          </a:p>
          <a:p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p.setLayout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(new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BorderLayout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());</a:t>
            </a:r>
            <a:endParaRPr lang="ko-KR" altLang="en-US" sz="1200" b="1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4283968" y="5156496"/>
            <a:ext cx="4608512" cy="8309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// </a:t>
            </a:r>
            <a:r>
              <a:rPr lang="ko-KR" altLang="en-US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컨텐트팬의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배치 관리자를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FlowLayout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으로 변경</a:t>
            </a:r>
            <a:endParaRPr lang="en-US" altLang="ko-KR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endParaRPr lang="en-US" altLang="ko-KR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Container c =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frame.getConentPane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 // </a:t>
            </a:r>
            <a:r>
              <a:rPr lang="ko-KR" altLang="en-US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컨텐트팬</a:t>
            </a:r>
            <a:endParaRPr lang="ko-KR" altLang="en-US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c.setLayout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(new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FlowLayout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()); </a:t>
            </a:r>
            <a:endParaRPr lang="ko-KR" altLang="en-US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22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028" y="1988840"/>
            <a:ext cx="6326923" cy="1872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7589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FlowLayout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배치방법</a:t>
            </a:r>
            <a:endParaRPr lang="en-US" altLang="ko-KR" dirty="0"/>
          </a:p>
          <a:p>
            <a:pPr lvl="1"/>
            <a:r>
              <a:rPr lang="ko-KR" altLang="en-US" dirty="0"/>
              <a:t>컨테이너 공간 내에 왼쪽에서 오른쪽으로 배치</a:t>
            </a:r>
            <a:endParaRPr lang="en-US" altLang="ko-KR" dirty="0"/>
          </a:p>
          <a:p>
            <a:pPr lvl="2"/>
            <a:r>
              <a:rPr lang="ko-KR" altLang="en-US" dirty="0"/>
              <a:t>다시 위에서 아래로 순서대로 컴포넌트를 배치한다</a:t>
            </a:r>
            <a:r>
              <a:rPr lang="en-US" altLang="ko-KR" dirty="0"/>
              <a:t>.</a:t>
            </a:r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1"/>
            <a:r>
              <a:rPr lang="ko-KR" altLang="en-US" dirty="0"/>
              <a:t>컨테이너의 크기가 변하면 컴포넌트 재배치</a:t>
            </a:r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1907704" y="2564904"/>
            <a:ext cx="3816424" cy="13849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container.setLayout</a:t>
            </a:r>
            <a:r>
              <a:rPr lang="en-US" altLang="ko-KR" sz="14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(new </a:t>
            </a:r>
            <a:r>
              <a:rPr lang="en-US" altLang="ko-KR" sz="14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FlowLayout</a:t>
            </a:r>
            <a:r>
              <a:rPr lang="en-US" altLang="ko-KR" sz="14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());</a:t>
            </a:r>
          </a:p>
          <a:p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container.</a:t>
            </a:r>
            <a:r>
              <a:rPr lang="en-US" altLang="ko-KR" sz="14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add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(new </a:t>
            </a:r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JButton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("add"));</a:t>
            </a:r>
          </a:p>
          <a:p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container.</a:t>
            </a:r>
            <a:r>
              <a:rPr lang="en-US" altLang="ko-KR" sz="14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add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(new </a:t>
            </a:r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JButton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("sub"));</a:t>
            </a:r>
          </a:p>
          <a:p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container.</a:t>
            </a:r>
            <a:r>
              <a:rPr lang="en-US" altLang="ko-KR" sz="14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add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(new </a:t>
            </a:r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JButton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</a:t>
            </a:r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mul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"));</a:t>
            </a:r>
          </a:p>
          <a:p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container.</a:t>
            </a:r>
            <a:r>
              <a:rPr lang="en-US" altLang="ko-KR" sz="14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add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(new </a:t>
            </a:r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JButton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("div"));</a:t>
            </a:r>
          </a:p>
          <a:p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container.</a:t>
            </a:r>
            <a:r>
              <a:rPr lang="en-US" altLang="ko-KR" sz="14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add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(new </a:t>
            </a:r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JButton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("Calculate"));</a:t>
            </a:r>
            <a:endParaRPr lang="ko-KR" altLang="en-US" sz="14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23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8" y="5013176"/>
            <a:ext cx="3694926" cy="1075342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4725144"/>
            <a:ext cx="2283182" cy="1542430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sp>
        <p:nvSpPr>
          <p:cNvPr id="11" name="오른쪽 화살표 10"/>
          <p:cNvSpPr/>
          <p:nvPr/>
        </p:nvSpPr>
        <p:spPr>
          <a:xfrm>
            <a:off x="3833748" y="5445224"/>
            <a:ext cx="500066" cy="14287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113877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FlowLayout - </a:t>
            </a:r>
            <a:r>
              <a:rPr lang="ko-KR" altLang="en-US"/>
              <a:t>생성자와 속성</a:t>
            </a:r>
            <a:r>
              <a:rPr lang="en-US" altLang="ko-KR"/>
              <a:t> 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12648" y="1285860"/>
            <a:ext cx="8153400" cy="2428892"/>
          </a:xfrm>
        </p:spPr>
        <p:txBody>
          <a:bodyPr>
            <a:normAutofit/>
          </a:bodyPr>
          <a:lstStyle/>
          <a:p>
            <a:r>
              <a:rPr lang="ko-KR" altLang="en-US" dirty="0" err="1"/>
              <a:t>생성자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18" name="슬라이드 번호 개체 틀 17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24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1718377"/>
            <a:ext cx="6672263" cy="1933575"/>
          </a:xfrm>
          <a:prstGeom prst="rect">
            <a:avLst/>
          </a:prstGeom>
        </p:spPr>
      </p:pic>
      <p:grpSp>
        <p:nvGrpSpPr>
          <p:cNvPr id="19" name="그룹 18"/>
          <p:cNvGrpSpPr/>
          <p:nvPr/>
        </p:nvGrpSpPr>
        <p:grpSpPr>
          <a:xfrm>
            <a:off x="1259632" y="3861048"/>
            <a:ext cx="3774737" cy="2601891"/>
            <a:chOff x="5389734" y="3547186"/>
            <a:chExt cx="3774737" cy="2601891"/>
          </a:xfrm>
        </p:grpSpPr>
        <p:pic>
          <p:nvPicPr>
            <p:cNvPr id="20" name="그림 19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94165" y="3547186"/>
              <a:ext cx="2547540" cy="1721021"/>
            </a:xfrm>
            <a:prstGeom prst="rect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</p:pic>
        <p:sp>
          <p:nvSpPr>
            <p:cNvPr id="21" name="TextBox 20"/>
            <p:cNvSpPr txBox="1"/>
            <p:nvPr/>
          </p:nvSpPr>
          <p:spPr>
            <a:xfrm>
              <a:off x="5389734" y="5872078"/>
              <a:ext cx="201747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 err="1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FlowLayout.LEFT</a:t>
              </a:r>
              <a:r>
                <a:rPr lang="ko-KR" altLang="en-US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로 정렬됨</a:t>
              </a:r>
            </a:p>
          </p:txBody>
        </p:sp>
        <p:cxnSp>
          <p:nvCxnSpPr>
            <p:cNvPr id="22" name="직선 화살표 연결선 21"/>
            <p:cNvCxnSpPr/>
            <p:nvPr/>
          </p:nvCxnSpPr>
          <p:spPr>
            <a:xfrm rot="5400000" flipH="1" flipV="1">
              <a:off x="5604842" y="5442656"/>
              <a:ext cx="857256" cy="1588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화살표 연결선 22"/>
            <p:cNvCxnSpPr/>
            <p:nvPr/>
          </p:nvCxnSpPr>
          <p:spPr>
            <a:xfrm>
              <a:off x="6509388" y="5514888"/>
              <a:ext cx="285752" cy="1588"/>
            </a:xfrm>
            <a:prstGeom prst="straightConnector1">
              <a:avLst/>
            </a:prstGeom>
            <a:ln>
              <a:solidFill>
                <a:srgbClr val="FF0000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6366512" y="5586326"/>
              <a:ext cx="126028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 err="1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hGap</a:t>
              </a:r>
              <a:r>
                <a:rPr lang="en-US" altLang="ko-KR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 , 30 </a:t>
              </a:r>
              <a:r>
                <a:rPr lang="ko-KR" altLang="en-US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픽셀</a:t>
              </a:r>
            </a:p>
          </p:txBody>
        </p:sp>
        <p:cxnSp>
          <p:nvCxnSpPr>
            <p:cNvPr id="25" name="직선 화살표 연결선 24"/>
            <p:cNvCxnSpPr/>
            <p:nvPr/>
          </p:nvCxnSpPr>
          <p:spPr>
            <a:xfrm rot="5400000">
              <a:off x="8309548" y="4550475"/>
              <a:ext cx="357190" cy="1588"/>
            </a:xfrm>
            <a:prstGeom prst="straightConnector1">
              <a:avLst/>
            </a:prstGeom>
            <a:ln>
              <a:solidFill>
                <a:srgbClr val="FF0000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/>
            <p:cNvSpPr txBox="1"/>
            <p:nvPr/>
          </p:nvSpPr>
          <p:spPr>
            <a:xfrm>
              <a:off x="8460432" y="4443318"/>
              <a:ext cx="7040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 err="1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vGap</a:t>
              </a:r>
              <a:r>
                <a:rPr lang="en-US" altLang="ko-KR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,</a:t>
              </a:r>
            </a:p>
            <a:p>
              <a:r>
                <a:rPr lang="en-US" altLang="ko-KR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40 </a:t>
              </a:r>
              <a:r>
                <a:rPr lang="ko-KR" altLang="en-US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픽셀</a:t>
              </a:r>
            </a:p>
          </p:txBody>
        </p:sp>
        <p:cxnSp>
          <p:nvCxnSpPr>
            <p:cNvPr id="27" name="직선 연결선 26"/>
            <p:cNvCxnSpPr/>
            <p:nvPr/>
          </p:nvCxnSpPr>
          <p:spPr>
            <a:xfrm>
              <a:off x="8036161" y="4371880"/>
              <a:ext cx="571504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/>
            <p:cNvCxnSpPr/>
            <p:nvPr/>
          </p:nvCxnSpPr>
          <p:spPr>
            <a:xfrm>
              <a:off x="7536095" y="4729070"/>
              <a:ext cx="107157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/>
            <p:cNvCxnSpPr/>
            <p:nvPr/>
          </p:nvCxnSpPr>
          <p:spPr>
            <a:xfrm rot="5400000">
              <a:off x="6259355" y="5264855"/>
              <a:ext cx="500066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/>
            <p:cNvCxnSpPr/>
            <p:nvPr/>
          </p:nvCxnSpPr>
          <p:spPr>
            <a:xfrm rot="5400000">
              <a:off x="6545107" y="5264855"/>
              <a:ext cx="500066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042290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524675" y="1929021"/>
            <a:ext cx="4654699" cy="47089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import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javax.swing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.*;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import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java.awt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.*;</a:t>
            </a:r>
          </a:p>
          <a:p>
            <a:pPr defTabSz="180000"/>
            <a:endParaRPr lang="en-US" altLang="ko-KR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public class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FlowLayoutEx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extends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JFrame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public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FlowLayoutEx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 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setTitle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FlowLayout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Sample");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setDefaultCloseOperation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JFrame.EXIT_ON_CLOSE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Container c =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getContentPane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</a:t>
            </a:r>
          </a:p>
          <a:p>
            <a:pPr defTabSz="180000"/>
            <a:endParaRPr lang="en-US" altLang="ko-KR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c.setLayout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(new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FlowLayout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FlowLayout.LEFT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, 30, 40));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c.add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(new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JButton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("add"));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c.add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(new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JButton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("sub"));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c.add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(new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JButton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mul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"));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c.add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(new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JButton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("div"));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c.add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(new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JButton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("Calculate"));</a:t>
            </a:r>
          </a:p>
          <a:p>
            <a:pPr defTabSz="180000"/>
            <a:endParaRPr lang="en-US" altLang="ko-KR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setSize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(300, 200);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setVisible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(true);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}</a:t>
            </a:r>
          </a:p>
          <a:p>
            <a:pPr defTabSz="180000"/>
            <a:endParaRPr lang="en-US" altLang="ko-KR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public static void main(String[]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args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 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new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FlowLayoutEx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}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}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예제 </a:t>
            </a:r>
            <a:r>
              <a:rPr lang="en-US" altLang="ko-KR" dirty="0"/>
              <a:t>9-3 : </a:t>
            </a:r>
            <a:r>
              <a:rPr lang="en-US" altLang="ko-KR" dirty="0" err="1"/>
              <a:t>FlowLayout</a:t>
            </a:r>
            <a:r>
              <a:rPr lang="en-US" altLang="ko-KR" dirty="0"/>
              <a:t> </a:t>
            </a:r>
            <a:r>
              <a:rPr lang="ko-KR" altLang="en-US" dirty="0"/>
              <a:t>배치관리자 활용</a:t>
            </a:r>
          </a:p>
        </p:txBody>
      </p:sp>
      <p:grpSp>
        <p:nvGrpSpPr>
          <p:cNvPr id="5" name="그룹 4"/>
          <p:cNvGrpSpPr/>
          <p:nvPr/>
        </p:nvGrpSpPr>
        <p:grpSpPr>
          <a:xfrm>
            <a:off x="5179374" y="2536711"/>
            <a:ext cx="3774737" cy="2601891"/>
            <a:chOff x="5389734" y="3547186"/>
            <a:chExt cx="3774737" cy="2601891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94165" y="3547186"/>
              <a:ext cx="2547540" cy="1721021"/>
            </a:xfrm>
            <a:prstGeom prst="rect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</p:pic>
        <p:sp>
          <p:nvSpPr>
            <p:cNvPr id="6" name="TextBox 5"/>
            <p:cNvSpPr txBox="1"/>
            <p:nvPr/>
          </p:nvSpPr>
          <p:spPr>
            <a:xfrm>
              <a:off x="5389734" y="5872078"/>
              <a:ext cx="201747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 err="1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FlowLayout.LEFT</a:t>
              </a:r>
              <a:r>
                <a:rPr lang="ko-KR" altLang="en-US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로 정렬됨</a:t>
              </a:r>
            </a:p>
          </p:txBody>
        </p:sp>
        <p:cxnSp>
          <p:nvCxnSpPr>
            <p:cNvPr id="8" name="직선 화살표 연결선 7"/>
            <p:cNvCxnSpPr/>
            <p:nvPr/>
          </p:nvCxnSpPr>
          <p:spPr>
            <a:xfrm rot="5400000" flipH="1" flipV="1">
              <a:off x="5604842" y="5442656"/>
              <a:ext cx="857256" cy="1588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화살표 연결선 16"/>
            <p:cNvCxnSpPr/>
            <p:nvPr/>
          </p:nvCxnSpPr>
          <p:spPr>
            <a:xfrm>
              <a:off x="6509388" y="5514888"/>
              <a:ext cx="285752" cy="1588"/>
            </a:xfrm>
            <a:prstGeom prst="straightConnector1">
              <a:avLst/>
            </a:prstGeom>
            <a:ln>
              <a:solidFill>
                <a:srgbClr val="FF0000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6366512" y="5586326"/>
              <a:ext cx="126028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 err="1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hGap</a:t>
              </a:r>
              <a:r>
                <a:rPr lang="en-US" altLang="ko-KR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 , 30 </a:t>
              </a:r>
              <a:r>
                <a:rPr lang="ko-KR" altLang="en-US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픽셀</a:t>
              </a:r>
            </a:p>
          </p:txBody>
        </p:sp>
        <p:cxnSp>
          <p:nvCxnSpPr>
            <p:cNvPr id="20" name="직선 화살표 연결선 19"/>
            <p:cNvCxnSpPr/>
            <p:nvPr/>
          </p:nvCxnSpPr>
          <p:spPr>
            <a:xfrm rot="5400000">
              <a:off x="8309548" y="4550475"/>
              <a:ext cx="357190" cy="1588"/>
            </a:xfrm>
            <a:prstGeom prst="straightConnector1">
              <a:avLst/>
            </a:prstGeom>
            <a:ln>
              <a:solidFill>
                <a:srgbClr val="FF0000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8460432" y="4443318"/>
              <a:ext cx="7040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 err="1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vGap</a:t>
              </a:r>
              <a:r>
                <a:rPr lang="en-US" altLang="ko-KR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,</a:t>
              </a:r>
            </a:p>
            <a:p>
              <a:r>
                <a:rPr lang="en-US" altLang="ko-KR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40 </a:t>
              </a:r>
              <a:r>
                <a:rPr lang="ko-KR" altLang="en-US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픽셀</a:t>
              </a:r>
            </a:p>
          </p:txBody>
        </p:sp>
        <p:cxnSp>
          <p:nvCxnSpPr>
            <p:cNvPr id="23" name="직선 연결선 22"/>
            <p:cNvCxnSpPr/>
            <p:nvPr/>
          </p:nvCxnSpPr>
          <p:spPr>
            <a:xfrm>
              <a:off x="8036161" y="4371880"/>
              <a:ext cx="571504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/>
            <p:cNvCxnSpPr/>
            <p:nvPr/>
          </p:nvCxnSpPr>
          <p:spPr>
            <a:xfrm>
              <a:off x="7536095" y="4729070"/>
              <a:ext cx="107157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/>
          </p:nvCxnSpPr>
          <p:spPr>
            <a:xfrm rot="5400000">
              <a:off x="6259355" y="5264855"/>
              <a:ext cx="500066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/>
            <p:cNvCxnSpPr/>
            <p:nvPr/>
          </p:nvCxnSpPr>
          <p:spPr>
            <a:xfrm rot="5400000">
              <a:off x="6545107" y="5264855"/>
              <a:ext cx="500066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슬라이드 번호 개체 틀 1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25</a:t>
            </a:fld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442097" y="1321661"/>
            <a:ext cx="849450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수평 간격이 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30, 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수직 간격을 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40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픽셀로 하고 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LEFT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로 정렬 배치하는 </a:t>
            </a:r>
            <a:r>
              <a:rPr lang="en-US" altLang="ko-KR" sz="1400" dirty="0" err="1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FlowLayout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배치관리자를 가진 </a:t>
            </a:r>
            <a:r>
              <a:rPr lang="ko-KR" altLang="en-US" sz="1400" dirty="0" err="1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컨텐트팬에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5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개의 버튼 컴포넌트를 부착한 스윙 응용프로그램을 작성하라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.</a:t>
            </a:r>
            <a:endParaRPr lang="ko-KR" altLang="en-US" sz="1400" dirty="0">
              <a:solidFill>
                <a:schemeClr val="accent2">
                  <a:lumMod val="75000"/>
                </a:schemeClr>
              </a:solidFill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374693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BorderLayout</a:t>
            </a:r>
            <a:endParaRPr lang="ko-KR" altLang="en-US"/>
          </a:p>
        </p:txBody>
      </p:sp>
      <p:sp>
        <p:nvSpPr>
          <p:cNvPr id="4" name="내용 개체 틀 2"/>
          <p:cNvSpPr>
            <a:spLocks noGrp="1"/>
          </p:cNvSpPr>
          <p:nvPr>
            <p:ph sz="quarter" idx="1"/>
          </p:nvPr>
        </p:nvSpPr>
        <p:spPr>
          <a:xfrm>
            <a:off x="612648" y="1285860"/>
            <a:ext cx="8153400" cy="2359164"/>
          </a:xfrm>
        </p:spPr>
        <p:txBody>
          <a:bodyPr>
            <a:normAutofit lnSpcReduction="10000"/>
          </a:bodyPr>
          <a:lstStyle/>
          <a:p>
            <a:r>
              <a:rPr lang="ko-KR" altLang="en-US" dirty="0"/>
              <a:t>배치방법</a:t>
            </a:r>
            <a:endParaRPr lang="en-US" altLang="ko-KR" dirty="0"/>
          </a:p>
          <a:p>
            <a:pPr lvl="1"/>
            <a:r>
              <a:rPr lang="ko-KR" altLang="en-US" dirty="0"/>
              <a:t>컨테이너 공간을 </a:t>
            </a:r>
            <a:r>
              <a:rPr lang="en-US" altLang="ko-KR" dirty="0"/>
              <a:t>5 </a:t>
            </a:r>
            <a:r>
              <a:rPr lang="ko-KR" altLang="en-US" dirty="0"/>
              <a:t>구역으로 분할</a:t>
            </a:r>
            <a:r>
              <a:rPr lang="en-US" altLang="ko-KR" dirty="0"/>
              <a:t>, </a:t>
            </a:r>
            <a:r>
              <a:rPr lang="ko-KR" altLang="en-US" dirty="0"/>
              <a:t>배치</a:t>
            </a:r>
            <a:endParaRPr lang="en-US" altLang="ko-KR" dirty="0"/>
          </a:p>
          <a:p>
            <a:pPr lvl="2"/>
            <a:r>
              <a:rPr lang="en-US" altLang="ko-KR" dirty="0"/>
              <a:t>East, West, South, North, Center</a:t>
            </a:r>
          </a:p>
          <a:p>
            <a:pPr lvl="1"/>
            <a:r>
              <a:rPr lang="ko-KR" altLang="en-US" dirty="0"/>
              <a:t>배치</a:t>
            </a:r>
            <a:r>
              <a:rPr lang="en-US" altLang="ko-KR" dirty="0"/>
              <a:t> </a:t>
            </a:r>
            <a:r>
              <a:rPr lang="ko-KR" altLang="en-US" dirty="0"/>
              <a:t>방법</a:t>
            </a:r>
            <a:endParaRPr lang="en-US" altLang="ko-KR" dirty="0"/>
          </a:p>
          <a:p>
            <a:pPr lvl="2"/>
            <a:r>
              <a:rPr lang="en-US" altLang="ko-KR" dirty="0"/>
              <a:t>add(Component comp, </a:t>
            </a:r>
            <a:r>
              <a:rPr lang="en-US" altLang="ko-KR" dirty="0" err="1"/>
              <a:t>int</a:t>
            </a:r>
            <a:r>
              <a:rPr lang="en-US" altLang="ko-KR" dirty="0"/>
              <a:t> index)</a:t>
            </a:r>
          </a:p>
          <a:p>
            <a:pPr lvl="3"/>
            <a:r>
              <a:rPr lang="en-US" altLang="ko-KR" dirty="0"/>
              <a:t>comp</a:t>
            </a:r>
            <a:r>
              <a:rPr lang="ko-KR" altLang="en-US" dirty="0"/>
              <a:t>를 </a:t>
            </a:r>
            <a:r>
              <a:rPr lang="en-US" altLang="ko-KR" dirty="0"/>
              <a:t>index</a:t>
            </a:r>
            <a:r>
              <a:rPr lang="ko-KR" altLang="en-US" dirty="0"/>
              <a:t>의 공간에 배치</a:t>
            </a:r>
            <a:endParaRPr lang="en-US" altLang="ko-KR" dirty="0"/>
          </a:p>
          <a:p>
            <a:pPr lvl="1"/>
            <a:r>
              <a:rPr lang="ko-KR" altLang="en-US" dirty="0"/>
              <a:t>컨테이너의 크기가 변하면 재배치</a:t>
            </a:r>
            <a:endParaRPr lang="en-US" altLang="ko-KR" dirty="0"/>
          </a:p>
        </p:txBody>
      </p:sp>
      <p:sp>
        <p:nvSpPr>
          <p:cNvPr id="3" name="직사각형 2"/>
          <p:cNvSpPr/>
          <p:nvPr/>
        </p:nvSpPr>
        <p:spPr>
          <a:xfrm>
            <a:off x="1212236" y="4077072"/>
            <a:ext cx="3168352" cy="175432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container.setLayout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(new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BorderLayout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());</a:t>
            </a:r>
          </a:p>
          <a:p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container.add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(new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JButton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("div"), </a:t>
            </a:r>
          </a:p>
          <a:p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BorderLayout.WEST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</a:p>
          <a:p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container.add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(new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JButton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("Calculate"), </a:t>
            </a:r>
          </a:p>
          <a:p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BorderLayout.CENTER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</a:p>
          <a:p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…</a:t>
            </a:r>
          </a:p>
          <a:p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…</a:t>
            </a:r>
            <a:endParaRPr lang="ko-KR" altLang="en-US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3321954" y="3789039"/>
            <a:ext cx="5487632" cy="2920663"/>
            <a:chOff x="3321954" y="3789039"/>
            <a:chExt cx="5487632" cy="2920663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51488" y="4159048"/>
              <a:ext cx="2858424" cy="1931042"/>
            </a:xfrm>
            <a:prstGeom prst="rect">
              <a:avLst/>
            </a:prstGeom>
          </p:spPr>
        </p:pic>
        <p:sp>
          <p:nvSpPr>
            <p:cNvPr id="7" name="직사각형 6"/>
            <p:cNvSpPr/>
            <p:nvPr/>
          </p:nvSpPr>
          <p:spPr>
            <a:xfrm>
              <a:off x="4669896" y="3799602"/>
              <a:ext cx="1828726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200" dirty="0" err="1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BorderLayout.NORTH</a:t>
              </a:r>
              <a:endPara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3321954" y="6248037"/>
              <a:ext cx="164044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200" dirty="0" err="1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BorderLayout.WEST</a:t>
              </a:r>
              <a:endPara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4937716" y="6259754"/>
              <a:ext cx="1816959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200" dirty="0" err="1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BorderLayout.SOUTH</a:t>
              </a:r>
              <a:endPara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6902966" y="3789039"/>
              <a:ext cx="1714975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200" dirty="0" err="1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BorderLayout.EAST</a:t>
              </a:r>
              <a:endPara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6961247" y="6245490"/>
              <a:ext cx="1848339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200" dirty="0" err="1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BorderLayout.CENTER</a:t>
              </a:r>
              <a:endPara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cxnSp>
          <p:nvCxnSpPr>
            <p:cNvPr id="13" name="직선 화살표 연결선 12"/>
            <p:cNvCxnSpPr/>
            <p:nvPr/>
          </p:nvCxnSpPr>
          <p:spPr>
            <a:xfrm>
              <a:off x="5393657" y="4076601"/>
              <a:ext cx="0" cy="506010"/>
            </a:xfrm>
            <a:prstGeom prst="straightConnector1">
              <a:avLst/>
            </a:prstGeom>
            <a:ln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화살표 연결선 17"/>
            <p:cNvCxnSpPr/>
            <p:nvPr/>
          </p:nvCxnSpPr>
          <p:spPr>
            <a:xfrm flipV="1">
              <a:off x="5393657" y="5868495"/>
              <a:ext cx="0" cy="379542"/>
            </a:xfrm>
            <a:prstGeom prst="straightConnector1">
              <a:avLst/>
            </a:prstGeom>
            <a:ln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화살표 연결선 18"/>
            <p:cNvCxnSpPr/>
            <p:nvPr/>
          </p:nvCxnSpPr>
          <p:spPr>
            <a:xfrm flipV="1">
              <a:off x="7679673" y="4066039"/>
              <a:ext cx="0" cy="1157926"/>
            </a:xfrm>
            <a:prstGeom prst="straightConnector1">
              <a:avLst/>
            </a:prstGeom>
            <a:ln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화살표 연결선 19"/>
            <p:cNvCxnSpPr/>
            <p:nvPr/>
          </p:nvCxnSpPr>
          <p:spPr>
            <a:xfrm>
              <a:off x="6893855" y="5509717"/>
              <a:ext cx="414449" cy="738320"/>
            </a:xfrm>
            <a:prstGeom prst="straightConnector1">
              <a:avLst/>
            </a:prstGeom>
            <a:ln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꺾인 연결선 13"/>
            <p:cNvCxnSpPr>
              <a:stCxn id="8" idx="0"/>
            </p:cNvCxnSpPr>
            <p:nvPr/>
          </p:nvCxnSpPr>
          <p:spPr>
            <a:xfrm rot="5400000" flipH="1" flipV="1">
              <a:off x="4301532" y="5351955"/>
              <a:ext cx="736728" cy="1055436"/>
            </a:xfrm>
            <a:prstGeom prst="bentConnector2">
              <a:avLst/>
            </a:prstGeom>
            <a:ln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슬라이드 번호 개체 틀 1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54959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BorderLayout</a:t>
            </a:r>
            <a:r>
              <a:rPr lang="en-US" altLang="ko-KR" dirty="0"/>
              <a:t> </a:t>
            </a:r>
            <a:r>
              <a:rPr lang="ko-KR" altLang="en-US" dirty="0" err="1"/>
              <a:t>생성자와</a:t>
            </a:r>
            <a:r>
              <a:rPr lang="ko-KR" altLang="en-US" dirty="0"/>
              <a:t> </a:t>
            </a:r>
            <a:r>
              <a:rPr lang="en-US" altLang="ko-KR" dirty="0"/>
              <a:t>add() </a:t>
            </a:r>
            <a:r>
              <a:rPr lang="ko-KR" altLang="en-US" dirty="0"/>
              <a:t>멤버 함수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 err="1"/>
              <a:t>생성자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add() </a:t>
            </a:r>
            <a:r>
              <a:rPr lang="ko-KR" altLang="en-US" dirty="0"/>
              <a:t>멤버 함수</a:t>
            </a:r>
            <a:endParaRPr lang="en-US" altLang="ko-KR" dirty="0"/>
          </a:p>
          <a:p>
            <a:pPr lvl="1"/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27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3789040"/>
            <a:ext cx="7300759" cy="2376264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1772816"/>
            <a:ext cx="7328532" cy="1368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195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3088" y="4093586"/>
            <a:ext cx="2840745" cy="1919099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BorderLayout</a:t>
            </a:r>
            <a:r>
              <a:rPr lang="ko-KR" altLang="en-US"/>
              <a:t>의 사용예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5720" y="3213582"/>
            <a:ext cx="22220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CENTER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에 컴포넌트가 삽입될 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43240" y="3213582"/>
            <a:ext cx="29163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CENTER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와 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NORTH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에 컴포넌트가 삽입될 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43702" y="3213582"/>
            <a:ext cx="21248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CENTER,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NORTH, SOUTH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에</a:t>
            </a:r>
            <a:endParaRPr lang="en-US" altLang="ko-KR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컴포넌트가 삽입될 때</a:t>
            </a:r>
          </a:p>
        </p:txBody>
      </p:sp>
      <p:cxnSp>
        <p:nvCxnSpPr>
          <p:cNvPr id="15" name="직선 화살표 연결선 14"/>
          <p:cNvCxnSpPr/>
          <p:nvPr/>
        </p:nvCxnSpPr>
        <p:spPr>
          <a:xfrm rot="5400000">
            <a:off x="7382711" y="4682995"/>
            <a:ext cx="258838" cy="794"/>
          </a:xfrm>
          <a:prstGeom prst="straightConnector1">
            <a:avLst/>
          </a:prstGeom>
          <a:ln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655403" y="4411097"/>
            <a:ext cx="7841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vGap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,</a:t>
            </a:r>
          </a:p>
          <a:p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20 </a:t>
            </a:r>
            <a:r>
              <a:rPr lang="ko-KR" altLang="en-US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픽셀</a:t>
            </a:r>
          </a:p>
        </p:txBody>
      </p:sp>
      <p:cxnSp>
        <p:nvCxnSpPr>
          <p:cNvPr id="17" name="직선 연결선 16"/>
          <p:cNvCxnSpPr/>
          <p:nvPr/>
        </p:nvCxnSpPr>
        <p:spPr>
          <a:xfrm>
            <a:off x="6512395" y="4605351"/>
            <a:ext cx="107157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6583833" y="4818803"/>
            <a:ext cx="107157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/>
          <p:nvPr/>
        </p:nvCxnSpPr>
        <p:spPr>
          <a:xfrm>
            <a:off x="5726577" y="6125609"/>
            <a:ext cx="285752" cy="1588"/>
          </a:xfrm>
          <a:prstGeom prst="straightConnector1">
            <a:avLst/>
          </a:prstGeom>
          <a:ln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583131" y="6145559"/>
            <a:ext cx="14382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hGap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, 30 </a:t>
            </a:r>
            <a:r>
              <a:rPr lang="ko-KR" altLang="en-US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픽셀</a:t>
            </a:r>
          </a:p>
        </p:txBody>
      </p:sp>
      <p:cxnSp>
        <p:nvCxnSpPr>
          <p:cNvPr id="19" name="직선 연결선 18"/>
          <p:cNvCxnSpPr/>
          <p:nvPr/>
        </p:nvCxnSpPr>
        <p:spPr>
          <a:xfrm rot="5400000">
            <a:off x="5370181" y="5839063"/>
            <a:ext cx="71438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/>
        </p:nvCxnSpPr>
        <p:spPr>
          <a:xfrm rot="5400000">
            <a:off x="5655933" y="5839063"/>
            <a:ext cx="71438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259632" y="4553973"/>
            <a:ext cx="23042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new </a:t>
            </a:r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BorderLayout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(30,20); </a:t>
            </a:r>
          </a:p>
          <a:p>
            <a:r>
              <a:rPr lang="ko-KR" altLang="en-US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으로</a:t>
            </a:r>
            <a:r>
              <a:rPr lang="ko-KR" altLang="en-US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배치관리자를 </a:t>
            </a:r>
            <a:endParaRPr lang="en-US" altLang="ko-KR" sz="14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r>
              <a:rPr lang="ko-KR" altLang="en-US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생성하였을 때</a:t>
            </a:r>
          </a:p>
        </p:txBody>
      </p:sp>
      <p:sp>
        <p:nvSpPr>
          <p:cNvPr id="21" name="슬라이드 번호 개체 틀 20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28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040" y="1547814"/>
            <a:ext cx="2455103" cy="1658574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4350" y="1540031"/>
            <a:ext cx="2455103" cy="165857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0923" y="1547814"/>
            <a:ext cx="2455103" cy="1658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8246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sz="2400" dirty="0"/>
              <a:t>예제 </a:t>
            </a:r>
            <a:r>
              <a:rPr lang="en-US" altLang="ko-KR" sz="2400" dirty="0"/>
              <a:t>9-4 : </a:t>
            </a:r>
            <a:r>
              <a:rPr lang="en-US" altLang="ko-KR" sz="2400" dirty="0" err="1"/>
              <a:t>BorderLayout</a:t>
            </a:r>
            <a:r>
              <a:rPr lang="en-US" altLang="ko-KR" sz="2400" dirty="0"/>
              <a:t> </a:t>
            </a:r>
            <a:r>
              <a:rPr lang="ko-KR" altLang="en-US" sz="2400" dirty="0"/>
              <a:t>배치관리자를 사용하는 예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628712" y="1744355"/>
            <a:ext cx="5023407" cy="47089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import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javax.swing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.*;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import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java.awt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.*;</a:t>
            </a:r>
          </a:p>
          <a:p>
            <a:pPr defTabSz="180000"/>
            <a:endParaRPr lang="en-US" altLang="ko-KR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public class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BorderLayoutEx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extends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JFrame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public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BorderLayoutEx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 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setTitle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BorderLayout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Sample");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setDefaultCloseOperation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JFrame.EXIT_ON_CLOSE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</a:p>
          <a:p>
            <a:pPr defTabSz="180000"/>
            <a:endParaRPr lang="en-US" altLang="ko-KR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Container c =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getContentPane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</a:t>
            </a:r>
          </a:p>
          <a:p>
            <a:pPr defTabSz="180000"/>
            <a:endParaRPr lang="en-US" altLang="ko-KR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c.setLayout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new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BorderLayout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(30, 20)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c.add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(new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JButton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("Calculate"),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BorderLayout.CENTER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c.add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(new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JButton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("add"),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BorderLayout.NORTH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c.add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(new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JButton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("sub"),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BorderLayout.SOUTH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c.add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(new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JButton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mul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"),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BorderLayout.EAST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c.add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(new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JButton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("div"),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BorderLayout.WEST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</a:p>
          <a:p>
            <a:pPr defTabSz="180000"/>
            <a:endParaRPr lang="en-US" altLang="ko-KR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setSize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(300, 200); // 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프레임 크기 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300×200 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설정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setVisible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(true); // 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프레임을 화면에 출력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}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public static void main(String[]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args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 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ne	w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BorderLayoutEx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}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}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29</a:t>
            </a:fld>
            <a:endParaRPr lang="ko-KR" altLang="en-US"/>
          </a:p>
        </p:txBody>
      </p:sp>
      <p:grpSp>
        <p:nvGrpSpPr>
          <p:cNvPr id="4" name="그룹 3"/>
          <p:cNvGrpSpPr/>
          <p:nvPr/>
        </p:nvGrpSpPr>
        <p:grpSpPr>
          <a:xfrm>
            <a:off x="5122455" y="1936362"/>
            <a:ext cx="3893201" cy="2425272"/>
            <a:chOff x="5069595" y="1748799"/>
            <a:chExt cx="3893201" cy="2425272"/>
          </a:xfrm>
        </p:grpSpPr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69595" y="1748799"/>
              <a:ext cx="2903543" cy="1961523"/>
            </a:xfrm>
            <a:prstGeom prst="rect">
              <a:avLst/>
            </a:prstGeom>
          </p:spPr>
        </p:pic>
        <p:cxnSp>
          <p:nvCxnSpPr>
            <p:cNvPr id="8" name="직선 화살표 연결선 7"/>
            <p:cNvCxnSpPr/>
            <p:nvPr/>
          </p:nvCxnSpPr>
          <p:spPr>
            <a:xfrm>
              <a:off x="8034937" y="2287059"/>
              <a:ext cx="0" cy="189864"/>
            </a:xfrm>
            <a:prstGeom prst="straightConnector1">
              <a:avLst/>
            </a:prstGeom>
            <a:ln>
              <a:solidFill>
                <a:srgbClr val="FF0000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8178607" y="2075209"/>
              <a:ext cx="78418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err="1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vGap</a:t>
              </a:r>
              <a:r>
                <a:rPr lang="en-US" altLang="ko-KR" sz="14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,</a:t>
              </a:r>
            </a:p>
            <a:p>
              <a:r>
                <a:rPr lang="en-US" altLang="ko-KR" sz="14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20 </a:t>
              </a:r>
              <a:r>
                <a:rPr lang="ko-KR" altLang="en-US" sz="14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픽셀</a:t>
              </a:r>
            </a:p>
          </p:txBody>
        </p:sp>
        <p:cxnSp>
          <p:nvCxnSpPr>
            <p:cNvPr id="10" name="직선 연결선 9"/>
            <p:cNvCxnSpPr/>
            <p:nvPr/>
          </p:nvCxnSpPr>
          <p:spPr>
            <a:xfrm>
              <a:off x="7602889" y="2269463"/>
              <a:ext cx="499895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/>
            <p:cNvCxnSpPr/>
            <p:nvPr/>
          </p:nvCxnSpPr>
          <p:spPr>
            <a:xfrm>
              <a:off x="7674327" y="2482915"/>
              <a:ext cx="499895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화살표 연결선 11"/>
            <p:cNvCxnSpPr/>
            <p:nvPr/>
          </p:nvCxnSpPr>
          <p:spPr>
            <a:xfrm>
              <a:off x="7106071" y="3846344"/>
              <a:ext cx="285752" cy="1588"/>
            </a:xfrm>
            <a:prstGeom prst="straightConnector1">
              <a:avLst/>
            </a:prstGeom>
            <a:ln>
              <a:solidFill>
                <a:srgbClr val="FF0000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6962625" y="3866294"/>
              <a:ext cx="143821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err="1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hGap</a:t>
              </a:r>
              <a:r>
                <a:rPr lang="en-US" altLang="ko-KR" sz="14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 , 30 </a:t>
              </a:r>
              <a:r>
                <a:rPr lang="ko-KR" altLang="en-US" sz="14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픽셀</a:t>
              </a:r>
            </a:p>
          </p:txBody>
        </p:sp>
        <p:cxnSp>
          <p:nvCxnSpPr>
            <p:cNvPr id="14" name="직선 연결선 13"/>
            <p:cNvCxnSpPr/>
            <p:nvPr/>
          </p:nvCxnSpPr>
          <p:spPr>
            <a:xfrm rot="5400000">
              <a:off x="6749675" y="3559798"/>
              <a:ext cx="71438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/>
            <p:cNvCxnSpPr/>
            <p:nvPr/>
          </p:nvCxnSpPr>
          <p:spPr>
            <a:xfrm rot="5400000">
              <a:off x="7035427" y="3559798"/>
              <a:ext cx="71438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524674" y="1351167"/>
            <a:ext cx="822378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 err="1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BorderLayout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배치관리자를 사용하여 </a:t>
            </a:r>
            <a:r>
              <a:rPr lang="ko-KR" altLang="en-US" sz="1400" dirty="0" err="1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컨텐트팬에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 다음과 같이 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5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개의 버튼 컴포넌트를 삽입하라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.</a:t>
            </a:r>
            <a:endParaRPr lang="ko-KR" altLang="en-US" sz="1400" dirty="0">
              <a:solidFill>
                <a:schemeClr val="accent2">
                  <a:lumMod val="75000"/>
                </a:schemeClr>
              </a:solidFill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614051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909" y="3212976"/>
            <a:ext cx="2887317" cy="1950561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GridLayout</a:t>
            </a:r>
            <a:endParaRPr lang="ko-KR" altLang="en-US"/>
          </a:p>
        </p:txBody>
      </p:sp>
      <p:sp>
        <p:nvSpPr>
          <p:cNvPr id="4" name="내용 개체 틀 2"/>
          <p:cNvSpPr>
            <a:spLocks noGrp="1"/>
          </p:cNvSpPr>
          <p:nvPr>
            <p:ph sz="quarter" idx="1"/>
          </p:nvPr>
        </p:nvSpPr>
        <p:spPr>
          <a:xfrm>
            <a:off x="612648" y="1285860"/>
            <a:ext cx="8153400" cy="5286412"/>
          </a:xfrm>
        </p:spPr>
        <p:txBody>
          <a:bodyPr/>
          <a:lstStyle/>
          <a:p>
            <a:r>
              <a:rPr lang="ko-KR" altLang="en-US" dirty="0"/>
              <a:t>배치방법</a:t>
            </a:r>
            <a:endParaRPr lang="en-US" altLang="ko-KR" dirty="0"/>
          </a:p>
          <a:p>
            <a:pPr lvl="1"/>
            <a:r>
              <a:rPr lang="ko-KR" altLang="en-US" dirty="0"/>
              <a:t>컨테이너 공간을 동일한 사각형 격자</a:t>
            </a:r>
            <a:r>
              <a:rPr lang="en-US" altLang="ko-KR" dirty="0"/>
              <a:t>(</a:t>
            </a:r>
            <a:r>
              <a:rPr lang="ko-KR" altLang="en-US" dirty="0" err="1"/>
              <a:t>그리드</a:t>
            </a:r>
            <a:r>
              <a:rPr lang="en-US" altLang="ko-KR" dirty="0"/>
              <a:t>)</a:t>
            </a:r>
            <a:r>
              <a:rPr lang="ko-KR" altLang="en-US" dirty="0"/>
              <a:t>로 분할하고 각 셀에 하나의 컴포넌트 배치</a:t>
            </a:r>
            <a:endParaRPr lang="en-US" altLang="ko-KR" dirty="0"/>
          </a:p>
          <a:p>
            <a:pPr lvl="2"/>
            <a:r>
              <a:rPr lang="ko-KR" altLang="en-US" dirty="0"/>
              <a:t>격자 구성은 </a:t>
            </a:r>
            <a:r>
              <a:rPr lang="ko-KR" altLang="en-US" dirty="0" err="1"/>
              <a:t>생성자에</a:t>
            </a:r>
            <a:r>
              <a:rPr lang="ko-KR" altLang="en-US" dirty="0"/>
              <a:t> 행수와 열수 지정</a:t>
            </a:r>
            <a:endParaRPr lang="en-US" altLang="ko-KR" dirty="0"/>
          </a:p>
          <a:p>
            <a:pPr lvl="2"/>
            <a:r>
              <a:rPr lang="ko-KR" altLang="en-US" dirty="0"/>
              <a:t>셀에 왼쪽에서 오른쪽으로</a:t>
            </a:r>
            <a:r>
              <a:rPr lang="en-US" altLang="ko-KR" dirty="0"/>
              <a:t>, </a:t>
            </a:r>
            <a:r>
              <a:rPr lang="ko-KR" altLang="en-US" dirty="0"/>
              <a:t>다시 위에서 아래로 순서대로 배치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컨테이너의 크기가 변하면 재배치</a:t>
            </a:r>
            <a:endParaRPr lang="en-US" altLang="ko-KR" dirty="0"/>
          </a:p>
          <a:p>
            <a:pPr lvl="2"/>
            <a:r>
              <a:rPr lang="ko-KR" altLang="en-US" dirty="0"/>
              <a:t>크기 재조정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596460" y="4380562"/>
            <a:ext cx="239200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4x3 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그리드 레이아웃 설정</a:t>
            </a:r>
            <a:endParaRPr lang="en-US" altLang="ko-KR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>
              <a:buFont typeface="Arial" pitchFamily="34" charset="0"/>
              <a:buChar char="•"/>
            </a:pP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총 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11 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개의 버튼이 순서대로 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add 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됨</a:t>
            </a:r>
            <a:endParaRPr lang="en-US" altLang="ko-KR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>
              <a:buFont typeface="Arial" pitchFamily="34" charset="0"/>
              <a:buChar char="•"/>
            </a:pP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수직 간격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vGap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: 5 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픽셀</a:t>
            </a:r>
            <a:endParaRPr lang="en-US" altLang="ko-KR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>
              <a:buFont typeface="Arial" pitchFamily="34" charset="0"/>
              <a:buChar char="•"/>
            </a:pP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수평 간격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hGap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: 5 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픽셀</a:t>
            </a:r>
          </a:p>
        </p:txBody>
      </p:sp>
      <p:sp>
        <p:nvSpPr>
          <p:cNvPr id="7" name="자유형 6"/>
          <p:cNvSpPr/>
          <p:nvPr/>
        </p:nvSpPr>
        <p:spPr>
          <a:xfrm>
            <a:off x="896045" y="3662039"/>
            <a:ext cx="2591947" cy="1270000"/>
          </a:xfrm>
          <a:custGeom>
            <a:avLst/>
            <a:gdLst>
              <a:gd name="connsiteX0" fmla="*/ 310054 w 2806261"/>
              <a:gd name="connsiteY0" fmla="*/ 19269 h 1270000"/>
              <a:gd name="connsiteX1" fmla="*/ 2212427 w 2806261"/>
              <a:gd name="connsiteY1" fmla="*/ 19269 h 1270000"/>
              <a:gd name="connsiteX2" fmla="*/ 2496206 w 2806261"/>
              <a:gd name="connsiteY2" fmla="*/ 134883 h 1270000"/>
              <a:gd name="connsiteX3" fmla="*/ 352096 w 2806261"/>
              <a:gd name="connsiteY3" fmla="*/ 345090 h 1270000"/>
              <a:gd name="connsiteX4" fmla="*/ 667406 w 2806261"/>
              <a:gd name="connsiteY4" fmla="*/ 471214 h 1270000"/>
              <a:gd name="connsiteX5" fmla="*/ 2191406 w 2806261"/>
              <a:gd name="connsiteY5" fmla="*/ 460704 h 1270000"/>
              <a:gd name="connsiteX6" fmla="*/ 2391102 w 2806261"/>
              <a:gd name="connsiteY6" fmla="*/ 618359 h 1270000"/>
              <a:gd name="connsiteX7" fmla="*/ 331075 w 2806261"/>
              <a:gd name="connsiteY7" fmla="*/ 744483 h 1270000"/>
              <a:gd name="connsiteX8" fmla="*/ 541282 w 2806261"/>
              <a:gd name="connsiteY8" fmla="*/ 860097 h 1270000"/>
              <a:gd name="connsiteX9" fmla="*/ 2233447 w 2806261"/>
              <a:gd name="connsiteY9" fmla="*/ 870607 h 1270000"/>
              <a:gd name="connsiteX10" fmla="*/ 2412123 w 2806261"/>
              <a:gd name="connsiteY10" fmla="*/ 1017752 h 1270000"/>
              <a:gd name="connsiteX11" fmla="*/ 320565 w 2806261"/>
              <a:gd name="connsiteY11" fmla="*/ 1133366 h 1270000"/>
              <a:gd name="connsiteX12" fmla="*/ 488730 w 2806261"/>
              <a:gd name="connsiteY12" fmla="*/ 1217449 h 1270000"/>
              <a:gd name="connsiteX13" fmla="*/ 2065282 w 2806261"/>
              <a:gd name="connsiteY13" fmla="*/ 1270000 h 127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806261" h="1270000">
                <a:moveTo>
                  <a:pt x="310054" y="19269"/>
                </a:moveTo>
                <a:cubicBezTo>
                  <a:pt x="1079061" y="9634"/>
                  <a:pt x="1848068" y="0"/>
                  <a:pt x="2212427" y="19269"/>
                </a:cubicBezTo>
                <a:cubicBezTo>
                  <a:pt x="2576786" y="38538"/>
                  <a:pt x="2806261" y="80580"/>
                  <a:pt x="2496206" y="134883"/>
                </a:cubicBezTo>
                <a:cubicBezTo>
                  <a:pt x="2186151" y="189186"/>
                  <a:pt x="656896" y="289035"/>
                  <a:pt x="352096" y="345090"/>
                </a:cubicBezTo>
                <a:cubicBezTo>
                  <a:pt x="47296" y="401145"/>
                  <a:pt x="360854" y="451945"/>
                  <a:pt x="667406" y="471214"/>
                </a:cubicBezTo>
                <a:cubicBezTo>
                  <a:pt x="973958" y="490483"/>
                  <a:pt x="1904123" y="436180"/>
                  <a:pt x="2191406" y="460704"/>
                </a:cubicBezTo>
                <a:cubicBezTo>
                  <a:pt x="2478689" y="485228"/>
                  <a:pt x="2701157" y="571063"/>
                  <a:pt x="2391102" y="618359"/>
                </a:cubicBezTo>
                <a:cubicBezTo>
                  <a:pt x="2081047" y="665655"/>
                  <a:pt x="639378" y="704193"/>
                  <a:pt x="331075" y="744483"/>
                </a:cubicBezTo>
                <a:cubicBezTo>
                  <a:pt x="22772" y="784773"/>
                  <a:pt x="224220" y="839076"/>
                  <a:pt x="541282" y="860097"/>
                </a:cubicBezTo>
                <a:cubicBezTo>
                  <a:pt x="858344" y="881118"/>
                  <a:pt x="1921640" y="844331"/>
                  <a:pt x="2233447" y="870607"/>
                </a:cubicBezTo>
                <a:cubicBezTo>
                  <a:pt x="2545254" y="896883"/>
                  <a:pt x="2730937" y="973959"/>
                  <a:pt x="2412123" y="1017752"/>
                </a:cubicBezTo>
                <a:cubicBezTo>
                  <a:pt x="2093309" y="1061545"/>
                  <a:pt x="641130" y="1100083"/>
                  <a:pt x="320565" y="1133366"/>
                </a:cubicBezTo>
                <a:cubicBezTo>
                  <a:pt x="0" y="1166649"/>
                  <a:pt x="197944" y="1194677"/>
                  <a:pt x="488730" y="1217449"/>
                </a:cubicBezTo>
                <a:cubicBezTo>
                  <a:pt x="779516" y="1240221"/>
                  <a:pt x="1422399" y="1255110"/>
                  <a:pt x="2065282" y="1270000"/>
                </a:cubicBezTo>
              </a:path>
            </a:pathLst>
          </a:custGeom>
          <a:ln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3751206" y="3340316"/>
            <a:ext cx="5014842" cy="6463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container.setLayout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(new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GridLayout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(4,3,5,5)); // 4×3 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분할로 배치</a:t>
            </a:r>
          </a:p>
          <a:p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container.add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(new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JButton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("1")); // 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상단 왼쪽 첫 번째 셀에 버튼 배치</a:t>
            </a:r>
          </a:p>
          <a:p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container.add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(new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JButton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("2")); // 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그 옆 셀에 버튼 배치</a:t>
            </a:r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55673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GridLayout </a:t>
            </a:r>
            <a:r>
              <a:rPr lang="ko-KR" altLang="en-US"/>
              <a:t>생성자와 속성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 err="1"/>
              <a:t>생성자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31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916832"/>
            <a:ext cx="7343758" cy="216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0978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740" y="1932113"/>
            <a:ext cx="2838419" cy="1917527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 </a:t>
            </a:r>
            <a:r>
              <a:rPr lang="en-US" altLang="ko-KR" dirty="0"/>
              <a:t>9-5 : </a:t>
            </a:r>
            <a:r>
              <a:rPr lang="en-US" altLang="ko-KR" dirty="0" err="1"/>
              <a:t>GridLayout</a:t>
            </a:r>
            <a:r>
              <a:rPr lang="ko-KR" altLang="en-US" dirty="0"/>
              <a:t>으로 입력 폼 만들기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4211960" y="1334953"/>
            <a:ext cx="4299502" cy="563231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import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javax.swing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.*;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import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java.awt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.*;</a:t>
            </a:r>
          </a:p>
          <a:p>
            <a:pPr defTabSz="180000"/>
            <a:endParaRPr lang="en-US" altLang="ko-KR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public class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GridLayoutEx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extends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JFrame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public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GridLayoutEx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 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setTitle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GridLayout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Sample");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setDefaultCloseOperation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JFrame.EXIT_ON_CLOSE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</a:p>
          <a:p>
            <a:pPr defTabSz="180000"/>
            <a:endParaRPr lang="en-US" altLang="ko-KR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GridLayout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grid = new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GridLayout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(4, 2);</a:t>
            </a:r>
          </a:p>
          <a:p>
            <a:pPr defTabSz="180000"/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grid.setVgap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(5);</a:t>
            </a:r>
          </a:p>
          <a:p>
            <a:pPr defTabSz="180000"/>
            <a:endParaRPr lang="ko-KR" altLang="en-US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Container c =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getContentPane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c.setLayout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(grid);</a:t>
            </a:r>
            <a:endParaRPr lang="ko-KR" altLang="en-US" sz="1200" b="1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c.add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(new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JLabel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 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이름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"));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c.add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(new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JTextField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(""));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c.add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(new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JLabel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 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학번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"));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c.add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(new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JTextField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(""));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c.add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(new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JLabel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 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학과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"));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c.add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(new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JTextField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(""));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c.add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(new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JLabel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 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과목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"));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c.add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(new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JTextField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(""));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setSize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(300, 200);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setVisible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(true);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}</a:t>
            </a:r>
          </a:p>
          <a:p>
            <a:pPr defTabSz="180000"/>
            <a:endParaRPr lang="en-US" altLang="ko-KR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public static void main(String[]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args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 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new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GridLayoutEx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}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}</a:t>
            </a:r>
          </a:p>
        </p:txBody>
      </p:sp>
      <p:sp>
        <p:nvSpPr>
          <p:cNvPr id="7" name="자유형 6"/>
          <p:cNvSpPr/>
          <p:nvPr/>
        </p:nvSpPr>
        <p:spPr>
          <a:xfrm>
            <a:off x="1475656" y="3410148"/>
            <a:ext cx="506248" cy="722961"/>
          </a:xfrm>
          <a:custGeom>
            <a:avLst/>
            <a:gdLst>
              <a:gd name="connsiteX0" fmla="*/ 117365 w 506248"/>
              <a:gd name="connsiteY0" fmla="*/ 1206938 h 1206938"/>
              <a:gd name="connsiteX1" fmla="*/ 12262 w 506248"/>
              <a:gd name="connsiteY1" fmla="*/ 797035 h 1206938"/>
              <a:gd name="connsiteX2" fmla="*/ 43793 w 506248"/>
              <a:gd name="connsiteY2" fmla="*/ 271517 h 1206938"/>
              <a:gd name="connsiteX3" fmla="*/ 232979 w 506248"/>
              <a:gd name="connsiteY3" fmla="*/ 40290 h 1206938"/>
              <a:gd name="connsiteX4" fmla="*/ 506248 w 506248"/>
              <a:gd name="connsiteY4" fmla="*/ 29779 h 1206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6248" h="1206938">
                <a:moveTo>
                  <a:pt x="117365" y="1206938"/>
                </a:moveTo>
                <a:cubicBezTo>
                  <a:pt x="70944" y="1079938"/>
                  <a:pt x="24524" y="952938"/>
                  <a:pt x="12262" y="797035"/>
                </a:cubicBezTo>
                <a:cubicBezTo>
                  <a:pt x="0" y="641132"/>
                  <a:pt x="7007" y="397641"/>
                  <a:pt x="43793" y="271517"/>
                </a:cubicBezTo>
                <a:cubicBezTo>
                  <a:pt x="80579" y="145393"/>
                  <a:pt x="155903" y="80580"/>
                  <a:pt x="232979" y="40290"/>
                </a:cubicBezTo>
                <a:cubicBezTo>
                  <a:pt x="310055" y="0"/>
                  <a:pt x="408151" y="14889"/>
                  <a:pt x="506248" y="29779"/>
                </a:cubicBezTo>
              </a:path>
            </a:pathLst>
          </a:cu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3568" y="4119463"/>
            <a:ext cx="17251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두 행 사이의 수직 간격 </a:t>
            </a:r>
            <a:endParaRPr lang="en-US" altLang="ko-KR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vGap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이 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5 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픽셀로 설정됨</a:t>
            </a: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32</a:t>
            </a:fld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462720" y="1374335"/>
            <a:ext cx="367723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아래 화면과 같이 사용자로부터 </a:t>
            </a:r>
            <a:r>
              <a:rPr lang="ko-KR" altLang="en-US" sz="1400" dirty="0" err="1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입력받는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 폼을 스윙 응용프로그램을 작성하라</a:t>
            </a:r>
          </a:p>
        </p:txBody>
      </p:sp>
    </p:spTree>
    <p:extLst>
      <p:ext uri="{BB962C8B-B14F-4D97-AF65-F5344CB8AC3E}">
        <p14:creationId xmlns:p14="http://schemas.microsoft.com/office/powerpoint/2010/main" val="6366343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배치관리자 없는 컨테이너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배치관리자가 없는 컨테이너란</a:t>
            </a:r>
            <a:r>
              <a:rPr lang="en-US" altLang="ko-KR" dirty="0"/>
              <a:t>?</a:t>
            </a:r>
          </a:p>
          <a:p>
            <a:pPr lvl="1"/>
            <a:r>
              <a:rPr lang="ko-KR" altLang="en-US" dirty="0"/>
              <a:t>응용프로그램에서 컴포넌트의 절대 크기와 절대 위치 결정</a:t>
            </a:r>
            <a:endParaRPr lang="en-US" altLang="ko-KR" dirty="0"/>
          </a:p>
          <a:p>
            <a:r>
              <a:rPr lang="ko-KR" altLang="en-US" dirty="0"/>
              <a:t>용도</a:t>
            </a:r>
            <a:endParaRPr lang="en-US" altLang="ko-KR" dirty="0"/>
          </a:p>
          <a:p>
            <a:pPr lvl="1"/>
            <a:r>
              <a:rPr lang="ko-KR" altLang="en-US" dirty="0"/>
              <a:t>컴포넌트의 크기나 위치를 개발자 임의로 결정하고자 하는 경우</a:t>
            </a:r>
            <a:endParaRPr lang="en-US" altLang="ko-KR" dirty="0"/>
          </a:p>
          <a:p>
            <a:pPr lvl="1"/>
            <a:r>
              <a:rPr lang="ko-KR" altLang="en-US" dirty="0"/>
              <a:t>게임 프로그램과 같이 시간이나 마우스</a:t>
            </a:r>
            <a:r>
              <a:rPr lang="en-US" altLang="ko-KR" dirty="0"/>
              <a:t>/</a:t>
            </a:r>
            <a:r>
              <a:rPr lang="ko-KR" altLang="en-US" dirty="0"/>
              <a:t>키보드의 입력에 따라 컴포넌트들의 위치와 크기가 수시로 변하는 경우</a:t>
            </a:r>
            <a:endParaRPr lang="en-US" altLang="ko-KR" dirty="0"/>
          </a:p>
          <a:p>
            <a:pPr lvl="1"/>
            <a:r>
              <a:rPr lang="ko-KR" altLang="en-US" dirty="0"/>
              <a:t>여러 컴포넌트들이 서로 겹쳐 출력하고자 하는 경우</a:t>
            </a:r>
            <a:endParaRPr lang="en-US" altLang="ko-KR" dirty="0"/>
          </a:p>
          <a:p>
            <a:r>
              <a:rPr lang="ko-KR" altLang="en-US" dirty="0"/>
              <a:t>컨테이너의 배치 관리자 제거 방법</a:t>
            </a:r>
            <a:endParaRPr lang="en-US" altLang="ko-KR" dirty="0"/>
          </a:p>
          <a:p>
            <a:pPr lvl="1"/>
            <a:r>
              <a:rPr lang="en-US" altLang="ko-KR" dirty="0" err="1"/>
              <a:t>container.setLayout</a:t>
            </a:r>
            <a:r>
              <a:rPr lang="en-US" altLang="ko-KR" dirty="0"/>
              <a:t>(null);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컴포넌트의 절대 크기와 절대 위치 설정</a:t>
            </a:r>
            <a:endParaRPr lang="en-US" altLang="ko-KR" dirty="0"/>
          </a:p>
          <a:p>
            <a:pPr lvl="1"/>
            <a:r>
              <a:rPr lang="ko-KR" altLang="en-US" dirty="0"/>
              <a:t>프로그램 내에서 이루어져야 함</a:t>
            </a:r>
            <a:endParaRPr lang="en-US" altLang="ko-KR" dirty="0"/>
          </a:p>
          <a:p>
            <a:pPr lvl="1"/>
            <a:r>
              <a:rPr lang="ko-KR" altLang="en-US" dirty="0"/>
              <a:t>다음 </a:t>
            </a:r>
            <a:r>
              <a:rPr lang="ko-KR" altLang="en-US" dirty="0" err="1"/>
              <a:t>메소드</a:t>
            </a:r>
            <a:r>
              <a:rPr lang="ko-KR" altLang="en-US" dirty="0"/>
              <a:t> 이용</a:t>
            </a:r>
            <a:endParaRPr lang="en-US" altLang="ko-KR" dirty="0"/>
          </a:p>
          <a:p>
            <a:pPr lvl="2"/>
            <a:r>
              <a:rPr lang="ko-KR" altLang="en-US" dirty="0"/>
              <a:t>컴포넌트 크기 설정 </a:t>
            </a:r>
            <a:r>
              <a:rPr lang="en-US" altLang="ko-KR" dirty="0"/>
              <a:t>: </a:t>
            </a:r>
            <a:r>
              <a:rPr lang="en-US" altLang="ko-KR" dirty="0" err="1"/>
              <a:t>component.setSize</a:t>
            </a:r>
            <a:r>
              <a:rPr lang="en-US" altLang="ko-KR" dirty="0"/>
              <a:t>(</a:t>
            </a:r>
            <a:r>
              <a:rPr lang="en-US" altLang="ko-KR" dirty="0" err="1"/>
              <a:t>int</a:t>
            </a:r>
            <a:r>
              <a:rPr lang="en-US" altLang="ko-KR" dirty="0"/>
              <a:t> width, </a:t>
            </a:r>
            <a:r>
              <a:rPr lang="en-US" altLang="ko-KR" dirty="0" err="1"/>
              <a:t>int</a:t>
            </a:r>
            <a:r>
              <a:rPr lang="en-US" altLang="ko-KR" dirty="0"/>
              <a:t> height);</a:t>
            </a:r>
          </a:p>
          <a:p>
            <a:pPr lvl="2"/>
            <a:r>
              <a:rPr lang="ko-KR" altLang="en-US" dirty="0"/>
              <a:t>컴포넌트 위치 설정 </a:t>
            </a:r>
            <a:r>
              <a:rPr lang="en-US" altLang="ko-KR" dirty="0"/>
              <a:t>: </a:t>
            </a:r>
            <a:r>
              <a:rPr lang="en-US" altLang="ko-KR" dirty="0" err="1"/>
              <a:t>component.setLocation</a:t>
            </a:r>
            <a:r>
              <a:rPr lang="en-US" altLang="ko-KR" dirty="0"/>
              <a:t>(</a:t>
            </a:r>
            <a:r>
              <a:rPr lang="en-US" altLang="ko-KR" dirty="0" err="1"/>
              <a:t>int</a:t>
            </a:r>
            <a:r>
              <a:rPr lang="en-US" altLang="ko-KR" dirty="0"/>
              <a:t> x, </a:t>
            </a:r>
            <a:r>
              <a:rPr lang="en-US" altLang="ko-KR" dirty="0" err="1"/>
              <a:t>int</a:t>
            </a:r>
            <a:r>
              <a:rPr lang="en-US" altLang="ko-KR" dirty="0"/>
              <a:t> y);</a:t>
            </a:r>
          </a:p>
          <a:p>
            <a:pPr lvl="2"/>
            <a:r>
              <a:rPr lang="ko-KR" altLang="en-US" dirty="0"/>
              <a:t>컴포넌트 위치와 크기 동시 설정 </a:t>
            </a:r>
            <a:r>
              <a:rPr lang="en-US" altLang="ko-KR" dirty="0"/>
              <a:t>: </a:t>
            </a:r>
            <a:r>
              <a:rPr lang="en-US" altLang="ko-KR" dirty="0" err="1"/>
              <a:t>component.setBounds</a:t>
            </a:r>
            <a:r>
              <a:rPr lang="en-US" altLang="ko-KR" dirty="0"/>
              <a:t>(</a:t>
            </a:r>
            <a:r>
              <a:rPr lang="en-US" altLang="ko-KR" dirty="0" err="1"/>
              <a:t>int</a:t>
            </a:r>
            <a:r>
              <a:rPr lang="en-US" altLang="ko-KR" dirty="0"/>
              <a:t> x, </a:t>
            </a:r>
            <a:r>
              <a:rPr lang="en-US" altLang="ko-KR" dirty="0" err="1"/>
              <a:t>int</a:t>
            </a:r>
            <a:r>
              <a:rPr lang="en-US" altLang="ko-KR" dirty="0"/>
              <a:t> y, </a:t>
            </a:r>
            <a:r>
              <a:rPr lang="en-US" altLang="ko-KR" dirty="0" err="1"/>
              <a:t>int</a:t>
            </a:r>
            <a:r>
              <a:rPr lang="en-US" altLang="ko-KR" dirty="0"/>
              <a:t> width, </a:t>
            </a:r>
            <a:r>
              <a:rPr lang="en-US" altLang="ko-KR" dirty="0" err="1"/>
              <a:t>int</a:t>
            </a:r>
            <a:r>
              <a:rPr lang="en-US" altLang="ko-KR" dirty="0"/>
              <a:t> height);</a:t>
            </a:r>
          </a:p>
          <a:p>
            <a:pPr lvl="1"/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877000" y="3429000"/>
            <a:ext cx="3575320" cy="95410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// </a:t>
            </a:r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JPanel</a:t>
            </a:r>
            <a:r>
              <a:rPr lang="ko-KR" altLang="en-US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의 배치관리자를 삭제하는 예</a:t>
            </a:r>
            <a:endParaRPr lang="en-US" altLang="ko-KR" sz="14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endParaRPr lang="en-US" altLang="ko-KR" sz="14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JPanel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p = new </a:t>
            </a:r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JPanel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</a:t>
            </a:r>
          </a:p>
          <a:p>
            <a:r>
              <a:rPr lang="en-US" altLang="ko-KR" sz="14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p.setLayout</a:t>
            </a:r>
            <a:r>
              <a:rPr lang="en-US" altLang="ko-KR" sz="14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(null);</a:t>
            </a:r>
            <a:endParaRPr lang="ko-KR" altLang="en-US" sz="1400" b="1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99007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sz="2000" dirty="0"/>
              <a:t>예제 </a:t>
            </a:r>
            <a:r>
              <a:rPr lang="en-US" altLang="ko-KR" sz="2000" dirty="0"/>
              <a:t>9-6 : </a:t>
            </a:r>
            <a:r>
              <a:rPr lang="ko-KR" altLang="en-US" sz="2000" dirty="0"/>
              <a:t>배치관리자 없는 컨테이너에 컴포넌트를 절대 위치와 크기로 지정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3491880" y="1124744"/>
            <a:ext cx="4962852" cy="563231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import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javax.swing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.*;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import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java.awt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.*;</a:t>
            </a:r>
          </a:p>
          <a:p>
            <a:pPr defTabSz="180000"/>
            <a:endParaRPr lang="en-US" altLang="ko-KR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public class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NullContainerEx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extends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JFrame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public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NullContainerEx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 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setTitle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("Null Container Sample");</a:t>
            </a:r>
            <a:endParaRPr lang="ko-KR" altLang="en-US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setDefaultCloseOperation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JFrame.EXIT_ON_CLOSE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 							Container c =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getContentPane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c.setLayout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(null);</a:t>
            </a:r>
            <a:endParaRPr lang="ko-KR" altLang="en-US" sz="1200" b="1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endParaRPr lang="en-US" altLang="ko-KR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JLabel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la = new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JLabel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("Hello, Press Buttons!");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la.setLocation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(130, 50);</a:t>
            </a:r>
          </a:p>
          <a:p>
            <a:pPr defTabSz="180000"/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la.setSize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(200, 20);</a:t>
            </a:r>
            <a:endParaRPr lang="ko-KR" altLang="en-US" sz="1200" b="1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c.add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(la);</a:t>
            </a:r>
            <a:endParaRPr lang="ko-KR" altLang="en-US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endParaRPr lang="nn-NO" altLang="ko-KR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nn-NO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for(int i=1; i&lt;=9; i++) 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JButton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b = new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JButton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Integer.toString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)); // 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버튼 생성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b.setLocation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*15,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*15);</a:t>
            </a:r>
            <a:endParaRPr lang="ko-KR" altLang="en-US" sz="1200" b="1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b.setSize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(50, 20);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c.add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(b); // 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버튼을 </a:t>
            </a:r>
            <a:r>
              <a:rPr lang="ko-KR" altLang="en-US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컨텐트팬에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부착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}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setSize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(300, 200);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setVisible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(true);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}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public static void main(String[]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args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 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new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NullContainerEx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}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388" y="4221088"/>
            <a:ext cx="19303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원하는 위치에 원하는 크기로 </a:t>
            </a:r>
            <a:endParaRPr lang="en-US" altLang="ko-KR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컴포넌트를 마음대로</a:t>
            </a:r>
            <a:endParaRPr lang="en-US" altLang="ko-KR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배치할 수 있다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</a:t>
            </a:r>
            <a:endParaRPr lang="ko-KR" altLang="en-US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34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408" y="2348880"/>
            <a:ext cx="2671293" cy="180462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9421631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가을">
  <a:themeElements>
    <a:clrScheme name="가을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가을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3002</TotalTime>
  <Words>2774</Words>
  <Application>Microsoft Office PowerPoint</Application>
  <PresentationFormat>화면 슬라이드 쇼(4:3)</PresentationFormat>
  <Paragraphs>624</Paragraphs>
  <Slides>34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39" baseType="lpstr">
      <vt:lpstr>메이플스토리</vt:lpstr>
      <vt:lpstr>Arial</vt:lpstr>
      <vt:lpstr>Wingdings</vt:lpstr>
      <vt:lpstr>Wingdings 2</vt:lpstr>
      <vt:lpstr>가을</vt:lpstr>
      <vt:lpstr>자바의 GUI(Graphical User Interface)</vt:lpstr>
      <vt:lpstr>AWT와 Swing 패키지</vt:lpstr>
      <vt:lpstr>스윙 컴포넌트 예시</vt:lpstr>
      <vt:lpstr>PowerPoint 프레젠테이션</vt:lpstr>
      <vt:lpstr>PowerPoint 프레젠테이션</vt:lpstr>
      <vt:lpstr>PowerPoint 프레젠테이션</vt:lpstr>
      <vt:lpstr>Swing 으로 만든 GUI 프로그램 샘플</vt:lpstr>
      <vt:lpstr>GUI 라이브러리 계층 구조</vt:lpstr>
      <vt:lpstr>Swing 클래스의 특징</vt:lpstr>
      <vt:lpstr>컨테이너와 컴포넌트</vt:lpstr>
      <vt:lpstr>컨테이너와 컴포넌트의 포함관계</vt:lpstr>
      <vt:lpstr>스윙 GUI 프로그램 만들기</vt:lpstr>
      <vt:lpstr>스윙 프레임</vt:lpstr>
      <vt:lpstr>예제 9-1 : 300x300 크기의 스윙 프레임 만들기</vt:lpstr>
      <vt:lpstr>main()의 위치 </vt:lpstr>
      <vt:lpstr>프레임에 컴포넌트 붙이기</vt:lpstr>
      <vt:lpstr>예제 9-2 : 3개의 버튼 컴포넌트를 가진 스윙프레임 만들기</vt:lpstr>
      <vt:lpstr>스윙 응용프로그램의 종료</vt:lpstr>
      <vt:lpstr>main() 종료 뒤에도 프레임이 살아 있는 이유?</vt:lpstr>
      <vt:lpstr>컨테이너와 배치 개념</vt:lpstr>
      <vt:lpstr>배치 관리자 대표 유형 4 가지</vt:lpstr>
      <vt:lpstr>컨테이너와 배치관리자</vt:lpstr>
      <vt:lpstr>FlowLayout</vt:lpstr>
      <vt:lpstr>FlowLayout - 생성자와 속성 </vt:lpstr>
      <vt:lpstr>예제 9-3 : FlowLayout 배치관리자 활용</vt:lpstr>
      <vt:lpstr>BorderLayout</vt:lpstr>
      <vt:lpstr>BorderLayout 생성자와 add() 멤버 함수</vt:lpstr>
      <vt:lpstr>BorderLayout의 사용예</vt:lpstr>
      <vt:lpstr>예제 9-4 : BorderLayout 배치관리자를 사용하는 예</vt:lpstr>
      <vt:lpstr>GridLayout</vt:lpstr>
      <vt:lpstr>GridLayout 생성자와 속성</vt:lpstr>
      <vt:lpstr>예제 9-5 : GridLayout으로 입력 폼 만들기</vt:lpstr>
      <vt:lpstr>배치관리자 없는 컨테이너</vt:lpstr>
      <vt:lpstr>예제 9-6 : 배치관리자 없는 컨테이너에 컴포넌트를 절대 위치와 크기로 지정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Kitae</dc:creator>
  <cp:lastModifiedBy>조강홍</cp:lastModifiedBy>
  <cp:revision>167</cp:revision>
  <dcterms:created xsi:type="dcterms:W3CDTF">2011-08-27T14:53:28Z</dcterms:created>
  <dcterms:modified xsi:type="dcterms:W3CDTF">2026-05-07T02:27:56Z</dcterms:modified>
</cp:coreProperties>
</file>