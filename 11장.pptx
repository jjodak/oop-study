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852" r:id="rId1"/>
  </p:sldMasterIdLst>
  <p:notesMasterIdLst>
    <p:notesMasterId r:id="rId44"/>
  </p:notesMasterIdLst>
  <p:sldIdLst>
    <p:sldId id="256" r:id="rId2"/>
    <p:sldId id="296" r:id="rId3"/>
    <p:sldId id="257" r:id="rId4"/>
    <p:sldId id="258" r:id="rId5"/>
    <p:sldId id="259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97" r:id="rId33"/>
    <p:sldId id="298" r:id="rId34"/>
    <p:sldId id="287" r:id="rId35"/>
    <p:sldId id="288" r:id="rId36"/>
    <p:sldId id="289" r:id="rId37"/>
    <p:sldId id="290" r:id="rId38"/>
    <p:sldId id="291" r:id="rId39"/>
    <p:sldId id="292" r:id="rId40"/>
    <p:sldId id="293" r:id="rId41"/>
    <p:sldId id="294" r:id="rId42"/>
    <p:sldId id="295" r:id="rId43"/>
  </p:sldIdLst>
  <p:sldSz cx="9144000" cy="6858000" type="screen4x3"/>
  <p:notesSz cx="6858000" cy="9144000"/>
  <p:embeddedFontLst>
    <p:embeddedFont>
      <p:font typeface="메이플스토리" panose="02000300000000000000" pitchFamily="2" charset="-127"/>
      <p:regular r:id="rId45"/>
      <p:bold r:id="rId46"/>
    </p:embeddedFont>
    <p:embeddedFont>
      <p:font typeface="Wingdings 2" panose="05020102010507070707" pitchFamily="18" charset="2"/>
      <p:regular r:id="rId47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AEEC4"/>
    <a:srgbClr val="D0EAB4"/>
    <a:srgbClr val="C0E3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1451001-3F2A-4805-BD21-4FB4AF6F1450}" v="2" dt="2023-11-19T11:37:10.332"/>
  </p1510:revLst>
</p1510:revInfo>
</file>

<file path=ppt/tableStyles.xml><?xml version="1.0" encoding="utf-8"?>
<a:tblStyleLst xmlns:a="http://schemas.openxmlformats.org/drawingml/2006/main" def="{5C22544A-7EE6-4342-B048-85BDC9FD1C3A}">
  <a:tblStyle styleId="{5DA37D80-6434-44D0-A028-1B22A696006F}" styleName="밝은 스타일 3 - 강조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ED083AE6-46FA-4A59-8FB0-9F97EB10719F}" styleName="밝은 스타일 3 - 강조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1E171933-4619-4E11-9A3F-F7608DF75F80}" styleName="보통 스타일 1 - 강조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17292A2E-F333-43FB-9621-5CBBE7FDCDCB}" styleName="밝은 스타일 2 - 강조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00A15C55-8517-42AA-B614-E9B94910E393}" styleName="보통 스타일 2 - 강조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890" autoAdjust="0"/>
    <p:restoredTop sz="92944" autoAdjust="0"/>
  </p:normalViewPr>
  <p:slideViewPr>
    <p:cSldViewPr>
      <p:cViewPr varScale="1">
        <p:scale>
          <a:sx n="90" d="100"/>
          <a:sy n="90" d="100"/>
        </p:scale>
        <p:origin x="1971" y="3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81" d="100"/>
          <a:sy n="81" d="100"/>
        </p:scale>
        <p:origin x="-2040" y="-78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font" Target="fonts/font3.fntdata"/><Relationship Id="rId50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font" Target="fonts/font1.fntdata"/><Relationship Id="rId53" Type="http://schemas.microsoft.com/office/2015/10/relationships/revisionInfo" Target="revisionInfo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notesMaster" Target="notesMasters/notesMaster1.xml"/><Relationship Id="rId52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font" Target="fonts/font2.fntdata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조강홍" userId="5f906133-56a7-4eaa-b125-f98a3a90374e" providerId="ADAL" clId="{B1451001-3F2A-4805-BD21-4FB4AF6F1450}"/>
    <pc:docChg chg="custSel modSld">
      <pc:chgData name="조강홍" userId="5f906133-56a7-4eaa-b125-f98a3a90374e" providerId="ADAL" clId="{B1451001-3F2A-4805-BD21-4FB4AF6F1450}" dt="2023-11-19T12:34:38.895" v="66" actId="207"/>
      <pc:docMkLst>
        <pc:docMk/>
      </pc:docMkLst>
      <pc:sldChg chg="modSp mod">
        <pc:chgData name="조강홍" userId="5f906133-56a7-4eaa-b125-f98a3a90374e" providerId="ADAL" clId="{B1451001-3F2A-4805-BD21-4FB4AF6F1450}" dt="2023-11-19T11:37:02.249" v="1" actId="27636"/>
        <pc:sldMkLst>
          <pc:docMk/>
          <pc:sldMk cId="778035095" sldId="257"/>
        </pc:sldMkLst>
        <pc:spChg chg="mod">
          <ac:chgData name="조강홍" userId="5f906133-56a7-4eaa-b125-f98a3a90374e" providerId="ADAL" clId="{B1451001-3F2A-4805-BD21-4FB4AF6F1450}" dt="2023-11-19T11:37:02.249" v="1" actId="27636"/>
          <ac:spMkLst>
            <pc:docMk/>
            <pc:sldMk cId="778035095" sldId="257"/>
            <ac:spMk id="49" creationId="{00000000-0000-0000-0000-000000000000}"/>
          </ac:spMkLst>
        </pc:spChg>
      </pc:sldChg>
      <pc:sldChg chg="modSp mod">
        <pc:chgData name="조강홍" userId="5f906133-56a7-4eaa-b125-f98a3a90374e" providerId="ADAL" clId="{B1451001-3F2A-4805-BD21-4FB4AF6F1450}" dt="2023-11-19T11:37:02.264" v="2" actId="27636"/>
        <pc:sldMkLst>
          <pc:docMk/>
          <pc:sldMk cId="385928975" sldId="258"/>
        </pc:sldMkLst>
        <pc:spChg chg="mod">
          <ac:chgData name="조강홍" userId="5f906133-56a7-4eaa-b125-f98a3a90374e" providerId="ADAL" clId="{B1451001-3F2A-4805-BD21-4FB4AF6F1450}" dt="2023-11-19T11:37:02.264" v="2" actId="27636"/>
          <ac:spMkLst>
            <pc:docMk/>
            <pc:sldMk cId="385928975" sldId="258"/>
            <ac:spMk id="16" creationId="{00000000-0000-0000-0000-000000000000}"/>
          </ac:spMkLst>
        </pc:spChg>
      </pc:sldChg>
      <pc:sldChg chg="modSp mod">
        <pc:chgData name="조강홍" userId="5f906133-56a7-4eaa-b125-f98a3a90374e" providerId="ADAL" clId="{B1451001-3F2A-4805-BD21-4FB4AF6F1450}" dt="2023-11-19T11:55:39.863" v="54" actId="207"/>
        <pc:sldMkLst>
          <pc:docMk/>
          <pc:sldMk cId="3079041917" sldId="259"/>
        </pc:sldMkLst>
        <pc:spChg chg="mod">
          <ac:chgData name="조강홍" userId="5f906133-56a7-4eaa-b125-f98a3a90374e" providerId="ADAL" clId="{B1451001-3F2A-4805-BD21-4FB4AF6F1450}" dt="2023-11-19T11:55:39.863" v="54" actId="207"/>
          <ac:spMkLst>
            <pc:docMk/>
            <pc:sldMk cId="3079041917" sldId="259"/>
            <ac:spMk id="2" creationId="{00000000-0000-0000-0000-000000000000}"/>
          </ac:spMkLst>
        </pc:spChg>
        <pc:spChg chg="mod">
          <ac:chgData name="조강홍" userId="5f906133-56a7-4eaa-b125-f98a3a90374e" providerId="ADAL" clId="{B1451001-3F2A-4805-BD21-4FB4AF6F1450}" dt="2023-11-19T11:39:21.541" v="40" actId="1036"/>
          <ac:spMkLst>
            <pc:docMk/>
            <pc:sldMk cId="3079041917" sldId="259"/>
            <ac:spMk id="5" creationId="{00000000-0000-0000-0000-000000000000}"/>
          </ac:spMkLst>
        </pc:spChg>
        <pc:spChg chg="mod">
          <ac:chgData name="조강홍" userId="5f906133-56a7-4eaa-b125-f98a3a90374e" providerId="ADAL" clId="{B1451001-3F2A-4805-BD21-4FB4AF6F1450}" dt="2023-11-19T11:37:02.264" v="3" actId="27636"/>
          <ac:spMkLst>
            <pc:docMk/>
            <pc:sldMk cId="3079041917" sldId="259"/>
            <ac:spMk id="6" creationId="{00000000-0000-0000-0000-000000000000}"/>
          </ac:spMkLst>
        </pc:spChg>
      </pc:sldChg>
      <pc:sldChg chg="modSp mod">
        <pc:chgData name="조강홍" userId="5f906133-56a7-4eaa-b125-f98a3a90374e" providerId="ADAL" clId="{B1451001-3F2A-4805-BD21-4FB4AF6F1450}" dt="2023-11-19T11:37:02.280" v="4" actId="27636"/>
        <pc:sldMkLst>
          <pc:docMk/>
          <pc:sldMk cId="3881440261" sldId="261"/>
        </pc:sldMkLst>
        <pc:spChg chg="mod">
          <ac:chgData name="조강홍" userId="5f906133-56a7-4eaa-b125-f98a3a90374e" providerId="ADAL" clId="{B1451001-3F2A-4805-BD21-4FB4AF6F1450}" dt="2023-11-19T11:37:02.280" v="4" actId="27636"/>
          <ac:spMkLst>
            <pc:docMk/>
            <pc:sldMk cId="3881440261" sldId="261"/>
            <ac:spMk id="5" creationId="{00000000-0000-0000-0000-000000000000}"/>
          </ac:spMkLst>
        </pc:spChg>
      </pc:sldChg>
      <pc:sldChg chg="modSp mod">
        <pc:chgData name="조강홍" userId="5f906133-56a7-4eaa-b125-f98a3a90374e" providerId="ADAL" clId="{B1451001-3F2A-4805-BD21-4FB4AF6F1450}" dt="2023-11-19T11:37:02.295" v="5" actId="27636"/>
        <pc:sldMkLst>
          <pc:docMk/>
          <pc:sldMk cId="3016740913" sldId="262"/>
        </pc:sldMkLst>
        <pc:spChg chg="mod">
          <ac:chgData name="조강홍" userId="5f906133-56a7-4eaa-b125-f98a3a90374e" providerId="ADAL" clId="{B1451001-3F2A-4805-BD21-4FB4AF6F1450}" dt="2023-11-19T11:37:02.295" v="5" actId="27636"/>
          <ac:spMkLst>
            <pc:docMk/>
            <pc:sldMk cId="3016740913" sldId="262"/>
            <ac:spMk id="7" creationId="{00000000-0000-0000-0000-000000000000}"/>
          </ac:spMkLst>
        </pc:spChg>
      </pc:sldChg>
      <pc:sldChg chg="modSp mod">
        <pc:chgData name="조강홍" userId="5f906133-56a7-4eaa-b125-f98a3a90374e" providerId="ADAL" clId="{B1451001-3F2A-4805-BD21-4FB4AF6F1450}" dt="2023-11-19T11:37:02.295" v="6" actId="27636"/>
        <pc:sldMkLst>
          <pc:docMk/>
          <pc:sldMk cId="4037304758" sldId="263"/>
        </pc:sldMkLst>
        <pc:spChg chg="mod">
          <ac:chgData name="조강홍" userId="5f906133-56a7-4eaa-b125-f98a3a90374e" providerId="ADAL" clId="{B1451001-3F2A-4805-BD21-4FB4AF6F1450}" dt="2023-11-19T11:37:02.295" v="6" actId="27636"/>
          <ac:spMkLst>
            <pc:docMk/>
            <pc:sldMk cId="4037304758" sldId="263"/>
            <ac:spMk id="11" creationId="{00000000-0000-0000-0000-000000000000}"/>
          </ac:spMkLst>
        </pc:spChg>
      </pc:sldChg>
      <pc:sldChg chg="modSp mod">
        <pc:chgData name="조강홍" userId="5f906133-56a7-4eaa-b125-f98a3a90374e" providerId="ADAL" clId="{B1451001-3F2A-4805-BD21-4FB4AF6F1450}" dt="2023-11-19T11:37:02.311" v="7" actId="27636"/>
        <pc:sldMkLst>
          <pc:docMk/>
          <pc:sldMk cId="2016085586" sldId="264"/>
        </pc:sldMkLst>
        <pc:spChg chg="mod">
          <ac:chgData name="조강홍" userId="5f906133-56a7-4eaa-b125-f98a3a90374e" providerId="ADAL" clId="{B1451001-3F2A-4805-BD21-4FB4AF6F1450}" dt="2023-11-19T11:37:02.311" v="7" actId="27636"/>
          <ac:spMkLst>
            <pc:docMk/>
            <pc:sldMk cId="2016085586" sldId="264"/>
            <ac:spMk id="11" creationId="{00000000-0000-0000-0000-000000000000}"/>
          </ac:spMkLst>
        </pc:spChg>
      </pc:sldChg>
      <pc:sldChg chg="modSp mod">
        <pc:chgData name="조강홍" userId="5f906133-56a7-4eaa-b125-f98a3a90374e" providerId="ADAL" clId="{B1451001-3F2A-4805-BD21-4FB4AF6F1450}" dt="2023-11-19T11:37:02.311" v="8" actId="27636"/>
        <pc:sldMkLst>
          <pc:docMk/>
          <pc:sldMk cId="1079273413" sldId="265"/>
        </pc:sldMkLst>
        <pc:spChg chg="mod">
          <ac:chgData name="조강홍" userId="5f906133-56a7-4eaa-b125-f98a3a90374e" providerId="ADAL" clId="{B1451001-3F2A-4805-BD21-4FB4AF6F1450}" dt="2023-11-19T11:37:02.311" v="8" actId="27636"/>
          <ac:spMkLst>
            <pc:docMk/>
            <pc:sldMk cId="1079273413" sldId="265"/>
            <ac:spMk id="5" creationId="{00000000-0000-0000-0000-000000000000}"/>
          </ac:spMkLst>
        </pc:spChg>
      </pc:sldChg>
      <pc:sldChg chg="modSp mod">
        <pc:chgData name="조강홍" userId="5f906133-56a7-4eaa-b125-f98a3a90374e" providerId="ADAL" clId="{B1451001-3F2A-4805-BD21-4FB4AF6F1450}" dt="2023-11-19T11:55:26.327" v="53" actId="207"/>
        <pc:sldMkLst>
          <pc:docMk/>
          <pc:sldMk cId="3924182359" sldId="266"/>
        </pc:sldMkLst>
        <pc:spChg chg="mod">
          <ac:chgData name="조강홍" userId="5f906133-56a7-4eaa-b125-f98a3a90374e" providerId="ADAL" clId="{B1451001-3F2A-4805-BD21-4FB4AF6F1450}" dt="2023-11-19T11:55:26.327" v="53" actId="207"/>
          <ac:spMkLst>
            <pc:docMk/>
            <pc:sldMk cId="3924182359" sldId="266"/>
            <ac:spMk id="2" creationId="{00000000-0000-0000-0000-000000000000}"/>
          </ac:spMkLst>
        </pc:spChg>
        <pc:spChg chg="mod">
          <ac:chgData name="조강홍" userId="5f906133-56a7-4eaa-b125-f98a3a90374e" providerId="ADAL" clId="{B1451001-3F2A-4805-BD21-4FB4AF6F1450}" dt="2023-11-19T11:37:02.327" v="9" actId="27636"/>
          <ac:spMkLst>
            <pc:docMk/>
            <pc:sldMk cId="3924182359" sldId="266"/>
            <ac:spMk id="10" creationId="{00000000-0000-0000-0000-000000000000}"/>
          </ac:spMkLst>
        </pc:spChg>
      </pc:sldChg>
      <pc:sldChg chg="modSp mod">
        <pc:chgData name="조강홍" userId="5f906133-56a7-4eaa-b125-f98a3a90374e" providerId="ADAL" clId="{B1451001-3F2A-4805-BD21-4FB4AF6F1450}" dt="2023-11-19T11:37:02.342" v="10" actId="27636"/>
        <pc:sldMkLst>
          <pc:docMk/>
          <pc:sldMk cId="979907524" sldId="267"/>
        </pc:sldMkLst>
        <pc:spChg chg="mod">
          <ac:chgData name="조강홍" userId="5f906133-56a7-4eaa-b125-f98a3a90374e" providerId="ADAL" clId="{B1451001-3F2A-4805-BD21-4FB4AF6F1450}" dt="2023-11-19T11:37:02.342" v="10" actId="27636"/>
          <ac:spMkLst>
            <pc:docMk/>
            <pc:sldMk cId="979907524" sldId="267"/>
            <ac:spMk id="29" creationId="{00000000-0000-0000-0000-000000000000}"/>
          </ac:spMkLst>
        </pc:spChg>
      </pc:sldChg>
      <pc:sldChg chg="modSp mod">
        <pc:chgData name="조강홍" userId="5f906133-56a7-4eaa-b125-f98a3a90374e" providerId="ADAL" clId="{B1451001-3F2A-4805-BD21-4FB4AF6F1450}" dt="2023-11-19T11:37:02.358" v="11" actId="27636"/>
        <pc:sldMkLst>
          <pc:docMk/>
          <pc:sldMk cId="3275544743" sldId="268"/>
        </pc:sldMkLst>
        <pc:spChg chg="mod">
          <ac:chgData name="조강홍" userId="5f906133-56a7-4eaa-b125-f98a3a90374e" providerId="ADAL" clId="{B1451001-3F2A-4805-BD21-4FB4AF6F1450}" dt="2023-11-19T11:37:02.358" v="11" actId="27636"/>
          <ac:spMkLst>
            <pc:docMk/>
            <pc:sldMk cId="3275544743" sldId="268"/>
            <ac:spMk id="9" creationId="{00000000-0000-0000-0000-000000000000}"/>
          </ac:spMkLst>
        </pc:spChg>
      </pc:sldChg>
      <pc:sldChg chg="modSp mod">
        <pc:chgData name="조강홍" userId="5f906133-56a7-4eaa-b125-f98a3a90374e" providerId="ADAL" clId="{B1451001-3F2A-4805-BD21-4FB4AF6F1450}" dt="2023-11-19T11:47:29.331" v="51" actId="1037"/>
        <pc:sldMkLst>
          <pc:docMk/>
          <pc:sldMk cId="1921811676" sldId="269"/>
        </pc:sldMkLst>
        <pc:spChg chg="mod">
          <ac:chgData name="조강홍" userId="5f906133-56a7-4eaa-b125-f98a3a90374e" providerId="ADAL" clId="{B1451001-3F2A-4805-BD21-4FB4AF6F1450}" dt="2023-11-19T11:46:43.899" v="41" actId="14100"/>
          <ac:spMkLst>
            <pc:docMk/>
            <pc:sldMk cId="1921811676" sldId="269"/>
            <ac:spMk id="8" creationId="{00000000-0000-0000-0000-000000000000}"/>
          </ac:spMkLst>
        </pc:spChg>
        <pc:spChg chg="mod">
          <ac:chgData name="조강홍" userId="5f906133-56a7-4eaa-b125-f98a3a90374e" providerId="ADAL" clId="{B1451001-3F2A-4805-BD21-4FB4AF6F1450}" dt="2023-11-19T11:37:02.373" v="12" actId="27636"/>
          <ac:spMkLst>
            <pc:docMk/>
            <pc:sldMk cId="1921811676" sldId="269"/>
            <ac:spMk id="11" creationId="{00000000-0000-0000-0000-000000000000}"/>
          </ac:spMkLst>
        </pc:spChg>
        <pc:picChg chg="mod">
          <ac:chgData name="조강홍" userId="5f906133-56a7-4eaa-b125-f98a3a90374e" providerId="ADAL" clId="{B1451001-3F2A-4805-BD21-4FB4AF6F1450}" dt="2023-11-19T11:47:23.424" v="46" actId="1037"/>
          <ac:picMkLst>
            <pc:docMk/>
            <pc:sldMk cId="1921811676" sldId="269"/>
            <ac:picMk id="6" creationId="{00000000-0000-0000-0000-000000000000}"/>
          </ac:picMkLst>
        </pc:picChg>
        <pc:picChg chg="mod">
          <ac:chgData name="조강홍" userId="5f906133-56a7-4eaa-b125-f98a3a90374e" providerId="ADAL" clId="{B1451001-3F2A-4805-BD21-4FB4AF6F1450}" dt="2023-11-19T11:47:29.331" v="51" actId="1037"/>
          <ac:picMkLst>
            <pc:docMk/>
            <pc:sldMk cId="1921811676" sldId="269"/>
            <ac:picMk id="7" creationId="{00000000-0000-0000-0000-000000000000}"/>
          </ac:picMkLst>
        </pc:picChg>
      </pc:sldChg>
      <pc:sldChg chg="modSp mod">
        <pc:chgData name="조강홍" userId="5f906133-56a7-4eaa-b125-f98a3a90374e" providerId="ADAL" clId="{B1451001-3F2A-4805-BD21-4FB4AF6F1450}" dt="2023-11-19T11:37:02.373" v="13" actId="27636"/>
        <pc:sldMkLst>
          <pc:docMk/>
          <pc:sldMk cId="3681316573" sldId="270"/>
        </pc:sldMkLst>
        <pc:spChg chg="mod">
          <ac:chgData name="조강홍" userId="5f906133-56a7-4eaa-b125-f98a3a90374e" providerId="ADAL" clId="{B1451001-3F2A-4805-BD21-4FB4AF6F1450}" dt="2023-11-19T11:37:02.373" v="13" actId="27636"/>
          <ac:spMkLst>
            <pc:docMk/>
            <pc:sldMk cId="3681316573" sldId="270"/>
            <ac:spMk id="12" creationId="{00000000-0000-0000-0000-000000000000}"/>
          </ac:spMkLst>
        </pc:spChg>
      </pc:sldChg>
      <pc:sldChg chg="modSp mod">
        <pc:chgData name="조강홍" userId="5f906133-56a7-4eaa-b125-f98a3a90374e" providerId="ADAL" clId="{B1451001-3F2A-4805-BD21-4FB4AF6F1450}" dt="2023-11-19T11:37:02.373" v="14" actId="27636"/>
        <pc:sldMkLst>
          <pc:docMk/>
          <pc:sldMk cId="3710529651" sldId="271"/>
        </pc:sldMkLst>
        <pc:spChg chg="mod">
          <ac:chgData name="조강홍" userId="5f906133-56a7-4eaa-b125-f98a3a90374e" providerId="ADAL" clId="{B1451001-3F2A-4805-BD21-4FB4AF6F1450}" dt="2023-11-19T11:37:02.373" v="14" actId="27636"/>
          <ac:spMkLst>
            <pc:docMk/>
            <pc:sldMk cId="3710529651" sldId="271"/>
            <ac:spMk id="5" creationId="{00000000-0000-0000-0000-000000000000}"/>
          </ac:spMkLst>
        </pc:spChg>
      </pc:sldChg>
      <pc:sldChg chg="modSp mod">
        <pc:chgData name="조강홍" userId="5f906133-56a7-4eaa-b125-f98a3a90374e" providerId="ADAL" clId="{B1451001-3F2A-4805-BD21-4FB4AF6F1450}" dt="2023-11-19T11:55:01.867" v="52" actId="207"/>
        <pc:sldMkLst>
          <pc:docMk/>
          <pc:sldMk cId="4148651214" sldId="272"/>
        </pc:sldMkLst>
        <pc:spChg chg="mod">
          <ac:chgData name="조강홍" userId="5f906133-56a7-4eaa-b125-f98a3a90374e" providerId="ADAL" clId="{B1451001-3F2A-4805-BD21-4FB4AF6F1450}" dt="2023-11-19T11:55:01.867" v="52" actId="207"/>
          <ac:spMkLst>
            <pc:docMk/>
            <pc:sldMk cId="4148651214" sldId="272"/>
            <ac:spMk id="2" creationId="{00000000-0000-0000-0000-000000000000}"/>
          </ac:spMkLst>
        </pc:spChg>
      </pc:sldChg>
      <pc:sldChg chg="modSp mod">
        <pc:chgData name="조강홍" userId="5f906133-56a7-4eaa-b125-f98a3a90374e" providerId="ADAL" clId="{B1451001-3F2A-4805-BD21-4FB4AF6F1450}" dt="2023-11-19T11:37:02.389" v="15" actId="27636"/>
        <pc:sldMkLst>
          <pc:docMk/>
          <pc:sldMk cId="3002090182" sldId="273"/>
        </pc:sldMkLst>
        <pc:spChg chg="mod">
          <ac:chgData name="조강홍" userId="5f906133-56a7-4eaa-b125-f98a3a90374e" providerId="ADAL" clId="{B1451001-3F2A-4805-BD21-4FB4AF6F1450}" dt="2023-11-19T11:37:02.389" v="15" actId="27636"/>
          <ac:spMkLst>
            <pc:docMk/>
            <pc:sldMk cId="3002090182" sldId="273"/>
            <ac:spMk id="9" creationId="{00000000-0000-0000-0000-000000000000}"/>
          </ac:spMkLst>
        </pc:spChg>
      </pc:sldChg>
      <pc:sldChg chg="modSp mod">
        <pc:chgData name="조강홍" userId="5f906133-56a7-4eaa-b125-f98a3a90374e" providerId="ADAL" clId="{B1451001-3F2A-4805-BD21-4FB4AF6F1450}" dt="2023-11-19T11:37:02.420" v="16" actId="27636"/>
        <pc:sldMkLst>
          <pc:docMk/>
          <pc:sldMk cId="442569814" sldId="274"/>
        </pc:sldMkLst>
        <pc:spChg chg="mod">
          <ac:chgData name="조강홍" userId="5f906133-56a7-4eaa-b125-f98a3a90374e" providerId="ADAL" clId="{B1451001-3F2A-4805-BD21-4FB4AF6F1450}" dt="2023-11-19T11:37:02.420" v="16" actId="27636"/>
          <ac:spMkLst>
            <pc:docMk/>
            <pc:sldMk cId="442569814" sldId="274"/>
            <ac:spMk id="16" creationId="{00000000-0000-0000-0000-000000000000}"/>
          </ac:spMkLst>
        </pc:spChg>
      </pc:sldChg>
      <pc:sldChg chg="modSp mod">
        <pc:chgData name="조강홍" userId="5f906133-56a7-4eaa-b125-f98a3a90374e" providerId="ADAL" clId="{B1451001-3F2A-4805-BD21-4FB4AF6F1450}" dt="2023-11-19T11:58:59.191" v="62" actId="1076"/>
        <pc:sldMkLst>
          <pc:docMk/>
          <pc:sldMk cId="2493313964" sldId="276"/>
        </pc:sldMkLst>
        <pc:spChg chg="mod">
          <ac:chgData name="조강홍" userId="5f906133-56a7-4eaa-b125-f98a3a90374e" providerId="ADAL" clId="{B1451001-3F2A-4805-BD21-4FB4AF6F1450}" dt="2023-11-19T11:57:08.992" v="61" actId="1035"/>
          <ac:spMkLst>
            <pc:docMk/>
            <pc:sldMk cId="2493313964" sldId="276"/>
            <ac:spMk id="2" creationId="{00000000-0000-0000-0000-000000000000}"/>
          </ac:spMkLst>
        </pc:spChg>
        <pc:spChg chg="mod">
          <ac:chgData name="조강홍" userId="5f906133-56a7-4eaa-b125-f98a3a90374e" providerId="ADAL" clId="{B1451001-3F2A-4805-BD21-4FB4AF6F1450}" dt="2023-11-19T11:57:00.202" v="59" actId="1035"/>
          <ac:spMkLst>
            <pc:docMk/>
            <pc:sldMk cId="2493313964" sldId="276"/>
            <ac:spMk id="5" creationId="{00000000-0000-0000-0000-000000000000}"/>
          </ac:spMkLst>
        </pc:spChg>
        <pc:spChg chg="mod">
          <ac:chgData name="조강홍" userId="5f906133-56a7-4eaa-b125-f98a3a90374e" providerId="ADAL" clId="{B1451001-3F2A-4805-BD21-4FB4AF6F1450}" dt="2023-11-19T11:58:59.191" v="62" actId="1076"/>
          <ac:spMkLst>
            <pc:docMk/>
            <pc:sldMk cId="2493313964" sldId="276"/>
            <ac:spMk id="38" creationId="{00000000-0000-0000-0000-000000000000}"/>
          </ac:spMkLst>
        </pc:spChg>
      </pc:sldChg>
      <pc:sldChg chg="modSp mod">
        <pc:chgData name="조강홍" userId="5f906133-56a7-4eaa-b125-f98a3a90374e" providerId="ADAL" clId="{B1451001-3F2A-4805-BD21-4FB4AF6F1450}" dt="2023-11-19T11:37:02.420" v="17" actId="27636"/>
        <pc:sldMkLst>
          <pc:docMk/>
          <pc:sldMk cId="3865531567" sldId="277"/>
        </pc:sldMkLst>
        <pc:spChg chg="mod">
          <ac:chgData name="조강홍" userId="5f906133-56a7-4eaa-b125-f98a3a90374e" providerId="ADAL" clId="{B1451001-3F2A-4805-BD21-4FB4AF6F1450}" dt="2023-11-19T11:37:02.420" v="17" actId="27636"/>
          <ac:spMkLst>
            <pc:docMk/>
            <pc:sldMk cId="3865531567" sldId="277"/>
            <ac:spMk id="10" creationId="{00000000-0000-0000-0000-000000000000}"/>
          </ac:spMkLst>
        </pc:spChg>
      </pc:sldChg>
      <pc:sldChg chg="modSp mod">
        <pc:chgData name="조강홍" userId="5f906133-56a7-4eaa-b125-f98a3a90374e" providerId="ADAL" clId="{B1451001-3F2A-4805-BD21-4FB4AF6F1450}" dt="2023-11-19T11:37:02.436" v="18" actId="27636"/>
        <pc:sldMkLst>
          <pc:docMk/>
          <pc:sldMk cId="2740919052" sldId="278"/>
        </pc:sldMkLst>
        <pc:spChg chg="mod">
          <ac:chgData name="조강홍" userId="5f906133-56a7-4eaa-b125-f98a3a90374e" providerId="ADAL" clId="{B1451001-3F2A-4805-BD21-4FB4AF6F1450}" dt="2023-11-19T11:37:02.436" v="18" actId="27636"/>
          <ac:spMkLst>
            <pc:docMk/>
            <pc:sldMk cId="2740919052" sldId="278"/>
            <ac:spMk id="4" creationId="{00000000-0000-0000-0000-000000000000}"/>
          </ac:spMkLst>
        </pc:spChg>
      </pc:sldChg>
      <pc:sldChg chg="modSp mod">
        <pc:chgData name="조강홍" userId="5f906133-56a7-4eaa-b125-f98a3a90374e" providerId="ADAL" clId="{B1451001-3F2A-4805-BD21-4FB4AF6F1450}" dt="2023-11-19T11:37:02.452" v="19" actId="27636"/>
        <pc:sldMkLst>
          <pc:docMk/>
          <pc:sldMk cId="2042098949" sldId="279"/>
        </pc:sldMkLst>
        <pc:spChg chg="mod">
          <ac:chgData name="조강홍" userId="5f906133-56a7-4eaa-b125-f98a3a90374e" providerId="ADAL" clId="{B1451001-3F2A-4805-BD21-4FB4AF6F1450}" dt="2023-11-19T11:37:02.452" v="19" actId="27636"/>
          <ac:spMkLst>
            <pc:docMk/>
            <pc:sldMk cId="2042098949" sldId="279"/>
            <ac:spMk id="9" creationId="{00000000-0000-0000-0000-000000000000}"/>
          </ac:spMkLst>
        </pc:spChg>
      </pc:sldChg>
      <pc:sldChg chg="modSp mod">
        <pc:chgData name="조강홍" userId="5f906133-56a7-4eaa-b125-f98a3a90374e" providerId="ADAL" clId="{B1451001-3F2A-4805-BD21-4FB4AF6F1450}" dt="2023-11-19T11:37:02.452" v="20" actId="27636"/>
        <pc:sldMkLst>
          <pc:docMk/>
          <pc:sldMk cId="3469156741" sldId="280"/>
        </pc:sldMkLst>
        <pc:spChg chg="mod">
          <ac:chgData name="조강홍" userId="5f906133-56a7-4eaa-b125-f98a3a90374e" providerId="ADAL" clId="{B1451001-3F2A-4805-BD21-4FB4AF6F1450}" dt="2023-11-19T11:37:02.452" v="20" actId="27636"/>
          <ac:spMkLst>
            <pc:docMk/>
            <pc:sldMk cId="3469156741" sldId="280"/>
            <ac:spMk id="4" creationId="{00000000-0000-0000-0000-000000000000}"/>
          </ac:spMkLst>
        </pc:spChg>
      </pc:sldChg>
      <pc:sldChg chg="modSp mod">
        <pc:chgData name="조강홍" userId="5f906133-56a7-4eaa-b125-f98a3a90374e" providerId="ADAL" clId="{B1451001-3F2A-4805-BD21-4FB4AF6F1450}" dt="2023-11-19T11:37:02.467" v="21" actId="27636"/>
        <pc:sldMkLst>
          <pc:docMk/>
          <pc:sldMk cId="2608080802" sldId="281"/>
        </pc:sldMkLst>
        <pc:spChg chg="mod">
          <ac:chgData name="조강홍" userId="5f906133-56a7-4eaa-b125-f98a3a90374e" providerId="ADAL" clId="{B1451001-3F2A-4805-BD21-4FB4AF6F1450}" dt="2023-11-19T11:37:02.467" v="21" actId="27636"/>
          <ac:spMkLst>
            <pc:docMk/>
            <pc:sldMk cId="2608080802" sldId="281"/>
            <ac:spMk id="4" creationId="{00000000-0000-0000-0000-000000000000}"/>
          </ac:spMkLst>
        </pc:spChg>
      </pc:sldChg>
      <pc:sldChg chg="modSp mod">
        <pc:chgData name="조강홍" userId="5f906133-56a7-4eaa-b125-f98a3a90374e" providerId="ADAL" clId="{B1451001-3F2A-4805-BD21-4FB4AF6F1450}" dt="2023-11-19T11:37:02.483" v="22" actId="27636"/>
        <pc:sldMkLst>
          <pc:docMk/>
          <pc:sldMk cId="3821380017" sldId="282"/>
        </pc:sldMkLst>
        <pc:spChg chg="mod">
          <ac:chgData name="조강홍" userId="5f906133-56a7-4eaa-b125-f98a3a90374e" providerId="ADAL" clId="{B1451001-3F2A-4805-BD21-4FB4AF6F1450}" dt="2023-11-19T11:37:02.483" v="22" actId="27636"/>
          <ac:spMkLst>
            <pc:docMk/>
            <pc:sldMk cId="3821380017" sldId="282"/>
            <ac:spMk id="13" creationId="{00000000-0000-0000-0000-000000000000}"/>
          </ac:spMkLst>
        </pc:spChg>
      </pc:sldChg>
      <pc:sldChg chg="modSp mod">
        <pc:chgData name="조강홍" userId="5f906133-56a7-4eaa-b125-f98a3a90374e" providerId="ADAL" clId="{B1451001-3F2A-4805-BD21-4FB4AF6F1450}" dt="2023-11-19T12:22:38.104" v="63" actId="207"/>
        <pc:sldMkLst>
          <pc:docMk/>
          <pc:sldMk cId="1417440016" sldId="283"/>
        </pc:sldMkLst>
        <pc:spChg chg="mod">
          <ac:chgData name="조강홍" userId="5f906133-56a7-4eaa-b125-f98a3a90374e" providerId="ADAL" clId="{B1451001-3F2A-4805-BD21-4FB4AF6F1450}" dt="2023-11-19T12:22:38.104" v="63" actId="207"/>
          <ac:spMkLst>
            <pc:docMk/>
            <pc:sldMk cId="1417440016" sldId="283"/>
            <ac:spMk id="2" creationId="{00000000-0000-0000-0000-000000000000}"/>
          </ac:spMkLst>
        </pc:spChg>
      </pc:sldChg>
      <pc:sldChg chg="modSp mod">
        <pc:chgData name="조강홍" userId="5f906133-56a7-4eaa-b125-f98a3a90374e" providerId="ADAL" clId="{B1451001-3F2A-4805-BD21-4FB4AF6F1450}" dt="2023-11-19T11:37:02.483" v="23" actId="27636"/>
        <pc:sldMkLst>
          <pc:docMk/>
          <pc:sldMk cId="170478497" sldId="284"/>
        </pc:sldMkLst>
        <pc:spChg chg="mod">
          <ac:chgData name="조강홍" userId="5f906133-56a7-4eaa-b125-f98a3a90374e" providerId="ADAL" clId="{B1451001-3F2A-4805-BD21-4FB4AF6F1450}" dt="2023-11-19T11:37:02.483" v="23" actId="27636"/>
          <ac:spMkLst>
            <pc:docMk/>
            <pc:sldMk cId="170478497" sldId="284"/>
            <ac:spMk id="4" creationId="{00000000-0000-0000-0000-000000000000}"/>
          </ac:spMkLst>
        </pc:spChg>
      </pc:sldChg>
      <pc:sldChg chg="modSp mod">
        <pc:chgData name="조강홍" userId="5f906133-56a7-4eaa-b125-f98a3a90374e" providerId="ADAL" clId="{B1451001-3F2A-4805-BD21-4FB4AF6F1450}" dt="2023-11-19T11:37:02.514" v="26" actId="27636"/>
        <pc:sldMkLst>
          <pc:docMk/>
          <pc:sldMk cId="1622805054" sldId="287"/>
        </pc:sldMkLst>
        <pc:spChg chg="mod">
          <ac:chgData name="조강홍" userId="5f906133-56a7-4eaa-b125-f98a3a90374e" providerId="ADAL" clId="{B1451001-3F2A-4805-BD21-4FB4AF6F1450}" dt="2023-11-19T11:37:02.514" v="26" actId="27636"/>
          <ac:spMkLst>
            <pc:docMk/>
            <pc:sldMk cId="1622805054" sldId="287"/>
            <ac:spMk id="13" creationId="{00000000-0000-0000-0000-000000000000}"/>
          </ac:spMkLst>
        </pc:spChg>
      </pc:sldChg>
      <pc:sldChg chg="modSp mod">
        <pc:chgData name="조강홍" userId="5f906133-56a7-4eaa-b125-f98a3a90374e" providerId="ADAL" clId="{B1451001-3F2A-4805-BD21-4FB4AF6F1450}" dt="2023-11-19T11:37:02.530" v="27" actId="27636"/>
        <pc:sldMkLst>
          <pc:docMk/>
          <pc:sldMk cId="461983022" sldId="288"/>
        </pc:sldMkLst>
        <pc:spChg chg="mod">
          <ac:chgData name="조강홍" userId="5f906133-56a7-4eaa-b125-f98a3a90374e" providerId="ADAL" clId="{B1451001-3F2A-4805-BD21-4FB4AF6F1450}" dt="2023-11-19T11:37:02.530" v="27" actId="27636"/>
          <ac:spMkLst>
            <pc:docMk/>
            <pc:sldMk cId="461983022" sldId="288"/>
            <ac:spMk id="7" creationId="{00000000-0000-0000-0000-000000000000}"/>
          </ac:spMkLst>
        </pc:spChg>
      </pc:sldChg>
      <pc:sldChg chg="modSp mod">
        <pc:chgData name="조강홍" userId="5f906133-56a7-4eaa-b125-f98a3a90374e" providerId="ADAL" clId="{B1451001-3F2A-4805-BD21-4FB4AF6F1450}" dt="2023-11-19T11:37:02.530" v="28" actId="27636"/>
        <pc:sldMkLst>
          <pc:docMk/>
          <pc:sldMk cId="3373431904" sldId="289"/>
        </pc:sldMkLst>
        <pc:spChg chg="mod">
          <ac:chgData name="조강홍" userId="5f906133-56a7-4eaa-b125-f98a3a90374e" providerId="ADAL" clId="{B1451001-3F2A-4805-BD21-4FB4AF6F1450}" dt="2023-11-19T11:37:02.530" v="28" actId="27636"/>
          <ac:spMkLst>
            <pc:docMk/>
            <pc:sldMk cId="3373431904" sldId="289"/>
            <ac:spMk id="4" creationId="{00000000-0000-0000-0000-000000000000}"/>
          </ac:spMkLst>
        </pc:spChg>
      </pc:sldChg>
      <pc:sldChg chg="modSp mod">
        <pc:chgData name="조강홍" userId="5f906133-56a7-4eaa-b125-f98a3a90374e" providerId="ADAL" clId="{B1451001-3F2A-4805-BD21-4FB4AF6F1450}" dt="2023-11-19T12:28:39.645" v="65" actId="207"/>
        <pc:sldMkLst>
          <pc:docMk/>
          <pc:sldMk cId="3566624540" sldId="290"/>
        </pc:sldMkLst>
        <pc:spChg chg="mod">
          <ac:chgData name="조강홍" userId="5f906133-56a7-4eaa-b125-f98a3a90374e" providerId="ADAL" clId="{B1451001-3F2A-4805-BD21-4FB4AF6F1450}" dt="2023-11-19T12:28:39.645" v="65" actId="207"/>
          <ac:spMkLst>
            <pc:docMk/>
            <pc:sldMk cId="3566624540" sldId="290"/>
            <ac:spMk id="2" creationId="{00000000-0000-0000-0000-000000000000}"/>
          </ac:spMkLst>
        </pc:spChg>
      </pc:sldChg>
      <pc:sldChg chg="modSp mod">
        <pc:chgData name="조강홍" userId="5f906133-56a7-4eaa-b125-f98a3a90374e" providerId="ADAL" clId="{B1451001-3F2A-4805-BD21-4FB4AF6F1450}" dt="2023-11-19T11:37:02.545" v="29" actId="27636"/>
        <pc:sldMkLst>
          <pc:docMk/>
          <pc:sldMk cId="2822841880" sldId="291"/>
        </pc:sldMkLst>
        <pc:spChg chg="mod">
          <ac:chgData name="조강홍" userId="5f906133-56a7-4eaa-b125-f98a3a90374e" providerId="ADAL" clId="{B1451001-3F2A-4805-BD21-4FB4AF6F1450}" dt="2023-11-19T11:37:02.545" v="29" actId="27636"/>
          <ac:spMkLst>
            <pc:docMk/>
            <pc:sldMk cId="2822841880" sldId="291"/>
            <ac:spMk id="32" creationId="{00000000-0000-0000-0000-000000000000}"/>
          </ac:spMkLst>
        </pc:spChg>
      </pc:sldChg>
      <pc:sldChg chg="modSp mod">
        <pc:chgData name="조강홍" userId="5f906133-56a7-4eaa-b125-f98a3a90374e" providerId="ADAL" clId="{B1451001-3F2A-4805-BD21-4FB4AF6F1450}" dt="2023-11-19T11:37:02.561" v="30" actId="27636"/>
        <pc:sldMkLst>
          <pc:docMk/>
          <pc:sldMk cId="3170133525" sldId="292"/>
        </pc:sldMkLst>
        <pc:spChg chg="mod">
          <ac:chgData name="조강홍" userId="5f906133-56a7-4eaa-b125-f98a3a90374e" providerId="ADAL" clId="{B1451001-3F2A-4805-BD21-4FB4AF6F1450}" dt="2023-11-19T11:37:02.561" v="30" actId="27636"/>
          <ac:spMkLst>
            <pc:docMk/>
            <pc:sldMk cId="3170133525" sldId="292"/>
            <ac:spMk id="4" creationId="{00000000-0000-0000-0000-000000000000}"/>
          </ac:spMkLst>
        </pc:spChg>
      </pc:sldChg>
      <pc:sldChg chg="modSp mod">
        <pc:chgData name="조강홍" userId="5f906133-56a7-4eaa-b125-f98a3a90374e" providerId="ADAL" clId="{B1451001-3F2A-4805-BD21-4FB4AF6F1450}" dt="2023-11-19T11:37:02.577" v="31" actId="27636"/>
        <pc:sldMkLst>
          <pc:docMk/>
          <pc:sldMk cId="1449747868" sldId="293"/>
        </pc:sldMkLst>
        <pc:spChg chg="mod">
          <ac:chgData name="조강홍" userId="5f906133-56a7-4eaa-b125-f98a3a90374e" providerId="ADAL" clId="{B1451001-3F2A-4805-BD21-4FB4AF6F1450}" dt="2023-11-19T11:37:02.577" v="31" actId="27636"/>
          <ac:spMkLst>
            <pc:docMk/>
            <pc:sldMk cId="1449747868" sldId="293"/>
            <ac:spMk id="5" creationId="{00000000-0000-0000-0000-000000000000}"/>
          </ac:spMkLst>
        </pc:spChg>
      </pc:sldChg>
      <pc:sldChg chg="modSp mod">
        <pc:chgData name="조강홍" userId="5f906133-56a7-4eaa-b125-f98a3a90374e" providerId="ADAL" clId="{B1451001-3F2A-4805-BD21-4FB4AF6F1450}" dt="2023-11-19T11:37:02.587" v="32" actId="27636"/>
        <pc:sldMkLst>
          <pc:docMk/>
          <pc:sldMk cId="553909645" sldId="294"/>
        </pc:sldMkLst>
        <pc:spChg chg="mod">
          <ac:chgData name="조강홍" userId="5f906133-56a7-4eaa-b125-f98a3a90374e" providerId="ADAL" clId="{B1451001-3F2A-4805-BD21-4FB4AF6F1450}" dt="2023-11-19T11:37:02.587" v="32" actId="27636"/>
          <ac:spMkLst>
            <pc:docMk/>
            <pc:sldMk cId="553909645" sldId="294"/>
            <ac:spMk id="4" creationId="{00000000-0000-0000-0000-000000000000}"/>
          </ac:spMkLst>
        </pc:spChg>
      </pc:sldChg>
      <pc:sldChg chg="modSp mod">
        <pc:chgData name="조강홍" userId="5f906133-56a7-4eaa-b125-f98a3a90374e" providerId="ADAL" clId="{B1451001-3F2A-4805-BD21-4FB4AF6F1450}" dt="2023-11-19T12:34:38.895" v="66" actId="207"/>
        <pc:sldMkLst>
          <pc:docMk/>
          <pc:sldMk cId="4242627965" sldId="295"/>
        </pc:sldMkLst>
        <pc:spChg chg="mod">
          <ac:chgData name="조강홍" userId="5f906133-56a7-4eaa-b125-f98a3a90374e" providerId="ADAL" clId="{B1451001-3F2A-4805-BD21-4FB4AF6F1450}" dt="2023-11-19T12:34:38.895" v="66" actId="207"/>
          <ac:spMkLst>
            <pc:docMk/>
            <pc:sldMk cId="4242627965" sldId="295"/>
            <ac:spMk id="2" creationId="{00000000-0000-0000-0000-000000000000}"/>
          </ac:spMkLst>
        </pc:spChg>
      </pc:sldChg>
      <pc:sldChg chg="modSp mod">
        <pc:chgData name="조강홍" userId="5f906133-56a7-4eaa-b125-f98a3a90374e" providerId="ADAL" clId="{B1451001-3F2A-4805-BD21-4FB4AF6F1450}" dt="2023-11-19T11:37:02.233" v="0" actId="27636"/>
        <pc:sldMkLst>
          <pc:docMk/>
          <pc:sldMk cId="1180950797" sldId="296"/>
        </pc:sldMkLst>
        <pc:spChg chg="mod">
          <ac:chgData name="조강홍" userId="5f906133-56a7-4eaa-b125-f98a3a90374e" providerId="ADAL" clId="{B1451001-3F2A-4805-BD21-4FB4AF6F1450}" dt="2023-11-19T11:37:02.233" v="0" actId="27636"/>
          <ac:spMkLst>
            <pc:docMk/>
            <pc:sldMk cId="1180950797" sldId="296"/>
            <ac:spMk id="49" creationId="{00000000-0000-0000-0000-000000000000}"/>
          </ac:spMkLst>
        </pc:spChg>
      </pc:sldChg>
      <pc:sldChg chg="modSp mod">
        <pc:chgData name="조강홍" userId="5f906133-56a7-4eaa-b125-f98a3a90374e" providerId="ADAL" clId="{B1451001-3F2A-4805-BD21-4FB4AF6F1450}" dt="2023-11-19T12:25:49.838" v="64" actId="207"/>
        <pc:sldMkLst>
          <pc:docMk/>
          <pc:sldMk cId="1471968872" sldId="297"/>
        </pc:sldMkLst>
        <pc:spChg chg="mod">
          <ac:chgData name="조강홍" userId="5f906133-56a7-4eaa-b125-f98a3a90374e" providerId="ADAL" clId="{B1451001-3F2A-4805-BD21-4FB4AF6F1450}" dt="2023-11-19T11:37:02.483" v="24" actId="27636"/>
          <ac:spMkLst>
            <pc:docMk/>
            <pc:sldMk cId="1471968872" sldId="297"/>
            <ac:spMk id="2" creationId="{00000000-0000-0000-0000-000000000000}"/>
          </ac:spMkLst>
        </pc:spChg>
        <pc:spChg chg="mod">
          <ac:chgData name="조강홍" userId="5f906133-56a7-4eaa-b125-f98a3a90374e" providerId="ADAL" clId="{B1451001-3F2A-4805-BD21-4FB4AF6F1450}" dt="2023-11-19T12:25:49.838" v="64" actId="207"/>
          <ac:spMkLst>
            <pc:docMk/>
            <pc:sldMk cId="1471968872" sldId="297"/>
            <ac:spMk id="5" creationId="{00000000-0000-0000-0000-000000000000}"/>
          </ac:spMkLst>
        </pc:spChg>
      </pc:sldChg>
      <pc:sldChg chg="modSp mod">
        <pc:chgData name="조강홍" userId="5f906133-56a7-4eaa-b125-f98a3a90374e" providerId="ADAL" clId="{B1451001-3F2A-4805-BD21-4FB4AF6F1450}" dt="2023-11-19T11:37:02.514" v="25" actId="27636"/>
        <pc:sldMkLst>
          <pc:docMk/>
          <pc:sldMk cId="2864071887" sldId="298"/>
        </pc:sldMkLst>
        <pc:spChg chg="mod">
          <ac:chgData name="조강홍" userId="5f906133-56a7-4eaa-b125-f98a3a90374e" providerId="ADAL" clId="{B1451001-3F2A-4805-BD21-4FB4AF6F1450}" dt="2023-11-19T11:37:02.514" v="25" actId="27636"/>
          <ac:spMkLst>
            <pc:docMk/>
            <pc:sldMk cId="2864071887" sldId="298"/>
            <ac:spMk id="4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메이플스토리" panose="02000300000000000000" pitchFamily="2" charset="-127"/>
                <a:ea typeface="메이플스토리" panose="02000300000000000000" pitchFamily="2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메이플스토리" panose="02000300000000000000" pitchFamily="2" charset="-127"/>
                <a:ea typeface="메이플스토리" panose="02000300000000000000" pitchFamily="2" charset="-127"/>
              </a:defRPr>
            </a:lvl1pPr>
          </a:lstStyle>
          <a:p>
            <a:fld id="{A9D9897E-559B-4802-87FD-BDDBC21CBABC}" type="datetimeFigureOut">
              <a:rPr lang="ko-KR" altLang="en-US" smtClean="0"/>
              <a:pPr/>
              <a:t>2023-11-19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메이플스토리" panose="02000300000000000000" pitchFamily="2" charset="-127"/>
                <a:ea typeface="메이플스토리" panose="02000300000000000000" pitchFamily="2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메이플스토리" panose="02000300000000000000" pitchFamily="2" charset="-127"/>
                <a:ea typeface="메이플스토리" panose="02000300000000000000" pitchFamily="2" charset="-127"/>
              </a:defRPr>
            </a:lvl1pPr>
          </a:lstStyle>
          <a:p>
            <a:fld id="{8C7AADCE-4523-43FE-B0A8-90B87F2F6B62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054131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메이플스토리" panose="02000300000000000000" pitchFamily="2" charset="-127"/>
        <a:ea typeface="메이플스토리" panose="02000300000000000000" pitchFamily="2" charset="-127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메이플스토리" panose="02000300000000000000" pitchFamily="2" charset="-127"/>
        <a:ea typeface="메이플스토리" panose="02000300000000000000" pitchFamily="2" charset="-127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메이플스토리" panose="02000300000000000000" pitchFamily="2" charset="-127"/>
        <a:ea typeface="메이플스토리" panose="02000300000000000000" pitchFamily="2" charset="-127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메이플스토리" panose="02000300000000000000" pitchFamily="2" charset="-127"/>
        <a:ea typeface="메이플스토리" panose="02000300000000000000" pitchFamily="2" charset="-127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메이플스토리" panose="02000300000000000000" pitchFamily="2" charset="-127"/>
        <a:ea typeface="메이플스토리" panose="02000300000000000000" pitchFamily="2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26CA48A-C2EC-40C8-B749-566CD4BBC886}" type="slidenum">
              <a:rPr lang="ko-KR" altLang="en-US" smtClean="0"/>
              <a:pPr/>
              <a:t>37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26159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제목 슬라이드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" y="0"/>
            <a:ext cx="9144000" cy="6858000"/>
          </a:xfrm>
          <a:prstGeom prst="rect">
            <a:avLst/>
          </a:prstGeom>
        </p:spPr>
      </p:pic>
      <p:sp>
        <p:nvSpPr>
          <p:cNvPr id="17" name="바닥글 개체 틀 16"/>
          <p:cNvSpPr>
            <a:spLocks noGrp="1"/>
          </p:cNvSpPr>
          <p:nvPr>
            <p:ph type="ftr" sz="quarter" idx="11"/>
          </p:nvPr>
        </p:nvSpPr>
        <p:spPr>
          <a:xfrm>
            <a:off x="2085393" y="236538"/>
            <a:ext cx="5867400" cy="365125"/>
          </a:xfrm>
          <a:prstGeom prst="rect">
            <a:avLst/>
          </a:prstGeom>
        </p:spPr>
        <p:txBody>
          <a:bodyPr/>
          <a:lstStyle>
            <a:lvl1pPr algn="r">
              <a:defRPr b="1">
                <a:solidFill>
                  <a:srgbClr val="FFC000"/>
                </a:solidFill>
              </a:defRPr>
            </a:lvl1pPr>
          </a:lstStyle>
          <a:p>
            <a:r>
              <a:rPr lang="ko-KR" altLang="en-US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명품 </a:t>
            </a:r>
            <a:r>
              <a:rPr lang="en-US" altLang="ko-KR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Java Programming</a:t>
            </a:r>
            <a:endParaRPr lang="ko-KR" altLang="en-US" dirty="0">
              <a:latin typeface="메이플스토리" panose="02000300000000000000" pitchFamily="2" charset="-127"/>
              <a:ea typeface="메이플스토리" panose="02000300000000000000" pitchFamily="2" charset="-127"/>
            </a:endParaRPr>
          </a:p>
        </p:txBody>
      </p:sp>
      <p:sp>
        <p:nvSpPr>
          <p:cNvPr id="29" name="슬라이드 번호 개체 틀 28"/>
          <p:cNvSpPr>
            <a:spLocks noGrp="1"/>
          </p:cNvSpPr>
          <p:nvPr>
            <p:ph type="sldNum" sz="quarter" idx="12"/>
          </p:nvPr>
        </p:nvSpPr>
        <p:spPr>
          <a:xfrm>
            <a:off x="8001000" y="228600"/>
            <a:ext cx="8382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01870596-DAFA-46D2-82A7-2B6B5F8E0EA4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12648" y="228600"/>
            <a:ext cx="8153400" cy="680120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kumimoji="0" lang="ko-KR" altLang="en-US" dirty="0"/>
              <a:t>마스터 제목 스타일 편집</a:t>
            </a:r>
            <a:endParaRPr kumimoji="0" lang="en-US" dirty="0"/>
          </a:p>
        </p:txBody>
      </p:sp>
      <p:sp>
        <p:nvSpPr>
          <p:cNvPr id="8" name="내용 개체 틀 7"/>
          <p:cNvSpPr>
            <a:spLocks noGrp="1"/>
          </p:cNvSpPr>
          <p:nvPr>
            <p:ph sz="quarter" idx="1"/>
          </p:nvPr>
        </p:nvSpPr>
        <p:spPr>
          <a:xfrm>
            <a:off x="612648" y="1340768"/>
            <a:ext cx="8153400" cy="504056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>
                <a:latin typeface="메이플스토리" panose="02000300000000000000" pitchFamily="2" charset="-127"/>
                <a:ea typeface="메이플스토리" panose="02000300000000000000" pitchFamily="2" charset="-127"/>
              </a:defRPr>
            </a:lvl3pPr>
            <a:lvl4pPr>
              <a:defRPr sz="1400">
                <a:latin typeface="메이플스토리" panose="02000300000000000000" pitchFamily="2" charset="-127"/>
                <a:ea typeface="메이플스토리" panose="02000300000000000000" pitchFamily="2" charset="-127"/>
              </a:defRPr>
            </a:lvl4pPr>
          </a:lstStyle>
          <a:p>
            <a:pPr lvl="0" eaLnBrk="1" latinLnBrk="0" hangingPunct="1"/>
            <a:r>
              <a:rPr lang="ko-KR" altLang="en-US" dirty="0"/>
              <a:t>마스터 텍스트 스타일을 편집합니다</a:t>
            </a:r>
          </a:p>
          <a:p>
            <a:pPr lvl="1" eaLnBrk="1" latinLnBrk="0" hangingPunct="1"/>
            <a:r>
              <a:rPr lang="ko-KR" altLang="en-US" dirty="0"/>
              <a:t>둘째 수준</a:t>
            </a:r>
          </a:p>
          <a:p>
            <a:pPr lvl="2" eaLnBrk="1" latinLnBrk="0" hangingPunct="1"/>
            <a:r>
              <a:rPr lang="ko-KR" altLang="en-US" dirty="0"/>
              <a:t>셋째 수준</a:t>
            </a:r>
          </a:p>
          <a:p>
            <a:pPr lvl="3" eaLnBrk="1" latinLnBrk="0" hangingPunct="1"/>
            <a:r>
              <a:rPr lang="ko-KR" altLang="en-US" dirty="0"/>
              <a:t>넷째 수준</a:t>
            </a:r>
          </a:p>
          <a:p>
            <a:pPr lvl="4" eaLnBrk="1" latinLnBrk="0" hangingPunct="1"/>
            <a:r>
              <a:rPr lang="ko-KR" altLang="en-US" dirty="0"/>
              <a:t>다섯째 수준</a:t>
            </a:r>
            <a:endParaRPr kumimoji="0" lang="en-US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870596-DAFA-46D2-82A7-2B6B5F8E0EA4}" type="slidenum">
              <a:rPr lang="ko-KR" altLang="en-US" smtClean="0"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구역 머리글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1371600" y="2743200"/>
            <a:ext cx="7123113" cy="1673225"/>
          </a:xfrm>
        </p:spPr>
        <p:txBody>
          <a:bodyPr anchor="t"/>
          <a:lstStyle>
            <a:lvl1pPr marL="0" indent="0">
              <a:buNone/>
              <a:defRPr sz="280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ko-KR" altLang="en-US"/>
              <a:t>마스터 텍스트 스타일을 편집합니다</a:t>
            </a:r>
          </a:p>
        </p:txBody>
      </p:sp>
      <p:sp>
        <p:nvSpPr>
          <p:cNvPr id="7" name="직사각형 6"/>
          <p:cNvSpPr/>
          <p:nvPr/>
        </p:nvSpPr>
        <p:spPr bwMode="white">
          <a:xfrm>
            <a:off x="0" y="1524000"/>
            <a:ext cx="9144000" cy="114300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>
              <a:latin typeface="메이플스토리" panose="02000300000000000000" pitchFamily="2" charset="-127"/>
            </a:endParaRPr>
          </a:p>
        </p:txBody>
      </p:sp>
      <p:sp>
        <p:nvSpPr>
          <p:cNvPr id="8" name="직사각형 7"/>
          <p:cNvSpPr/>
          <p:nvPr/>
        </p:nvSpPr>
        <p:spPr>
          <a:xfrm>
            <a:off x="0" y="1600200"/>
            <a:ext cx="1295400" cy="990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>
              <a:latin typeface="메이플스토리" panose="02000300000000000000" pitchFamily="2" charset="-127"/>
            </a:endParaRPr>
          </a:p>
        </p:txBody>
      </p:sp>
      <p:sp>
        <p:nvSpPr>
          <p:cNvPr id="9" name="직사각형 8"/>
          <p:cNvSpPr/>
          <p:nvPr/>
        </p:nvSpPr>
        <p:spPr>
          <a:xfrm>
            <a:off x="1371600" y="1600200"/>
            <a:ext cx="7772400" cy="990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>
              <a:latin typeface="메이플스토리" panose="02000300000000000000" pitchFamily="2" charset="-127"/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71600" y="1600200"/>
            <a:ext cx="7620000" cy="990600"/>
          </a:xfrm>
        </p:spPr>
        <p:txBody>
          <a:bodyPr/>
          <a:lstStyle>
            <a:lvl1pPr algn="l">
              <a:buNone/>
              <a:defRPr sz="4400" b="0" cap="none">
                <a:solidFill>
                  <a:srgbClr val="FFFFFF"/>
                </a:solidFill>
              </a:defRPr>
            </a:lvl1pPr>
          </a:lstStyle>
          <a:p>
            <a:r>
              <a:rPr kumimoji="0" lang="ko-KR" altLang="en-US"/>
              <a:t>마스터 제목 스타일 편집</a:t>
            </a:r>
            <a:endParaRPr kumimoji="0" lang="en-US"/>
          </a:p>
        </p:txBody>
      </p:sp>
      <p:sp>
        <p:nvSpPr>
          <p:cNvPr id="13" name="슬라이드 번호 개체 틀 12"/>
          <p:cNvSpPr>
            <a:spLocks noGrp="1"/>
          </p:cNvSpPr>
          <p:nvPr>
            <p:ph type="sldNum" sz="quarter" idx="11"/>
          </p:nvPr>
        </p:nvSpPr>
        <p:spPr>
          <a:xfrm>
            <a:off x="0" y="1752600"/>
            <a:ext cx="1295400" cy="701676"/>
          </a:xfrm>
        </p:spPr>
        <p:txBody>
          <a:bodyPr>
            <a:no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fld id="{01870596-DAFA-46D2-82A7-2B6B5F8E0EA4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ko-KR" altLang="en-US"/>
              <a:t>마스터 제목 스타일 편집</a:t>
            </a:r>
            <a:endParaRPr kumimoji="0" lang="en-US"/>
          </a:p>
        </p:txBody>
      </p:sp>
      <p:sp>
        <p:nvSpPr>
          <p:cNvPr id="9" name="내용 개체 틀 8"/>
          <p:cNvSpPr>
            <a:spLocks noGrp="1"/>
          </p:cNvSpPr>
          <p:nvPr>
            <p:ph sz="quarter" idx="1"/>
          </p:nvPr>
        </p:nvSpPr>
        <p:spPr>
          <a:xfrm>
            <a:off x="609600" y="1589567"/>
            <a:ext cx="3886200" cy="4572000"/>
          </a:xfrm>
        </p:spPr>
        <p:txBody>
          <a:bodyPr/>
          <a:lstStyle/>
          <a:p>
            <a:pPr lvl="0" eaLnBrk="1" latinLnBrk="0" hangingPunct="1"/>
            <a:r>
              <a:rPr lang="ko-KR" altLang="en-US"/>
              <a:t>마스터 텍스트 스타일을 편집합니다</a:t>
            </a:r>
          </a:p>
          <a:p>
            <a:pPr lvl="1" eaLnBrk="1" latinLnBrk="0" hangingPunct="1"/>
            <a:r>
              <a:rPr lang="ko-KR" altLang="en-US"/>
              <a:t>둘째 수준</a:t>
            </a:r>
          </a:p>
          <a:p>
            <a:pPr lvl="2" eaLnBrk="1" latinLnBrk="0" hangingPunct="1"/>
            <a:r>
              <a:rPr lang="ko-KR" altLang="en-US"/>
              <a:t>셋째 수준</a:t>
            </a:r>
          </a:p>
          <a:p>
            <a:pPr lvl="3" eaLnBrk="1" latinLnBrk="0" hangingPunct="1"/>
            <a:r>
              <a:rPr lang="ko-KR" altLang="en-US"/>
              <a:t>넷째 수준</a:t>
            </a:r>
          </a:p>
          <a:p>
            <a:pPr lvl="4" eaLnBrk="1" latinLnBrk="0" hangingPunct="1"/>
            <a:r>
              <a:rPr lang="ko-KR" altLang="en-US"/>
              <a:t>다섯째 수준</a:t>
            </a:r>
            <a:endParaRPr kumimoji="0" lang="en-US"/>
          </a:p>
        </p:txBody>
      </p:sp>
      <p:sp>
        <p:nvSpPr>
          <p:cNvPr id="11" name="내용 개체 틀 10"/>
          <p:cNvSpPr>
            <a:spLocks noGrp="1"/>
          </p:cNvSpPr>
          <p:nvPr>
            <p:ph sz="quarter" idx="2"/>
          </p:nvPr>
        </p:nvSpPr>
        <p:spPr>
          <a:xfrm>
            <a:off x="4844901" y="1589567"/>
            <a:ext cx="3886200" cy="4572000"/>
          </a:xfrm>
        </p:spPr>
        <p:txBody>
          <a:bodyPr/>
          <a:lstStyle/>
          <a:p>
            <a:pPr lvl="0" eaLnBrk="1" latinLnBrk="0" hangingPunct="1"/>
            <a:r>
              <a:rPr lang="ko-KR" altLang="en-US"/>
              <a:t>마스터 텍스트 스타일을 편집합니다</a:t>
            </a:r>
          </a:p>
          <a:p>
            <a:pPr lvl="1" eaLnBrk="1" latinLnBrk="0" hangingPunct="1"/>
            <a:r>
              <a:rPr lang="ko-KR" altLang="en-US"/>
              <a:t>둘째 수준</a:t>
            </a:r>
          </a:p>
          <a:p>
            <a:pPr lvl="2" eaLnBrk="1" latinLnBrk="0" hangingPunct="1"/>
            <a:r>
              <a:rPr lang="ko-KR" altLang="en-US"/>
              <a:t>셋째 수준</a:t>
            </a:r>
          </a:p>
          <a:p>
            <a:pPr lvl="3" eaLnBrk="1" latinLnBrk="0" hangingPunct="1"/>
            <a:r>
              <a:rPr lang="ko-KR" altLang="en-US"/>
              <a:t>넷째 수준</a:t>
            </a:r>
          </a:p>
          <a:p>
            <a:pPr lvl="4" eaLnBrk="1" latinLnBrk="0" hangingPunct="1"/>
            <a:r>
              <a:rPr lang="ko-KR" altLang="en-US"/>
              <a:t>다섯째 수준</a:t>
            </a:r>
            <a:endParaRPr kumimoji="0" lang="en-US"/>
          </a:p>
        </p:txBody>
      </p:sp>
      <p:sp>
        <p:nvSpPr>
          <p:cNvPr id="8" name="날짜 개체 틀 7"/>
          <p:cNvSpPr>
            <a:spLocks noGrp="1"/>
          </p:cNvSpPr>
          <p:nvPr>
            <p:ph type="dt" sz="half" idx="15"/>
          </p:nvPr>
        </p:nvSpPr>
        <p:spPr>
          <a:xfrm>
            <a:off x="6096000" y="6248400"/>
            <a:ext cx="2667000" cy="365125"/>
          </a:xfrm>
          <a:prstGeom prst="rect">
            <a:avLst/>
          </a:prstGeom>
        </p:spPr>
        <p:txBody>
          <a:bodyPr rtlCol="0"/>
          <a:lstStyle>
            <a:lvl1pPr>
              <a:defRPr>
                <a:latin typeface="메이플스토리" panose="02000300000000000000" pitchFamily="2" charset="-127"/>
                <a:ea typeface="메이플스토리" panose="02000300000000000000" pitchFamily="2" charset="-127"/>
              </a:defRPr>
            </a:lvl1pPr>
          </a:lstStyle>
          <a:p>
            <a:fld id="{B31271CA-DFBA-4144-9186-0BE3AC6EE4B1}" type="datetime1">
              <a:rPr lang="ko-KR" altLang="en-US" smtClean="0"/>
              <a:pPr/>
              <a:t>2023-11-19</a:t>
            </a:fld>
            <a:endParaRPr lang="ko-KR" altLang="en-US" dirty="0"/>
          </a:p>
        </p:txBody>
      </p:sp>
      <p:sp>
        <p:nvSpPr>
          <p:cNvPr id="10" name="슬라이드 번호 개체 틀 9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fld id="{01870596-DAFA-46D2-82A7-2B6B5F8E0EA4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12" name="바닥글 개체 틀 11"/>
          <p:cNvSpPr>
            <a:spLocks noGrp="1"/>
          </p:cNvSpPr>
          <p:nvPr>
            <p:ph type="ftr" sz="quarter" idx="17"/>
          </p:nvPr>
        </p:nvSpPr>
        <p:spPr>
          <a:xfrm>
            <a:off x="609600" y="6248206"/>
            <a:ext cx="5421083" cy="365125"/>
          </a:xfrm>
          <a:prstGeom prst="rect">
            <a:avLst/>
          </a:prstGeom>
        </p:spPr>
        <p:txBody>
          <a:bodyPr rtlCol="0"/>
          <a:lstStyle/>
          <a:p>
            <a:r>
              <a:rPr lang="ko-KR" altLang="en-US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명품 </a:t>
            </a:r>
            <a:r>
              <a:rPr lang="en-US" altLang="ko-KR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Java Programming</a:t>
            </a:r>
            <a:endParaRPr lang="ko-KR" altLang="en-US" dirty="0">
              <a:latin typeface="메이플스토리" panose="02000300000000000000" pitchFamily="2" charset="-127"/>
              <a:ea typeface="메이플스토리" panose="02000300000000000000" pitchFamily="2" charset="-127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33400" y="273050"/>
            <a:ext cx="8153400" cy="86995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ko-KR" altLang="en-US"/>
              <a:t>마스터 제목 스타일 편집</a:t>
            </a:r>
            <a:endParaRPr kumimoji="0" lang="en-US"/>
          </a:p>
        </p:txBody>
      </p:sp>
      <p:sp>
        <p:nvSpPr>
          <p:cNvPr id="11" name="내용 개체 틀 10"/>
          <p:cNvSpPr>
            <a:spLocks noGrp="1"/>
          </p:cNvSpPr>
          <p:nvPr>
            <p:ph sz="quarter" idx="2"/>
          </p:nvPr>
        </p:nvSpPr>
        <p:spPr>
          <a:xfrm>
            <a:off x="609600" y="2438400"/>
            <a:ext cx="3886200" cy="3581400"/>
          </a:xfrm>
        </p:spPr>
        <p:txBody>
          <a:bodyPr/>
          <a:lstStyle/>
          <a:p>
            <a:pPr lvl="0" eaLnBrk="1" latinLnBrk="0" hangingPunct="1"/>
            <a:r>
              <a:rPr lang="ko-KR" altLang="en-US"/>
              <a:t>마스터 텍스트 스타일을 편집합니다</a:t>
            </a:r>
          </a:p>
          <a:p>
            <a:pPr lvl="1" eaLnBrk="1" latinLnBrk="0" hangingPunct="1"/>
            <a:r>
              <a:rPr lang="ko-KR" altLang="en-US"/>
              <a:t>둘째 수준</a:t>
            </a:r>
          </a:p>
          <a:p>
            <a:pPr lvl="2" eaLnBrk="1" latinLnBrk="0" hangingPunct="1"/>
            <a:r>
              <a:rPr lang="ko-KR" altLang="en-US"/>
              <a:t>셋째 수준</a:t>
            </a:r>
          </a:p>
          <a:p>
            <a:pPr lvl="3" eaLnBrk="1" latinLnBrk="0" hangingPunct="1"/>
            <a:r>
              <a:rPr lang="ko-KR" altLang="en-US"/>
              <a:t>넷째 수준</a:t>
            </a:r>
          </a:p>
          <a:p>
            <a:pPr lvl="4" eaLnBrk="1" latinLnBrk="0" hangingPunct="1"/>
            <a:r>
              <a:rPr lang="ko-KR" altLang="en-US"/>
              <a:t>다섯째 수준</a:t>
            </a:r>
            <a:endParaRPr kumimoji="0" lang="en-US"/>
          </a:p>
        </p:txBody>
      </p:sp>
      <p:sp>
        <p:nvSpPr>
          <p:cNvPr id="13" name="내용 개체 틀 12"/>
          <p:cNvSpPr>
            <a:spLocks noGrp="1"/>
          </p:cNvSpPr>
          <p:nvPr>
            <p:ph sz="quarter" idx="4"/>
          </p:nvPr>
        </p:nvSpPr>
        <p:spPr>
          <a:xfrm>
            <a:off x="4800600" y="2438400"/>
            <a:ext cx="3886200" cy="3581400"/>
          </a:xfrm>
        </p:spPr>
        <p:txBody>
          <a:bodyPr/>
          <a:lstStyle/>
          <a:p>
            <a:pPr lvl="0" eaLnBrk="1" latinLnBrk="0" hangingPunct="1"/>
            <a:r>
              <a:rPr lang="ko-KR" altLang="en-US"/>
              <a:t>마스터 텍스트 스타일을 편집합니다</a:t>
            </a:r>
          </a:p>
          <a:p>
            <a:pPr lvl="1" eaLnBrk="1" latinLnBrk="0" hangingPunct="1"/>
            <a:r>
              <a:rPr lang="ko-KR" altLang="en-US"/>
              <a:t>둘째 수준</a:t>
            </a:r>
          </a:p>
          <a:p>
            <a:pPr lvl="2" eaLnBrk="1" latinLnBrk="0" hangingPunct="1"/>
            <a:r>
              <a:rPr lang="ko-KR" altLang="en-US"/>
              <a:t>셋째 수준</a:t>
            </a:r>
          </a:p>
          <a:p>
            <a:pPr lvl="3" eaLnBrk="1" latinLnBrk="0" hangingPunct="1"/>
            <a:r>
              <a:rPr lang="ko-KR" altLang="en-US"/>
              <a:t>넷째 수준</a:t>
            </a:r>
          </a:p>
          <a:p>
            <a:pPr lvl="4" eaLnBrk="1" latinLnBrk="0" hangingPunct="1"/>
            <a:r>
              <a:rPr lang="ko-KR" altLang="en-US"/>
              <a:t>다섯째 수준</a:t>
            </a:r>
            <a:endParaRPr kumimoji="0" lang="en-US"/>
          </a:p>
        </p:txBody>
      </p:sp>
      <p:sp>
        <p:nvSpPr>
          <p:cNvPr id="12" name="슬라이드 번호 개체 틀 11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fld id="{01870596-DAFA-46D2-82A7-2B6B5F8E0EA4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16" name="텍스트 개체 틀 15"/>
          <p:cNvSpPr>
            <a:spLocks noGrp="1"/>
          </p:cNvSpPr>
          <p:nvPr>
            <p:ph type="body" sz="quarter" idx="1"/>
          </p:nvPr>
        </p:nvSpPr>
        <p:spPr>
          <a:xfrm>
            <a:off x="609600" y="1752600"/>
            <a:ext cx="3886200" cy="640080"/>
          </a:xfrm>
          <a:solidFill>
            <a:schemeClr val="accent2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ko-KR" altLang="en-US"/>
              <a:t>마스터 텍스트 스타일을 편집합니다</a:t>
            </a:r>
          </a:p>
        </p:txBody>
      </p:sp>
      <p:sp>
        <p:nvSpPr>
          <p:cNvPr id="15" name="텍스트 개체 틀 14"/>
          <p:cNvSpPr>
            <a:spLocks noGrp="1"/>
          </p:cNvSpPr>
          <p:nvPr>
            <p:ph type="body" sz="quarter" idx="3"/>
          </p:nvPr>
        </p:nvSpPr>
        <p:spPr>
          <a:xfrm>
            <a:off x="4800600" y="1752600"/>
            <a:ext cx="3886200" cy="640080"/>
          </a:xfrm>
          <a:solidFill>
            <a:schemeClr val="accent4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ko-KR" altLang="en-US"/>
              <a:t>마스터 텍스트 스타일을 편집합니다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ko-KR" altLang="en-US"/>
              <a:t>마스터 제목 스타일 편집</a:t>
            </a:r>
            <a:endParaRPr kumimoji="0" 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01870596-DAFA-46D2-82A7-2B6B5F8E0EA4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0" y="6248400"/>
            <a:ext cx="5334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01870596-DAFA-46D2-82A7-2B6B5F8E0EA4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8077200" cy="869950"/>
          </a:xfrm>
        </p:spPr>
        <p:txBody>
          <a:bodyPr anchor="ctr"/>
          <a:lstStyle>
            <a:lvl1pPr algn="l">
              <a:buNone/>
              <a:defRPr sz="4400" b="0"/>
            </a:lvl1pPr>
          </a:lstStyle>
          <a:p>
            <a:r>
              <a:rPr kumimoji="0" lang="ko-KR" altLang="en-US"/>
              <a:t>마스터 제목 스타일 편집</a:t>
            </a:r>
            <a:endParaRPr kumimoji="0" 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6096000" y="6248400"/>
            <a:ext cx="26670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메이플스토리" panose="02000300000000000000" pitchFamily="2" charset="-127"/>
                <a:ea typeface="메이플스토리" panose="02000300000000000000" pitchFamily="2" charset="-127"/>
              </a:defRPr>
            </a:lvl1pPr>
          </a:lstStyle>
          <a:p>
            <a:fld id="{F87F4F71-3D90-4F92-8CFE-D11B433509C0}" type="datetime1">
              <a:rPr lang="ko-KR" altLang="en-US" smtClean="0"/>
              <a:pPr/>
              <a:t>2023-11-19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609600" y="6248206"/>
            <a:ext cx="5421083" cy="365125"/>
          </a:xfrm>
          <a:prstGeom prst="rect">
            <a:avLst/>
          </a:prstGeom>
        </p:spPr>
        <p:txBody>
          <a:bodyPr/>
          <a:lstStyle/>
          <a:p>
            <a:r>
              <a:rPr lang="ko-KR" altLang="en-US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명품 </a:t>
            </a:r>
            <a:r>
              <a:rPr lang="en-US" altLang="ko-KR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Java Programming</a:t>
            </a:r>
            <a:endParaRPr lang="ko-KR" altLang="en-US" dirty="0">
              <a:latin typeface="메이플스토리" panose="02000300000000000000" pitchFamily="2" charset="-127"/>
              <a:ea typeface="메이플스토리" panose="02000300000000000000" pitchFamily="2" charset="-127"/>
            </a:endParaRPr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01870596-DAFA-46D2-82A7-2B6B5F8E0EA4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2"/>
          </p:nvPr>
        </p:nvSpPr>
        <p:spPr>
          <a:xfrm>
            <a:off x="609600" y="1752600"/>
            <a:ext cx="1600200" cy="4343400"/>
          </a:xfrm>
          <a:ln w="50800" cap="sq" cmpd="dbl" algn="ctr">
            <a:solidFill>
              <a:schemeClr val="accent2"/>
            </a:solidFill>
            <a:prstDash val="solid"/>
            <a:miter lim="800000"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lIns="137160" tIns="182880" rIns="137160" bIns="91440"/>
          <a:lstStyle>
            <a:lvl1pPr marL="0" indent="0">
              <a:spcAft>
                <a:spcPts val="1000"/>
              </a:spcAft>
              <a:buNone/>
              <a:defRPr sz="1800">
                <a:latin typeface="메이플스토리" panose="02000300000000000000" pitchFamily="2" charset="-127"/>
                <a:ea typeface="메이플스토리" panose="02000300000000000000" pitchFamily="2" charset="-127"/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ko-KR" altLang="en-US" dirty="0"/>
              <a:t>마스터 텍스트 스타일을 편집합니다</a:t>
            </a:r>
          </a:p>
        </p:txBody>
      </p:sp>
      <p:sp>
        <p:nvSpPr>
          <p:cNvPr id="9" name="내용 개체 틀 8"/>
          <p:cNvSpPr>
            <a:spLocks noGrp="1"/>
          </p:cNvSpPr>
          <p:nvPr>
            <p:ph sz="quarter" idx="1"/>
          </p:nvPr>
        </p:nvSpPr>
        <p:spPr>
          <a:xfrm>
            <a:off x="2362200" y="1752600"/>
            <a:ext cx="6400800" cy="4419600"/>
          </a:xfrm>
        </p:spPr>
        <p:txBody>
          <a:bodyPr/>
          <a:lstStyle/>
          <a:p>
            <a:pPr lvl="0" eaLnBrk="1" latinLnBrk="0" hangingPunct="1"/>
            <a:r>
              <a:rPr lang="ko-KR" altLang="en-US"/>
              <a:t>마스터 텍스트 스타일을 편집합니다</a:t>
            </a:r>
          </a:p>
          <a:p>
            <a:pPr lvl="1" eaLnBrk="1" latinLnBrk="0" hangingPunct="1"/>
            <a:r>
              <a:rPr lang="ko-KR" altLang="en-US"/>
              <a:t>둘째 수준</a:t>
            </a:r>
          </a:p>
          <a:p>
            <a:pPr lvl="2" eaLnBrk="1" latinLnBrk="0" hangingPunct="1"/>
            <a:r>
              <a:rPr lang="ko-KR" altLang="en-US"/>
              <a:t>셋째 수준</a:t>
            </a:r>
          </a:p>
          <a:p>
            <a:pPr lvl="3" eaLnBrk="1" latinLnBrk="0" hangingPunct="1"/>
            <a:r>
              <a:rPr lang="ko-KR" altLang="en-US"/>
              <a:t>넷째 수준</a:t>
            </a:r>
          </a:p>
          <a:p>
            <a:pPr lvl="4" eaLnBrk="1" latinLnBrk="0" hangingPunct="1"/>
            <a:r>
              <a:rPr lang="ko-KR" altLang="en-US"/>
              <a:t>다섯째 수준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캡션 있는 그림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600200" y="5486400"/>
            <a:ext cx="7315200" cy="685800"/>
          </a:xfrm>
        </p:spPr>
        <p:txBody>
          <a:bodyPr/>
          <a:lstStyle>
            <a:lvl1pPr marL="0" indent="0">
              <a:buFontTx/>
              <a:buNone/>
              <a:defRPr sz="17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ko-KR" altLang="en-US"/>
              <a:t>마스터 텍스트 스타일을 편집합니다</a:t>
            </a:r>
          </a:p>
        </p:txBody>
      </p:sp>
      <p:sp>
        <p:nvSpPr>
          <p:cNvPr id="8" name="직사각형 7"/>
          <p:cNvSpPr/>
          <p:nvPr/>
        </p:nvSpPr>
        <p:spPr bwMode="white">
          <a:xfrm>
            <a:off x="-9144" y="4572000"/>
            <a:ext cx="9144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>
              <a:latin typeface="메이플스토리" panose="02000300000000000000" pitchFamily="2" charset="-127"/>
            </a:endParaRPr>
          </a:p>
        </p:txBody>
      </p:sp>
      <p:sp>
        <p:nvSpPr>
          <p:cNvPr id="9" name="직사각형 8"/>
          <p:cNvSpPr/>
          <p:nvPr/>
        </p:nvSpPr>
        <p:spPr>
          <a:xfrm>
            <a:off x="-9144" y="4663440"/>
            <a:ext cx="1463040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>
              <a:latin typeface="메이플스토리" panose="02000300000000000000" pitchFamily="2" charset="-127"/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1545336" y="4654296"/>
            <a:ext cx="7598664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>
              <a:latin typeface="메이플스토리" panose="02000300000000000000" pitchFamily="2" charset="-127"/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600200" y="4648200"/>
            <a:ext cx="7315200" cy="685800"/>
          </a:xfrm>
        </p:spPr>
        <p:txBody>
          <a:bodyPr anchor="ctr"/>
          <a:lstStyle>
            <a:lvl1pPr algn="l">
              <a:buNone/>
              <a:defRPr sz="2800" b="0">
                <a:solidFill>
                  <a:srgbClr val="FFFFFF"/>
                </a:solidFill>
              </a:defRPr>
            </a:lvl1pPr>
          </a:lstStyle>
          <a:p>
            <a:r>
              <a:rPr kumimoji="0" lang="ko-KR" altLang="en-US"/>
              <a:t>마스터 제목 스타일 편집</a:t>
            </a:r>
            <a:endParaRPr kumimoji="0" lang="en-US"/>
          </a:p>
        </p:txBody>
      </p:sp>
      <p:sp>
        <p:nvSpPr>
          <p:cNvPr id="11" name="직사각형 10"/>
          <p:cNvSpPr/>
          <p:nvPr/>
        </p:nvSpPr>
        <p:spPr bwMode="white">
          <a:xfrm>
            <a:off x="1447800" y="0"/>
            <a:ext cx="100584" cy="6867144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>
              <a:latin typeface="메이플스토리" panose="02000300000000000000" pitchFamily="2" charset="-127"/>
            </a:endParaRPr>
          </a:p>
        </p:txBody>
      </p:sp>
      <p:sp>
        <p:nvSpPr>
          <p:cNvPr id="12" name="날짜 개체 틀 11"/>
          <p:cNvSpPr>
            <a:spLocks noGrp="1"/>
          </p:cNvSpPr>
          <p:nvPr>
            <p:ph type="dt" sz="half" idx="10"/>
          </p:nvPr>
        </p:nvSpPr>
        <p:spPr>
          <a:xfrm>
            <a:off x="6248400" y="6248400"/>
            <a:ext cx="2667000" cy="365125"/>
          </a:xfrm>
          <a:prstGeom prst="rect">
            <a:avLst/>
          </a:prstGeom>
        </p:spPr>
        <p:txBody>
          <a:bodyPr rtlCol="0"/>
          <a:lstStyle>
            <a:lvl1pPr>
              <a:defRPr>
                <a:latin typeface="메이플스토리" panose="02000300000000000000" pitchFamily="2" charset="-127"/>
                <a:ea typeface="메이플스토리" panose="02000300000000000000" pitchFamily="2" charset="-127"/>
              </a:defRPr>
            </a:lvl1pPr>
          </a:lstStyle>
          <a:p>
            <a:fld id="{D200F4F1-024E-465C-B59D-A4FFBC6118A5}" type="datetime1">
              <a:rPr lang="ko-KR" altLang="en-US" smtClean="0"/>
              <a:pPr/>
              <a:t>2023-11-19</a:t>
            </a:fld>
            <a:endParaRPr lang="ko-KR" altLang="en-US" dirty="0"/>
          </a:p>
        </p:txBody>
      </p:sp>
      <p:sp>
        <p:nvSpPr>
          <p:cNvPr id="13" name="슬라이드 번호 개체 틀 12"/>
          <p:cNvSpPr>
            <a:spLocks noGrp="1"/>
          </p:cNvSpPr>
          <p:nvPr>
            <p:ph type="sldNum" sz="quarter" idx="11"/>
          </p:nvPr>
        </p:nvSpPr>
        <p:spPr>
          <a:xfrm>
            <a:off x="0" y="4667249"/>
            <a:ext cx="1447800" cy="663578"/>
          </a:xfrm>
        </p:spPr>
        <p:txBody>
          <a:bodyPr rtlCol="0"/>
          <a:lstStyle>
            <a:lvl1pPr>
              <a:defRPr sz="2800"/>
            </a:lvl1pPr>
          </a:lstStyle>
          <a:p>
            <a:fld id="{01870596-DAFA-46D2-82A7-2B6B5F8E0EA4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14" name="바닥글 개체 틀 13"/>
          <p:cNvSpPr>
            <a:spLocks noGrp="1"/>
          </p:cNvSpPr>
          <p:nvPr>
            <p:ph type="ftr" sz="quarter" idx="12"/>
          </p:nvPr>
        </p:nvSpPr>
        <p:spPr>
          <a:xfrm>
            <a:off x="1600200" y="6248206"/>
            <a:ext cx="4572000" cy="365125"/>
          </a:xfrm>
          <a:prstGeom prst="rect">
            <a:avLst/>
          </a:prstGeom>
        </p:spPr>
        <p:txBody>
          <a:bodyPr rtlCol="0"/>
          <a:lstStyle/>
          <a:p>
            <a:r>
              <a:rPr lang="ko-KR" altLang="en-US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명품 </a:t>
            </a:r>
            <a:r>
              <a:rPr lang="en-US" altLang="ko-KR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Java Programming</a:t>
            </a:r>
            <a:endParaRPr lang="ko-KR" altLang="en-US" dirty="0">
              <a:latin typeface="메이플스토리" panose="02000300000000000000" pitchFamily="2" charset="-127"/>
              <a:ea typeface="메이플스토리" panose="02000300000000000000" pitchFamily="2" charset="-127"/>
            </a:endParaRP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560576" y="0"/>
            <a:ext cx="7583424" cy="4568952"/>
          </a:xfrm>
          <a:solidFill>
            <a:schemeClr val="accent1">
              <a:tint val="40000"/>
            </a:schemeClr>
          </a:solidFill>
          <a:ln>
            <a:noFill/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ko-KR" altLang="en-US"/>
              <a:t>그림을 추가하려면 아이콘을 클릭하십시오</a:t>
            </a:r>
            <a:endParaRPr kumimoji="0"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ko-KR" altLang="en-US"/>
              <a:t>마스터 제목 스타일 편집</a:t>
            </a:r>
            <a:endParaRPr kumimoji="0" 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ko-KR" altLang="en-US"/>
              <a:t>마스터 텍스트 스타일을 편집합니다</a:t>
            </a:r>
          </a:p>
          <a:p>
            <a:pPr lvl="1" eaLnBrk="1" latinLnBrk="0" hangingPunct="1"/>
            <a:r>
              <a:rPr lang="ko-KR" altLang="en-US"/>
              <a:t>둘째 수준</a:t>
            </a:r>
          </a:p>
          <a:p>
            <a:pPr lvl="2" eaLnBrk="1" latinLnBrk="0" hangingPunct="1"/>
            <a:r>
              <a:rPr lang="ko-KR" altLang="en-US"/>
              <a:t>셋째 수준</a:t>
            </a:r>
          </a:p>
          <a:p>
            <a:pPr lvl="3" eaLnBrk="1" latinLnBrk="0" hangingPunct="1"/>
            <a:r>
              <a:rPr lang="ko-KR" altLang="en-US"/>
              <a:t>넷째 수준</a:t>
            </a:r>
          </a:p>
          <a:p>
            <a:pPr lvl="4" eaLnBrk="1" latinLnBrk="0" hangingPunct="1"/>
            <a:r>
              <a:rPr lang="ko-KR" altLang="en-US"/>
              <a:t>다섯째 수준</a:t>
            </a:r>
            <a:endParaRPr kumimoji="0" 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6096000" y="6248400"/>
            <a:ext cx="26670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메이플스토리" panose="02000300000000000000" pitchFamily="2" charset="-127"/>
                <a:ea typeface="메이플스토리" panose="02000300000000000000" pitchFamily="2" charset="-127"/>
              </a:defRPr>
            </a:lvl1pPr>
          </a:lstStyle>
          <a:p>
            <a:fld id="{3CF3B71A-966A-471E-8596-7D1D6A8996FF}" type="datetime1">
              <a:rPr lang="ko-KR" altLang="en-US" smtClean="0"/>
              <a:pPr/>
              <a:t>2023-11-19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609600" y="6248206"/>
            <a:ext cx="5421083" cy="365125"/>
          </a:xfrm>
          <a:prstGeom prst="rect">
            <a:avLst/>
          </a:prstGeom>
        </p:spPr>
        <p:txBody>
          <a:bodyPr/>
          <a:lstStyle/>
          <a:p>
            <a:r>
              <a:rPr lang="ko-KR" altLang="en-US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명품 </a:t>
            </a:r>
            <a:r>
              <a:rPr lang="en-US" altLang="ko-KR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Java Programming</a:t>
            </a:r>
            <a:endParaRPr lang="ko-KR" altLang="en-US" dirty="0">
              <a:latin typeface="메이플스토리" panose="02000300000000000000" pitchFamily="2" charset="-127"/>
              <a:ea typeface="메이플스토리" panose="02000300000000000000" pitchFamily="2" charset="-127"/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870596-DAFA-46D2-82A7-2B6B5F8E0EA4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세로 제목 및 텍스트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553200" y="609600"/>
            <a:ext cx="2057400" cy="5516563"/>
          </a:xfrm>
        </p:spPr>
        <p:txBody>
          <a:bodyPr vert="eaVert"/>
          <a:lstStyle/>
          <a:p>
            <a:r>
              <a:rPr kumimoji="0" lang="ko-KR" altLang="en-US"/>
              <a:t>마스터 제목 스타일 편집</a:t>
            </a:r>
            <a:endParaRPr kumimoji="0" 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5562600" cy="5516564"/>
          </a:xfrm>
        </p:spPr>
        <p:txBody>
          <a:bodyPr vert="eaVert"/>
          <a:lstStyle/>
          <a:p>
            <a:pPr lvl="0" eaLnBrk="1" latinLnBrk="0" hangingPunct="1"/>
            <a:r>
              <a:rPr lang="ko-KR" altLang="en-US"/>
              <a:t>마스터 텍스트 스타일을 편집합니다</a:t>
            </a:r>
          </a:p>
          <a:p>
            <a:pPr lvl="1" eaLnBrk="1" latinLnBrk="0" hangingPunct="1"/>
            <a:r>
              <a:rPr lang="ko-KR" altLang="en-US"/>
              <a:t>둘째 수준</a:t>
            </a:r>
          </a:p>
          <a:p>
            <a:pPr lvl="2" eaLnBrk="1" latinLnBrk="0" hangingPunct="1"/>
            <a:r>
              <a:rPr lang="ko-KR" altLang="en-US"/>
              <a:t>셋째 수준</a:t>
            </a:r>
          </a:p>
          <a:p>
            <a:pPr lvl="3" eaLnBrk="1" latinLnBrk="0" hangingPunct="1"/>
            <a:r>
              <a:rPr lang="ko-KR" altLang="en-US"/>
              <a:t>넷째 수준</a:t>
            </a:r>
          </a:p>
          <a:p>
            <a:pPr lvl="4" eaLnBrk="1" latinLnBrk="0" hangingPunct="1"/>
            <a:r>
              <a:rPr lang="ko-KR" altLang="en-US"/>
              <a:t>다섯째 수준</a:t>
            </a:r>
            <a:endParaRPr kumimoji="0" 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6553200" y="6248402"/>
            <a:ext cx="22098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메이플스토리" panose="02000300000000000000" pitchFamily="2" charset="-127"/>
                <a:ea typeface="메이플스토리" panose="02000300000000000000" pitchFamily="2" charset="-127"/>
              </a:defRPr>
            </a:lvl1pPr>
          </a:lstStyle>
          <a:p>
            <a:fld id="{AD64A7B2-A2B0-4C9D-895B-FE1D68BE16F8}" type="datetime1">
              <a:rPr lang="ko-KR" altLang="en-US" smtClean="0"/>
              <a:pPr/>
              <a:t>2023-11-19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457201" y="6248207"/>
            <a:ext cx="5573483" cy="365125"/>
          </a:xfrm>
          <a:prstGeom prst="rect">
            <a:avLst/>
          </a:prstGeom>
        </p:spPr>
        <p:txBody>
          <a:bodyPr/>
          <a:lstStyle/>
          <a:p>
            <a:r>
              <a:rPr lang="ko-KR" altLang="en-US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명품 </a:t>
            </a:r>
            <a:r>
              <a:rPr lang="en-US" altLang="ko-KR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Java Programming</a:t>
            </a:r>
            <a:endParaRPr lang="ko-KR" altLang="en-US" dirty="0">
              <a:latin typeface="메이플스토리" panose="02000300000000000000" pitchFamily="2" charset="-127"/>
              <a:ea typeface="메이플스토리" panose="02000300000000000000" pitchFamily="2" charset="-127"/>
            </a:endParaRPr>
          </a:p>
        </p:txBody>
      </p:sp>
      <p:sp>
        <p:nvSpPr>
          <p:cNvPr id="7" name="직사각형 6"/>
          <p:cNvSpPr/>
          <p:nvPr/>
        </p:nvSpPr>
        <p:spPr bwMode="white">
          <a:xfrm>
            <a:off x="6096318" y="0"/>
            <a:ext cx="320040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 dirty="0">
              <a:latin typeface="메이플스토리" panose="02000300000000000000" pitchFamily="2" charset="-127"/>
            </a:endParaRPr>
          </a:p>
        </p:txBody>
      </p:sp>
      <p:sp>
        <p:nvSpPr>
          <p:cNvPr id="8" name="직사각형 7"/>
          <p:cNvSpPr/>
          <p:nvPr/>
        </p:nvSpPr>
        <p:spPr>
          <a:xfrm>
            <a:off x="6142038" y="609600"/>
            <a:ext cx="228600" cy="6248400"/>
          </a:xfrm>
          <a:prstGeom prst="rect">
            <a:avLst/>
          </a:prstGeom>
          <a:solidFill>
            <a:schemeClr val="accent1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 dirty="0">
              <a:latin typeface="메이플스토리" panose="02000300000000000000" pitchFamily="2" charset="-127"/>
            </a:endParaRPr>
          </a:p>
        </p:txBody>
      </p:sp>
      <p:sp>
        <p:nvSpPr>
          <p:cNvPr id="9" name="직사각형 8"/>
          <p:cNvSpPr/>
          <p:nvPr/>
        </p:nvSpPr>
        <p:spPr>
          <a:xfrm>
            <a:off x="6142038" y="0"/>
            <a:ext cx="228600" cy="533400"/>
          </a:xfrm>
          <a:prstGeom prst="rect">
            <a:avLst/>
          </a:prstGeom>
          <a:solidFill>
            <a:schemeClr val="accent2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 dirty="0">
              <a:latin typeface="메이플스토리" panose="02000300000000000000" pitchFamily="2" charset="-127"/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 rot="5400000">
            <a:off x="5989638" y="144462"/>
            <a:ext cx="533400" cy="244476"/>
          </a:xfrm>
        </p:spPr>
        <p:txBody>
          <a:bodyPr/>
          <a:lstStyle/>
          <a:p>
            <a:fld id="{01870596-DAFA-46D2-82A7-2B6B5F8E0EA4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제목 개체 틀 21"/>
          <p:cNvSpPr>
            <a:spLocks noGrp="1"/>
          </p:cNvSpPr>
          <p:nvPr>
            <p:ph type="title"/>
          </p:nvPr>
        </p:nvSpPr>
        <p:spPr>
          <a:xfrm>
            <a:off x="609600" y="228600"/>
            <a:ext cx="8153400" cy="752128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ko-KR" altLang="en-US" dirty="0"/>
              <a:t>마스터 제목 스타일 편집</a:t>
            </a:r>
            <a:endParaRPr kumimoji="0" lang="en-US" dirty="0"/>
          </a:p>
        </p:txBody>
      </p:sp>
      <p:sp>
        <p:nvSpPr>
          <p:cNvPr id="13" name="텍스트 개체 틀 12"/>
          <p:cNvSpPr>
            <a:spLocks noGrp="1"/>
          </p:cNvSpPr>
          <p:nvPr>
            <p:ph type="body" idx="1"/>
          </p:nvPr>
        </p:nvSpPr>
        <p:spPr>
          <a:xfrm>
            <a:off x="590550" y="1394460"/>
            <a:ext cx="8153400" cy="5058876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ko-KR" altLang="en-US" dirty="0"/>
              <a:t>마스터 텍스트 스타일을 편집합니다</a:t>
            </a:r>
          </a:p>
          <a:p>
            <a:pPr lvl="1" eaLnBrk="1" latinLnBrk="0" hangingPunct="1"/>
            <a:r>
              <a:rPr kumimoji="0" lang="ko-KR" altLang="en-US" dirty="0"/>
              <a:t>둘째 수준</a:t>
            </a:r>
          </a:p>
          <a:p>
            <a:pPr lvl="2" eaLnBrk="1" latinLnBrk="0" hangingPunct="1"/>
            <a:r>
              <a:rPr kumimoji="0" lang="ko-KR" altLang="en-US" dirty="0"/>
              <a:t>셋째 수준</a:t>
            </a:r>
          </a:p>
          <a:p>
            <a:pPr lvl="3" eaLnBrk="1" latinLnBrk="0" hangingPunct="1"/>
            <a:r>
              <a:rPr kumimoji="0" lang="ko-KR" altLang="en-US" dirty="0"/>
              <a:t>넷째 수준</a:t>
            </a:r>
          </a:p>
          <a:p>
            <a:pPr lvl="4" eaLnBrk="1" latinLnBrk="0" hangingPunct="1"/>
            <a:r>
              <a:rPr kumimoji="0" lang="ko-KR" altLang="en-US" dirty="0"/>
              <a:t>다섯째 수준</a:t>
            </a:r>
            <a:endParaRPr kumimoji="0" lang="en-US" dirty="0"/>
          </a:p>
        </p:txBody>
      </p:sp>
      <p:sp>
        <p:nvSpPr>
          <p:cNvPr id="7" name="직사각형 6"/>
          <p:cNvSpPr/>
          <p:nvPr/>
        </p:nvSpPr>
        <p:spPr bwMode="white">
          <a:xfrm>
            <a:off x="0" y="1234440"/>
            <a:ext cx="9144000" cy="32004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>
              <a:latin typeface="메이플스토리" panose="02000300000000000000" pitchFamily="2" charset="-127"/>
            </a:endParaRPr>
          </a:p>
        </p:txBody>
      </p:sp>
      <p:sp>
        <p:nvSpPr>
          <p:cNvPr id="8" name="직사각형 7"/>
          <p:cNvSpPr/>
          <p:nvPr/>
        </p:nvSpPr>
        <p:spPr>
          <a:xfrm>
            <a:off x="-8725" y="1052736"/>
            <a:ext cx="533400" cy="228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>
              <a:latin typeface="메이플스토리" panose="02000300000000000000" pitchFamily="2" charset="-127"/>
            </a:endParaRPr>
          </a:p>
        </p:txBody>
      </p:sp>
      <p:sp>
        <p:nvSpPr>
          <p:cNvPr id="9" name="직사각형 8"/>
          <p:cNvSpPr/>
          <p:nvPr/>
        </p:nvSpPr>
        <p:spPr>
          <a:xfrm>
            <a:off x="590550" y="1052736"/>
            <a:ext cx="8553450" cy="228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>
              <a:latin typeface="메이플스토리" panose="02000300000000000000" pitchFamily="2" charset="-127"/>
            </a:endParaRPr>
          </a:p>
        </p:txBody>
      </p:sp>
      <p:sp>
        <p:nvSpPr>
          <p:cNvPr id="23" name="슬라이드 번호 개체 틀 22"/>
          <p:cNvSpPr>
            <a:spLocks noGrp="1"/>
          </p:cNvSpPr>
          <p:nvPr>
            <p:ph type="sldNum" sz="quarter" idx="4"/>
          </p:nvPr>
        </p:nvSpPr>
        <p:spPr>
          <a:xfrm>
            <a:off x="-8725" y="1036860"/>
            <a:ext cx="533400" cy="244476"/>
          </a:xfrm>
          <a:prstGeom prst="rect">
            <a:avLst/>
          </a:prstGeom>
        </p:spPr>
        <p:txBody>
          <a:bodyPr vert="horz" anchor="ctr" anchorCtr="0">
            <a:normAutofit/>
          </a:bodyPr>
          <a:lstStyle>
            <a:lvl1pPr algn="ctr" eaLnBrk="1" latinLnBrk="0" hangingPunct="1">
              <a:defRPr kumimoji="0" sz="1400" b="1">
                <a:solidFill>
                  <a:srgbClr val="FFFFFF"/>
                </a:solidFill>
                <a:latin typeface="메이플스토리" panose="02000300000000000000" pitchFamily="2" charset="-127"/>
                <a:ea typeface="메이플스토리" panose="02000300000000000000" pitchFamily="2" charset="-127"/>
              </a:defRPr>
            </a:lvl1pPr>
          </a:lstStyle>
          <a:p>
            <a:fld id="{01870596-DAFA-46D2-82A7-2B6B5F8E0EA4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53" r:id="rId1"/>
    <p:sldLayoutId id="2147483854" r:id="rId2"/>
    <p:sldLayoutId id="2147483855" r:id="rId3"/>
    <p:sldLayoutId id="2147483856" r:id="rId4"/>
    <p:sldLayoutId id="2147483857" r:id="rId5"/>
    <p:sldLayoutId id="2147483858" r:id="rId6"/>
    <p:sldLayoutId id="2147483859" r:id="rId7"/>
    <p:sldLayoutId id="2147483860" r:id="rId8"/>
    <p:sldLayoutId id="2147483861" r:id="rId9"/>
    <p:sldLayoutId id="2147483862" r:id="rId10"/>
    <p:sldLayoutId id="2147483863" r:id="rId11"/>
  </p:sldLayoutIdLst>
  <p:hf hdr="0" dt="0"/>
  <p:txStyles>
    <p:titleStyle>
      <a:lvl1pPr algn="l" rtl="0" eaLnBrk="1" latinLnBrk="1" hangingPunct="1">
        <a:spcBef>
          <a:spcPct val="0"/>
        </a:spcBef>
        <a:buNone/>
        <a:defRPr kumimoji="0" sz="3200" kern="1200">
          <a:solidFill>
            <a:schemeClr val="tx2"/>
          </a:solidFill>
          <a:latin typeface="메이플스토리" panose="02000300000000000000" pitchFamily="2" charset="-127"/>
          <a:ea typeface="메이플스토리" panose="02000300000000000000" pitchFamily="2" charset="-127"/>
          <a:cs typeface="+mj-cs"/>
        </a:defRPr>
      </a:lvl1pPr>
    </p:titleStyle>
    <p:bodyStyle>
      <a:lvl1pPr marL="320040" indent="-320040" algn="l" rtl="0" eaLnBrk="1" latinLnBrk="1" hangingPunct="1">
        <a:spcBef>
          <a:spcPts val="700"/>
        </a:spcBef>
        <a:buClr>
          <a:schemeClr val="accent2"/>
        </a:buClr>
        <a:buSzPct val="60000"/>
        <a:buFont typeface="Wingdings"/>
        <a:buChar char=""/>
        <a:defRPr kumimoji="0" sz="2900" kern="1200">
          <a:solidFill>
            <a:schemeClr val="tx1"/>
          </a:solidFill>
          <a:latin typeface="메이플스토리" panose="02000300000000000000" pitchFamily="2" charset="-127"/>
          <a:ea typeface="메이플스토리" panose="02000300000000000000" pitchFamily="2" charset="-127"/>
          <a:cs typeface="+mn-cs"/>
        </a:defRPr>
      </a:lvl1pPr>
      <a:lvl2pPr marL="640080" indent="-274320" algn="l" rtl="0" eaLnBrk="1" latinLnBrk="1" hangingPunct="1">
        <a:spcBef>
          <a:spcPts val="550"/>
        </a:spcBef>
        <a:buClr>
          <a:schemeClr val="accent1"/>
        </a:buClr>
        <a:buSzPct val="70000"/>
        <a:buFont typeface="Wingdings 2"/>
        <a:buChar char=""/>
        <a:defRPr kumimoji="0" sz="2600" kern="1200">
          <a:solidFill>
            <a:schemeClr val="tx1"/>
          </a:solidFill>
          <a:latin typeface="메이플스토리" panose="02000300000000000000" pitchFamily="2" charset="-127"/>
          <a:ea typeface="메이플스토리" panose="02000300000000000000" pitchFamily="2" charset="-127"/>
          <a:cs typeface="+mn-cs"/>
        </a:defRPr>
      </a:lvl2pPr>
      <a:lvl3pPr marL="914400" indent="-228600" algn="l" rtl="0" eaLnBrk="1" latinLnBrk="1" hangingPunct="1">
        <a:spcBef>
          <a:spcPts val="500"/>
        </a:spcBef>
        <a:buClr>
          <a:schemeClr val="accent2"/>
        </a:buClr>
        <a:buSzPct val="75000"/>
        <a:buFont typeface="Wingdings"/>
        <a:buChar char=""/>
        <a:defRPr kumimoji="0" sz="2300" kern="1200">
          <a:solidFill>
            <a:schemeClr val="tx1"/>
          </a:solidFill>
          <a:latin typeface="메이플스토리" panose="02000300000000000000" pitchFamily="2" charset="-127"/>
          <a:ea typeface="메이플스토리" panose="02000300000000000000" pitchFamily="2" charset="-127"/>
          <a:cs typeface="+mn-cs"/>
        </a:defRPr>
      </a:lvl3pPr>
      <a:lvl4pPr marL="1371600" indent="-228600" algn="l" rtl="0" eaLnBrk="1" latinLnBrk="1" hangingPunct="1">
        <a:spcBef>
          <a:spcPts val="400"/>
        </a:spcBef>
        <a:buClr>
          <a:schemeClr val="accent3"/>
        </a:buClr>
        <a:buSzPct val="75000"/>
        <a:buFont typeface="Wingdings"/>
        <a:buChar char=""/>
        <a:defRPr kumimoji="0" sz="2000" kern="1200">
          <a:solidFill>
            <a:schemeClr val="tx1"/>
          </a:solidFill>
          <a:latin typeface="메이플스토리" panose="02000300000000000000" pitchFamily="2" charset="-127"/>
          <a:ea typeface="메이플스토리" panose="02000300000000000000" pitchFamily="2" charset="-127"/>
          <a:cs typeface="+mn-cs"/>
        </a:defRPr>
      </a:lvl4pPr>
      <a:lvl5pPr marL="1828800" indent="-228600" algn="l" rtl="0" eaLnBrk="1" latinLnBrk="1" hangingPunct="1">
        <a:spcBef>
          <a:spcPts val="400"/>
        </a:spcBef>
        <a:buClr>
          <a:schemeClr val="accent4"/>
        </a:buClr>
        <a:buSzPct val="65000"/>
        <a:buFont typeface="Wingdings"/>
        <a:buChar char=""/>
        <a:defRPr kumimoji="0" sz="2000" kern="1200">
          <a:solidFill>
            <a:schemeClr val="tx1"/>
          </a:solidFill>
          <a:latin typeface="메이플스토리" panose="02000300000000000000" pitchFamily="2" charset="-127"/>
          <a:ea typeface="메이플스토리" panose="02000300000000000000" pitchFamily="2" charset="-127"/>
          <a:cs typeface="+mn-cs"/>
        </a:defRPr>
      </a:lvl5pPr>
      <a:lvl6pPr marL="2103120" indent="-228600" algn="l" rtl="0" eaLnBrk="1" latinLnBrk="1" hangingPunct="1">
        <a:spcBef>
          <a:spcPct val="20000"/>
        </a:spcBef>
        <a:buClr>
          <a:schemeClr val="accent1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377440" indent="-228600" algn="l" rtl="0" eaLnBrk="1" latinLnBrk="1" hangingPunct="1">
        <a:spcBef>
          <a:spcPct val="20000"/>
        </a:spcBef>
        <a:buClr>
          <a:schemeClr val="accent2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651760" indent="-228600" algn="l" rtl="0" eaLnBrk="1" latinLnBrk="1" hangingPunct="1">
        <a:spcBef>
          <a:spcPct val="20000"/>
        </a:spcBef>
        <a:buClr>
          <a:schemeClr val="accent3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926080" indent="-228600" algn="l" rtl="0" eaLnBrk="1" latinLnBrk="1" hangingPunct="1">
        <a:spcBef>
          <a:spcPct val="20000"/>
        </a:spcBef>
        <a:buClr>
          <a:schemeClr val="accent4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3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1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6BD2C2-3D3B-4E94-BD92-61B02C5F4DEE}" type="slidenum">
              <a:rPr lang="ko-KR" altLang="en-US" smtClean="0"/>
              <a:pPr/>
              <a:t>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명품 </a:t>
            </a:r>
            <a:r>
              <a:rPr lang="en-US" altLang="ko-KR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JAVA Programming</a:t>
            </a:r>
            <a:endParaRPr lang="ko-KR" altLang="en-US" dirty="0">
              <a:latin typeface="메이플스토리" panose="02000300000000000000" pitchFamily="2" charset="-127"/>
              <a:ea typeface="메이플스토리" panose="020003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7717477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GUI</a:t>
            </a:r>
            <a:r>
              <a:rPr lang="ko-KR" altLang="en-US" dirty="0"/>
              <a:t>를 구성하는 </a:t>
            </a:r>
            <a:r>
              <a:rPr lang="en-US" altLang="ko-KR" dirty="0"/>
              <a:t>2 </a:t>
            </a:r>
            <a:r>
              <a:rPr lang="ko-KR" altLang="en-US" dirty="0"/>
              <a:t>가지 방법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ko-KR" dirty="0"/>
              <a:t>1. </a:t>
            </a:r>
            <a:r>
              <a:rPr lang="ko-KR" altLang="en-US" dirty="0"/>
              <a:t>컴포넌트 기반 </a:t>
            </a:r>
            <a:r>
              <a:rPr lang="en-US" altLang="ko-KR" dirty="0"/>
              <a:t>GUI </a:t>
            </a:r>
            <a:r>
              <a:rPr lang="ko-KR" altLang="en-US" dirty="0"/>
              <a:t>프로그래밍</a:t>
            </a:r>
            <a:endParaRPr lang="en-US" altLang="ko-KR" dirty="0"/>
          </a:p>
          <a:p>
            <a:pPr lvl="1"/>
            <a:r>
              <a:rPr lang="ko-KR" altLang="en-US" dirty="0"/>
              <a:t>스윙 패키지에 주어진 </a:t>
            </a:r>
            <a:r>
              <a:rPr lang="en-US" altLang="ko-KR" dirty="0"/>
              <a:t>GUI </a:t>
            </a:r>
            <a:r>
              <a:rPr lang="ko-KR" altLang="en-US" dirty="0"/>
              <a:t>컴포넌트 이용</a:t>
            </a:r>
            <a:endParaRPr lang="en-US" altLang="ko-KR" dirty="0"/>
          </a:p>
          <a:p>
            <a:pPr lvl="1"/>
            <a:r>
              <a:rPr lang="en-US" altLang="ko-KR" dirty="0"/>
              <a:t>GUI </a:t>
            </a:r>
            <a:r>
              <a:rPr lang="ko-KR" altLang="en-US" dirty="0"/>
              <a:t>구성이 쉽다</a:t>
            </a:r>
            <a:r>
              <a:rPr lang="en-US" altLang="ko-KR" dirty="0"/>
              <a:t>.</a:t>
            </a:r>
          </a:p>
          <a:p>
            <a:pPr lvl="1"/>
            <a:r>
              <a:rPr lang="ko-KR" altLang="en-US" dirty="0"/>
              <a:t>자바 패키지에 제공하는 </a:t>
            </a:r>
            <a:r>
              <a:rPr lang="en-US" altLang="ko-KR" dirty="0"/>
              <a:t>GUI </a:t>
            </a:r>
            <a:r>
              <a:rPr lang="ko-KR" altLang="en-US" dirty="0"/>
              <a:t>컴포넌트 한계</a:t>
            </a:r>
            <a:endParaRPr lang="en-US" altLang="ko-KR" dirty="0"/>
          </a:p>
          <a:p>
            <a:pPr lvl="1"/>
            <a:r>
              <a:rPr lang="ko-KR" altLang="en-US" dirty="0"/>
              <a:t>일반적인 </a:t>
            </a:r>
            <a:r>
              <a:rPr lang="en-US" altLang="ko-KR" dirty="0"/>
              <a:t>GUI </a:t>
            </a:r>
            <a:r>
              <a:rPr lang="ko-KR" altLang="en-US" dirty="0"/>
              <a:t>프로그램에 적합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2. </a:t>
            </a:r>
            <a:r>
              <a:rPr lang="ko-KR" altLang="en-US" dirty="0"/>
              <a:t>그래픽 기반 </a:t>
            </a:r>
            <a:r>
              <a:rPr lang="en-US" altLang="ko-KR" dirty="0"/>
              <a:t>GUI </a:t>
            </a:r>
            <a:r>
              <a:rPr lang="ko-KR" altLang="en-US" dirty="0"/>
              <a:t>프로그래밍</a:t>
            </a:r>
            <a:endParaRPr lang="en-US" altLang="ko-KR" dirty="0"/>
          </a:p>
          <a:p>
            <a:pPr lvl="1"/>
            <a:r>
              <a:rPr lang="ko-KR" altLang="en-US" dirty="0"/>
              <a:t>선</a:t>
            </a:r>
            <a:r>
              <a:rPr lang="en-US" altLang="ko-KR" dirty="0"/>
              <a:t>, </a:t>
            </a:r>
            <a:r>
              <a:rPr lang="ko-KR" altLang="en-US" dirty="0"/>
              <a:t>원</a:t>
            </a:r>
            <a:r>
              <a:rPr lang="en-US" altLang="ko-KR" dirty="0"/>
              <a:t>, </a:t>
            </a:r>
            <a:r>
              <a:rPr lang="ko-KR" altLang="en-US" dirty="0"/>
              <a:t>도형</a:t>
            </a:r>
            <a:r>
              <a:rPr lang="en-US" altLang="ko-KR" dirty="0"/>
              <a:t>, </a:t>
            </a:r>
            <a:r>
              <a:rPr lang="ko-KR" altLang="en-US" dirty="0"/>
              <a:t>이미지를 직접 그려는 그래픽 화면 구성</a:t>
            </a:r>
            <a:endParaRPr lang="en-US" altLang="ko-KR" dirty="0"/>
          </a:p>
          <a:p>
            <a:pPr lvl="1"/>
            <a:r>
              <a:rPr lang="ko-KR" altLang="en-US" dirty="0"/>
              <a:t>개발자의 작업 부담 높음</a:t>
            </a:r>
            <a:endParaRPr lang="en-US" altLang="ko-KR" dirty="0"/>
          </a:p>
          <a:p>
            <a:pPr lvl="1"/>
            <a:r>
              <a:rPr lang="ko-KR" altLang="en-US" dirty="0"/>
              <a:t>자바 패키지에 없는 독특한 </a:t>
            </a:r>
            <a:r>
              <a:rPr lang="en-US" altLang="ko-KR" dirty="0"/>
              <a:t>GUI </a:t>
            </a:r>
            <a:r>
              <a:rPr lang="ko-KR" altLang="en-US" dirty="0"/>
              <a:t>구성 가능</a:t>
            </a:r>
            <a:endParaRPr lang="en-US" altLang="ko-KR" dirty="0"/>
          </a:p>
          <a:p>
            <a:pPr lvl="1"/>
            <a:r>
              <a:rPr lang="ko-KR" altLang="en-US" dirty="0"/>
              <a:t>게임 등 자유로운 </a:t>
            </a:r>
            <a:r>
              <a:rPr lang="en-US" altLang="ko-KR" dirty="0"/>
              <a:t>GUI</a:t>
            </a:r>
          </a:p>
          <a:p>
            <a:r>
              <a:rPr lang="en-US" altLang="ko-KR" dirty="0"/>
              <a:t>11</a:t>
            </a:r>
            <a:r>
              <a:rPr lang="ko-KR" altLang="en-US" dirty="0"/>
              <a:t>장 </a:t>
            </a:r>
            <a:r>
              <a:rPr lang="en-US" altLang="ko-KR" dirty="0"/>
              <a:t>: </a:t>
            </a:r>
            <a:r>
              <a:rPr lang="ko-KR" altLang="en-US" dirty="0"/>
              <a:t>컴포넌트 기반 </a:t>
            </a:r>
            <a:r>
              <a:rPr lang="en-US" altLang="ko-KR" dirty="0"/>
              <a:t>GUI </a:t>
            </a:r>
            <a:r>
              <a:rPr lang="ko-KR" altLang="en-US" dirty="0"/>
              <a:t>프로그래밍</a:t>
            </a:r>
            <a:endParaRPr lang="en-US" altLang="ko-KR" dirty="0"/>
          </a:p>
          <a:p>
            <a:r>
              <a:rPr lang="en-US" altLang="ko-KR" dirty="0"/>
              <a:t>12</a:t>
            </a:r>
            <a:r>
              <a:rPr lang="ko-KR" altLang="en-US" dirty="0"/>
              <a:t>장 </a:t>
            </a:r>
            <a:r>
              <a:rPr lang="en-US" altLang="ko-KR" dirty="0"/>
              <a:t>: </a:t>
            </a:r>
            <a:r>
              <a:rPr lang="ko-KR" altLang="en-US" dirty="0"/>
              <a:t>그래픽 기반 </a:t>
            </a:r>
            <a:r>
              <a:rPr lang="en-US" altLang="ko-KR" dirty="0"/>
              <a:t>GUI </a:t>
            </a:r>
            <a:r>
              <a:rPr lang="ko-KR" altLang="en-US" dirty="0"/>
              <a:t>프로그래밍</a:t>
            </a:r>
          </a:p>
          <a:p>
            <a:endParaRPr lang="ko-KR" altLang="en-US" dirty="0"/>
          </a:p>
        </p:txBody>
      </p:sp>
      <p:sp>
        <p:nvSpPr>
          <p:cNvPr id="49" name="슬라이드 번호 개체 틀 48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77500" lnSpcReduction="20000"/>
          </a:bodyPr>
          <a:lstStyle/>
          <a:p>
            <a:fld id="{1A6BD2C2-3D3B-4E94-BD92-61B02C5F4DEE}" type="slidenum">
              <a:rPr lang="ko-KR" altLang="en-US" smtClean="0"/>
              <a:pPr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809507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기초적인 스윙</a:t>
            </a:r>
            <a:r>
              <a:rPr lang="en-US" altLang="ko-KR"/>
              <a:t> </a:t>
            </a:r>
            <a:r>
              <a:rPr lang="ko-KR" altLang="en-US"/>
              <a:t>컴포넌트와 상속 관계</a:t>
            </a:r>
          </a:p>
        </p:txBody>
      </p:sp>
      <p:sp>
        <p:nvSpPr>
          <p:cNvPr id="49" name="슬라이드 번호 개체 틀 48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77500" lnSpcReduction="20000"/>
          </a:bodyPr>
          <a:lstStyle/>
          <a:p>
            <a:fld id="{1A6BD2C2-3D3B-4E94-BD92-61B02C5F4DEE}" type="slidenum">
              <a:rPr lang="ko-KR" altLang="en-US" smtClean="0"/>
              <a:pPr/>
              <a:t>3</a:t>
            </a:fld>
            <a:endParaRPr lang="ko-KR" altLang="en-US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006" y="1628800"/>
            <a:ext cx="8553450" cy="4043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80350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ko-KR" altLang="en-US" dirty="0"/>
              <a:t>스윙 컴포넌트의 공통 </a:t>
            </a:r>
            <a:r>
              <a:rPr lang="ko-KR" altLang="en-US" dirty="0" err="1"/>
              <a:t>메소드</a:t>
            </a:r>
            <a:r>
              <a:rPr lang="en-US" altLang="ko-KR" dirty="0"/>
              <a:t>, </a:t>
            </a:r>
            <a:r>
              <a:rPr lang="en-US" altLang="ko-KR" dirty="0" err="1"/>
              <a:t>JComponent</a:t>
            </a:r>
            <a:r>
              <a:rPr lang="ko-KR" altLang="en-US" dirty="0"/>
              <a:t>의 </a:t>
            </a:r>
            <a:r>
              <a:rPr lang="ko-KR" altLang="en-US" dirty="0" err="1"/>
              <a:t>메소드</a:t>
            </a:r>
            <a:endParaRPr lang="ko-KR" altLang="en-US" dirty="0"/>
          </a:p>
        </p:txBody>
      </p:sp>
      <p:sp>
        <p:nvSpPr>
          <p:cNvPr id="16" name="슬라이드 번호 개체 틀 1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77500" lnSpcReduction="20000"/>
          </a:bodyPr>
          <a:lstStyle/>
          <a:p>
            <a:fld id="{1A6BD2C2-3D3B-4E94-BD92-61B02C5F4DEE}" type="slidenum">
              <a:rPr lang="ko-KR" altLang="en-US" smtClean="0"/>
              <a:pPr/>
              <a:t>4</a:t>
            </a:fld>
            <a:endParaRPr lang="ko-KR" altLang="en-US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722" y="1700808"/>
            <a:ext cx="8277225" cy="3190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9289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ko-KR" altLang="en-US" sz="2400" dirty="0">
                <a:solidFill>
                  <a:srgbClr val="FF0000"/>
                </a:solidFill>
              </a:rPr>
              <a:t>예제 </a:t>
            </a:r>
            <a:r>
              <a:rPr lang="en-US" altLang="ko-KR" sz="2400" dirty="0">
                <a:solidFill>
                  <a:srgbClr val="FF0000"/>
                </a:solidFill>
              </a:rPr>
              <a:t>11-1 : </a:t>
            </a:r>
            <a:r>
              <a:rPr lang="ko-KR" altLang="en-US" sz="2400" dirty="0">
                <a:solidFill>
                  <a:srgbClr val="FF0000"/>
                </a:solidFill>
              </a:rPr>
              <a:t>스윙 컴포넌트의 공통 기능</a:t>
            </a:r>
            <a:r>
              <a:rPr lang="en-US" altLang="ko-KR" sz="2400" dirty="0">
                <a:solidFill>
                  <a:srgbClr val="FF0000"/>
                </a:solidFill>
              </a:rPr>
              <a:t>, </a:t>
            </a:r>
            <a:r>
              <a:rPr lang="en-US" altLang="ko-KR" sz="2400" dirty="0" err="1">
                <a:solidFill>
                  <a:srgbClr val="FF0000"/>
                </a:solidFill>
              </a:rPr>
              <a:t>JComponent</a:t>
            </a:r>
            <a:r>
              <a:rPr lang="ko-KR" altLang="en-US" sz="2400" dirty="0">
                <a:solidFill>
                  <a:srgbClr val="FF0000"/>
                </a:solidFill>
              </a:rPr>
              <a:t>의 </a:t>
            </a:r>
            <a:r>
              <a:rPr lang="ko-KR" altLang="en-US" sz="2400" dirty="0" err="1">
                <a:solidFill>
                  <a:srgbClr val="FF0000"/>
                </a:solidFill>
              </a:rPr>
              <a:t>메소드</a:t>
            </a:r>
            <a:endParaRPr lang="ko-KR" altLang="en-US" sz="2400" dirty="0">
              <a:solidFill>
                <a:srgbClr val="FF0000"/>
              </a:solidFill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77500" lnSpcReduction="20000"/>
          </a:bodyPr>
          <a:lstStyle/>
          <a:p>
            <a:fld id="{1A6BD2C2-3D3B-4E94-BD92-61B02C5F4DEE}" type="slidenum">
              <a:rPr lang="ko-KR" altLang="en-US" smtClean="0"/>
              <a:pPr/>
              <a:t>5</a:t>
            </a:fld>
            <a:endParaRPr lang="ko-KR" altLang="en-US"/>
          </a:p>
        </p:txBody>
      </p:sp>
      <p:sp>
        <p:nvSpPr>
          <p:cNvPr id="5" name="직사각형 4"/>
          <p:cNvSpPr/>
          <p:nvPr/>
        </p:nvSpPr>
        <p:spPr>
          <a:xfrm>
            <a:off x="179512" y="1037629"/>
            <a:ext cx="5328592" cy="584775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defTabSz="180000"/>
            <a:r>
              <a:rPr lang="en-US" altLang="ko-KR" sz="11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import </a:t>
            </a:r>
            <a:r>
              <a:rPr lang="en-US" altLang="ko-KR" sz="11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java.awt</a:t>
            </a:r>
            <a:r>
              <a:rPr lang="en-US" altLang="ko-KR" sz="11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.*;</a:t>
            </a:r>
          </a:p>
          <a:p>
            <a:pPr defTabSz="180000"/>
            <a:r>
              <a:rPr lang="en-US" altLang="ko-KR" sz="11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import </a:t>
            </a:r>
            <a:r>
              <a:rPr lang="en-US" altLang="ko-KR" sz="11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java.awt.event</a:t>
            </a:r>
            <a:r>
              <a:rPr lang="en-US" altLang="ko-KR" sz="11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.*;</a:t>
            </a:r>
          </a:p>
          <a:p>
            <a:pPr defTabSz="180000"/>
            <a:r>
              <a:rPr lang="en-US" altLang="ko-KR" sz="11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import </a:t>
            </a:r>
            <a:r>
              <a:rPr lang="en-US" altLang="ko-KR" sz="11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javax.swing</a:t>
            </a:r>
            <a:r>
              <a:rPr lang="en-US" altLang="ko-KR" sz="11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.*;</a:t>
            </a:r>
          </a:p>
          <a:p>
            <a:pPr defTabSz="180000"/>
            <a:endParaRPr lang="en-US" altLang="ko-KR" sz="1100" dirty="0">
              <a:latin typeface="메이플스토리" panose="02000300000000000000" pitchFamily="2" charset="-127"/>
              <a:ea typeface="메이플스토리" panose="02000300000000000000" pitchFamily="2" charset="-127"/>
            </a:endParaRPr>
          </a:p>
          <a:p>
            <a:pPr defTabSz="180000"/>
            <a:r>
              <a:rPr lang="en-US" altLang="ko-KR" sz="1100" b="1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public class </a:t>
            </a:r>
            <a:r>
              <a:rPr lang="en-US" altLang="ko-KR" sz="1100" b="1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JComponentEx</a:t>
            </a:r>
            <a:r>
              <a:rPr lang="en-US" altLang="ko-KR" sz="1100" b="1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 extends </a:t>
            </a:r>
            <a:r>
              <a:rPr lang="en-US" altLang="ko-KR" sz="1100" b="1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JFrame</a:t>
            </a:r>
            <a:r>
              <a:rPr lang="en-US" altLang="ko-KR" sz="1100" b="1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 </a:t>
            </a:r>
            <a:r>
              <a:rPr lang="en-US" altLang="ko-KR" sz="11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{</a:t>
            </a:r>
          </a:p>
          <a:p>
            <a:pPr defTabSz="180000"/>
            <a:r>
              <a:rPr lang="en-US" altLang="ko-KR" sz="11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public </a:t>
            </a:r>
            <a:r>
              <a:rPr lang="en-US" altLang="ko-KR" sz="11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JComponentEx</a:t>
            </a:r>
            <a:r>
              <a:rPr lang="en-US" altLang="ko-KR" sz="11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() {</a:t>
            </a:r>
          </a:p>
          <a:p>
            <a:pPr defTabSz="180000"/>
            <a:r>
              <a:rPr lang="en-US" altLang="ko-KR" sz="11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	super("</a:t>
            </a:r>
            <a:r>
              <a:rPr lang="en-US" altLang="ko-KR" sz="11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JComponent</a:t>
            </a:r>
            <a:r>
              <a:rPr lang="ko-KR" altLang="en-US" sz="11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의 공통 </a:t>
            </a:r>
            <a:r>
              <a:rPr lang="ko-KR" altLang="en-US" sz="11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메소드</a:t>
            </a:r>
            <a:r>
              <a:rPr lang="ko-KR" altLang="en-US" sz="11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 예제</a:t>
            </a:r>
            <a:r>
              <a:rPr lang="en-US" altLang="ko-KR" sz="11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");</a:t>
            </a:r>
          </a:p>
          <a:p>
            <a:pPr defTabSz="180000"/>
            <a:r>
              <a:rPr lang="en-US" altLang="ko-KR" sz="11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	Container c = </a:t>
            </a:r>
            <a:r>
              <a:rPr lang="en-US" altLang="ko-KR" sz="11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getContentPane</a:t>
            </a:r>
            <a:r>
              <a:rPr lang="en-US" altLang="ko-KR" sz="11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();</a:t>
            </a:r>
          </a:p>
          <a:p>
            <a:pPr defTabSz="180000"/>
            <a:r>
              <a:rPr lang="en-US" altLang="ko-KR" sz="11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	</a:t>
            </a:r>
            <a:r>
              <a:rPr lang="en-US" altLang="ko-KR" sz="11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c.setLayout</a:t>
            </a:r>
            <a:r>
              <a:rPr lang="en-US" altLang="ko-KR" sz="11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(new </a:t>
            </a:r>
            <a:r>
              <a:rPr lang="en-US" altLang="ko-KR" sz="11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FlowLayout</a:t>
            </a:r>
            <a:r>
              <a:rPr lang="en-US" altLang="ko-KR" sz="11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());</a:t>
            </a:r>
          </a:p>
          <a:p>
            <a:pPr defTabSz="180000"/>
            <a:r>
              <a:rPr lang="en-US" altLang="ko-KR" sz="11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	</a:t>
            </a:r>
            <a:r>
              <a:rPr lang="en-US" altLang="ko-KR" sz="11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JButton</a:t>
            </a:r>
            <a:r>
              <a:rPr lang="en-US" altLang="ko-KR" sz="11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 b1 = new </a:t>
            </a:r>
            <a:r>
              <a:rPr lang="en-US" altLang="ko-KR" sz="11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JButton</a:t>
            </a:r>
            <a:r>
              <a:rPr lang="en-US" altLang="ko-KR" sz="11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("Magenta/Yellow Button");</a:t>
            </a:r>
          </a:p>
          <a:p>
            <a:pPr defTabSz="180000"/>
            <a:r>
              <a:rPr lang="en-US" altLang="ko-KR" sz="11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	</a:t>
            </a:r>
            <a:r>
              <a:rPr lang="en-US" altLang="ko-KR" sz="11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JButton</a:t>
            </a:r>
            <a:r>
              <a:rPr lang="en-US" altLang="ko-KR" sz="11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 b2 = new </a:t>
            </a:r>
            <a:r>
              <a:rPr lang="en-US" altLang="ko-KR" sz="11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JButton</a:t>
            </a:r>
            <a:r>
              <a:rPr lang="en-US" altLang="ko-KR" sz="11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(" Disabled Button ");</a:t>
            </a:r>
          </a:p>
          <a:p>
            <a:pPr defTabSz="180000"/>
            <a:r>
              <a:rPr lang="en-US" altLang="ko-KR" sz="11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	</a:t>
            </a:r>
            <a:r>
              <a:rPr lang="en-US" altLang="ko-KR" sz="11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JButton</a:t>
            </a:r>
            <a:r>
              <a:rPr lang="en-US" altLang="ko-KR" sz="11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 b3 = new </a:t>
            </a:r>
            <a:r>
              <a:rPr lang="en-US" altLang="ko-KR" sz="11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JButton</a:t>
            </a:r>
            <a:r>
              <a:rPr lang="en-US" altLang="ko-KR" sz="11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("</a:t>
            </a:r>
            <a:r>
              <a:rPr lang="en-US" altLang="ko-KR" sz="11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getX</a:t>
            </a:r>
            <a:r>
              <a:rPr lang="en-US" altLang="ko-KR" sz="11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(), </a:t>
            </a:r>
            <a:r>
              <a:rPr lang="en-US" altLang="ko-KR" sz="11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getY</a:t>
            </a:r>
            <a:r>
              <a:rPr lang="en-US" altLang="ko-KR" sz="11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()");</a:t>
            </a:r>
          </a:p>
          <a:p>
            <a:pPr defTabSz="180000"/>
            <a:r>
              <a:rPr lang="en-US" altLang="ko-KR" sz="11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	</a:t>
            </a:r>
          </a:p>
          <a:p>
            <a:pPr defTabSz="180000"/>
            <a:r>
              <a:rPr lang="en-US" altLang="ko-KR" sz="11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	</a:t>
            </a:r>
            <a:r>
              <a:rPr lang="en-US" altLang="ko-KR" sz="1100" b="1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b1.setBackground(</a:t>
            </a:r>
            <a:r>
              <a:rPr lang="en-US" altLang="ko-KR" sz="1100" b="1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Color.YELLOW</a:t>
            </a:r>
            <a:r>
              <a:rPr lang="en-US" altLang="ko-KR" sz="1100" b="1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);</a:t>
            </a:r>
            <a:r>
              <a:rPr lang="en-US" altLang="ko-KR" sz="11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 // </a:t>
            </a:r>
            <a:r>
              <a:rPr lang="ko-KR" altLang="en-US" sz="11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배경색 설정</a:t>
            </a:r>
          </a:p>
          <a:p>
            <a:pPr defTabSz="180000"/>
            <a:r>
              <a:rPr lang="en-US" altLang="ko-KR" sz="11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	</a:t>
            </a:r>
            <a:r>
              <a:rPr lang="en-US" altLang="ko-KR" sz="1100" b="1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b1.setForeground(</a:t>
            </a:r>
            <a:r>
              <a:rPr lang="en-US" altLang="ko-KR" sz="1100" b="1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Color.MAGENTA</a:t>
            </a:r>
            <a:r>
              <a:rPr lang="en-US" altLang="ko-KR" sz="1100" b="1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);</a:t>
            </a:r>
            <a:r>
              <a:rPr lang="en-US" altLang="ko-KR" sz="11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 // </a:t>
            </a:r>
            <a:r>
              <a:rPr lang="ko-KR" altLang="en-US" sz="11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글자색</a:t>
            </a:r>
            <a:r>
              <a:rPr lang="ko-KR" altLang="en-US" sz="11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 설정</a:t>
            </a:r>
          </a:p>
          <a:p>
            <a:pPr defTabSz="180000"/>
            <a:r>
              <a:rPr lang="en-US" altLang="ko-KR" sz="11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	</a:t>
            </a:r>
            <a:r>
              <a:rPr lang="en-US" altLang="ko-KR" sz="1100" b="1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b1.setFont(new Font("Arial", </a:t>
            </a:r>
            <a:r>
              <a:rPr lang="en-US" altLang="ko-KR" sz="1100" b="1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Font.ITALIC</a:t>
            </a:r>
            <a:r>
              <a:rPr lang="en-US" altLang="ko-KR" sz="1100" b="1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, 20));</a:t>
            </a:r>
            <a:r>
              <a:rPr lang="en-US" altLang="ko-KR" sz="11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 // Arial, 20</a:t>
            </a:r>
            <a:r>
              <a:rPr lang="ko-KR" altLang="en-US" sz="11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픽셀 폰트 설정</a:t>
            </a:r>
          </a:p>
          <a:p>
            <a:pPr defTabSz="180000"/>
            <a:r>
              <a:rPr lang="en-US" altLang="ko-KR" sz="11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	</a:t>
            </a:r>
            <a:r>
              <a:rPr lang="en-US" altLang="ko-KR" sz="1100" b="1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b2.setEnabled(false); </a:t>
            </a:r>
            <a:r>
              <a:rPr lang="en-US" altLang="ko-KR" sz="11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// </a:t>
            </a:r>
            <a:r>
              <a:rPr lang="ko-KR" altLang="en-US" sz="11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버튼 비활성화</a:t>
            </a:r>
            <a:endParaRPr lang="en-US" altLang="ko-KR" sz="1100" dirty="0">
              <a:latin typeface="메이플스토리" panose="02000300000000000000" pitchFamily="2" charset="-127"/>
              <a:ea typeface="메이플스토리" panose="02000300000000000000" pitchFamily="2" charset="-127"/>
            </a:endParaRPr>
          </a:p>
          <a:p>
            <a:pPr defTabSz="180000"/>
            <a:r>
              <a:rPr lang="en-US" altLang="ko-KR" sz="11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	b3.addActionListener(new </a:t>
            </a:r>
            <a:r>
              <a:rPr lang="en-US" altLang="ko-KR" sz="11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ActionListener</a:t>
            </a:r>
            <a:r>
              <a:rPr lang="en-US" altLang="ko-KR" sz="11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() {</a:t>
            </a:r>
          </a:p>
          <a:p>
            <a:pPr defTabSz="180000"/>
            <a:r>
              <a:rPr lang="en-US" altLang="ko-KR" sz="11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		public void </a:t>
            </a:r>
            <a:r>
              <a:rPr lang="en-US" altLang="ko-KR" sz="11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actionPerformed</a:t>
            </a:r>
            <a:r>
              <a:rPr lang="en-US" altLang="ko-KR" sz="11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</a:t>
            </a:r>
            <a:r>
              <a:rPr lang="en-US" altLang="ko-KR" sz="11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ActionEvent</a:t>
            </a:r>
            <a:r>
              <a:rPr lang="en-US" altLang="ko-KR" sz="11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 e) {</a:t>
            </a:r>
          </a:p>
          <a:p>
            <a:pPr defTabSz="180000"/>
            <a:r>
              <a:rPr lang="en-US" altLang="ko-KR" sz="11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			</a:t>
            </a:r>
            <a:r>
              <a:rPr lang="en-US" altLang="ko-KR" sz="11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JButton</a:t>
            </a:r>
            <a:r>
              <a:rPr lang="en-US" altLang="ko-KR" sz="11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 b = (</a:t>
            </a:r>
            <a:r>
              <a:rPr lang="en-US" altLang="ko-KR" sz="11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JButton</a:t>
            </a:r>
            <a:r>
              <a:rPr lang="en-US" altLang="ko-KR" sz="11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)</a:t>
            </a:r>
            <a:r>
              <a:rPr lang="en-US" altLang="ko-KR" sz="11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e.getSource</a:t>
            </a:r>
            <a:r>
              <a:rPr lang="en-US" altLang="ko-KR" sz="11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();</a:t>
            </a:r>
          </a:p>
          <a:p>
            <a:pPr defTabSz="180000"/>
            <a:r>
              <a:rPr lang="en-US" altLang="ko-KR" sz="11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			</a:t>
            </a:r>
            <a:r>
              <a:rPr lang="en-US" altLang="ko-KR" sz="11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JComponentEx</a:t>
            </a:r>
            <a:r>
              <a:rPr lang="en-US" altLang="ko-KR" sz="11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 frame = </a:t>
            </a:r>
            <a:r>
              <a:rPr lang="en-US" altLang="ko-KR" sz="1100" b="1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</a:t>
            </a:r>
            <a:r>
              <a:rPr lang="en-US" altLang="ko-KR" sz="1100" b="1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JComponentEx</a:t>
            </a:r>
            <a:r>
              <a:rPr lang="en-US" altLang="ko-KR" sz="1100" b="1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)</a:t>
            </a:r>
            <a:r>
              <a:rPr lang="en-US" altLang="ko-KR" sz="1100" b="1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b.getTopLevelAncestor</a:t>
            </a:r>
            <a:r>
              <a:rPr lang="en-US" altLang="ko-KR" sz="1100" b="1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();</a:t>
            </a:r>
          </a:p>
          <a:p>
            <a:pPr defTabSz="180000"/>
            <a:r>
              <a:rPr lang="en-US" altLang="ko-KR" sz="11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			</a:t>
            </a:r>
            <a:r>
              <a:rPr lang="en-US" altLang="ko-KR" sz="1100" b="1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frame.setTitle</a:t>
            </a:r>
            <a:r>
              <a:rPr lang="en-US" altLang="ko-KR" sz="11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</a:t>
            </a:r>
            <a:r>
              <a:rPr lang="en-US" altLang="ko-KR" sz="1100" b="1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b.getX</a:t>
            </a:r>
            <a:r>
              <a:rPr lang="en-US" altLang="ko-KR" sz="1100" b="1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() </a:t>
            </a:r>
            <a:r>
              <a:rPr lang="en-US" altLang="ko-KR" sz="11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+ "," + </a:t>
            </a:r>
            <a:r>
              <a:rPr lang="en-US" altLang="ko-KR" sz="1100" b="1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b.getY</a:t>
            </a:r>
            <a:r>
              <a:rPr lang="en-US" altLang="ko-KR" sz="1100" b="1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()</a:t>
            </a:r>
            <a:r>
              <a:rPr lang="en-US" altLang="ko-KR" sz="11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); // </a:t>
            </a:r>
            <a:r>
              <a:rPr lang="ko-KR" altLang="en-US" sz="11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타이틀에 버튼 좌표 출력</a:t>
            </a:r>
          </a:p>
          <a:p>
            <a:pPr defTabSz="180000"/>
            <a:r>
              <a:rPr lang="en-US" altLang="ko-KR" sz="11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		}</a:t>
            </a:r>
          </a:p>
          <a:p>
            <a:pPr defTabSz="180000"/>
            <a:r>
              <a:rPr lang="en-US" altLang="ko-KR" sz="11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	});</a:t>
            </a:r>
          </a:p>
          <a:p>
            <a:pPr defTabSz="180000"/>
            <a:r>
              <a:rPr lang="en-US" altLang="ko-KR" sz="11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	</a:t>
            </a:r>
            <a:r>
              <a:rPr lang="en-US" altLang="ko-KR" sz="11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c.add</a:t>
            </a:r>
            <a:r>
              <a:rPr lang="en-US" altLang="ko-KR" sz="11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(b1); </a:t>
            </a:r>
            <a:r>
              <a:rPr lang="en-US" altLang="ko-KR" sz="11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c.add</a:t>
            </a:r>
            <a:r>
              <a:rPr lang="en-US" altLang="ko-KR" sz="11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(b2); </a:t>
            </a:r>
            <a:r>
              <a:rPr lang="en-US" altLang="ko-KR" sz="11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c.add</a:t>
            </a:r>
            <a:r>
              <a:rPr lang="en-US" altLang="ko-KR" sz="11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(b3); // </a:t>
            </a:r>
            <a:r>
              <a:rPr lang="ko-KR" altLang="en-US" sz="11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컨텐트팬에</a:t>
            </a:r>
            <a:r>
              <a:rPr lang="ko-KR" altLang="en-US" sz="11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 버튼 부착</a:t>
            </a:r>
          </a:p>
          <a:p>
            <a:pPr defTabSz="180000"/>
            <a:r>
              <a:rPr lang="en-US" altLang="ko-KR" sz="11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	</a:t>
            </a:r>
            <a:r>
              <a:rPr lang="en-US" altLang="ko-KR" sz="11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setSize</a:t>
            </a:r>
            <a:r>
              <a:rPr lang="en-US" altLang="ko-KR" sz="11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(260,200);</a:t>
            </a:r>
          </a:p>
          <a:p>
            <a:pPr defTabSz="180000"/>
            <a:r>
              <a:rPr lang="en-US" altLang="ko-KR" sz="11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	</a:t>
            </a:r>
            <a:r>
              <a:rPr lang="en-US" altLang="ko-KR" sz="11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setVisible</a:t>
            </a:r>
            <a:r>
              <a:rPr lang="en-US" altLang="ko-KR" sz="11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(true);</a:t>
            </a:r>
          </a:p>
          <a:p>
            <a:pPr defTabSz="180000"/>
            <a:r>
              <a:rPr lang="en-US" altLang="ko-KR" sz="11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}</a:t>
            </a:r>
          </a:p>
          <a:p>
            <a:pPr defTabSz="180000"/>
            <a:r>
              <a:rPr lang="en-US" altLang="ko-KR" sz="11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public static void main(String[] </a:t>
            </a:r>
            <a:r>
              <a:rPr lang="en-US" altLang="ko-KR" sz="11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args</a:t>
            </a:r>
            <a:r>
              <a:rPr lang="en-US" altLang="ko-KR" sz="11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) {</a:t>
            </a:r>
          </a:p>
          <a:p>
            <a:pPr defTabSz="180000"/>
            <a:r>
              <a:rPr lang="en-US" altLang="ko-KR" sz="11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	new </a:t>
            </a:r>
            <a:r>
              <a:rPr lang="en-US" altLang="ko-KR" sz="11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JComponentEx</a:t>
            </a:r>
            <a:r>
              <a:rPr lang="en-US" altLang="ko-KR" sz="11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();</a:t>
            </a:r>
          </a:p>
          <a:p>
            <a:pPr defTabSz="180000"/>
            <a:r>
              <a:rPr lang="en-US" altLang="ko-KR" sz="11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}</a:t>
            </a:r>
          </a:p>
          <a:p>
            <a:pPr defTabSz="180000"/>
            <a:r>
              <a:rPr lang="en-US" altLang="ko-KR" sz="11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}</a:t>
            </a:r>
          </a:p>
        </p:txBody>
      </p:sp>
      <p:pic>
        <p:nvPicPr>
          <p:cNvPr id="8" name="그림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80112" y="4175969"/>
            <a:ext cx="3462015" cy="2096641"/>
          </a:xfrm>
          <a:prstGeom prst="rect">
            <a:avLst/>
          </a:prstGeom>
        </p:spPr>
      </p:pic>
      <p:pic>
        <p:nvPicPr>
          <p:cNvPr id="9" name="그림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2040" y="1548675"/>
            <a:ext cx="4049266" cy="2024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90419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JLabel, </a:t>
            </a:r>
            <a:r>
              <a:rPr lang="ko-KR" altLang="en-US"/>
              <a:t>레이블</a:t>
            </a:r>
            <a:r>
              <a:rPr lang="en-US" altLang="ko-KR"/>
              <a:t> </a:t>
            </a:r>
            <a:r>
              <a:rPr lang="ko-KR" altLang="en-US"/>
              <a:t>컴포넌트</a:t>
            </a:r>
            <a:endParaRPr lang="ko-KR" altLang="en-US" dirty="0"/>
          </a:p>
        </p:txBody>
      </p:sp>
      <p:sp>
        <p:nvSpPr>
          <p:cNvPr id="4" name="내용 개체 틀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ko-KR" dirty="0" err="1"/>
              <a:t>JLabel</a:t>
            </a:r>
            <a:r>
              <a:rPr lang="ko-KR" altLang="en-US" dirty="0"/>
              <a:t>의 용도</a:t>
            </a:r>
            <a:endParaRPr lang="en-US" altLang="ko-KR" dirty="0"/>
          </a:p>
          <a:p>
            <a:pPr lvl="1"/>
            <a:r>
              <a:rPr lang="ko-KR" altLang="en-US" dirty="0"/>
              <a:t>문자열이나 이미지를 컴포넌트화 하여 출력하기 위한 목적</a:t>
            </a:r>
            <a:endParaRPr lang="en-US" altLang="ko-KR" dirty="0"/>
          </a:p>
          <a:p>
            <a:r>
              <a:rPr lang="ko-KR" altLang="en-US" dirty="0" err="1"/>
              <a:t>생성자</a:t>
            </a:r>
            <a:endParaRPr lang="en-US" altLang="ko-KR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77500" lnSpcReduction="20000"/>
          </a:bodyPr>
          <a:lstStyle/>
          <a:p>
            <a:fld id="{1A6BD2C2-3D3B-4E94-BD92-61B02C5F4DEE}" type="slidenum">
              <a:rPr lang="ko-KR" altLang="en-US" smtClean="0"/>
              <a:pPr/>
              <a:t>6</a:t>
            </a:fld>
            <a:endParaRPr lang="ko-KR" altLang="en-US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447" y="2924944"/>
            <a:ext cx="7972425" cy="19888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14402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레이블 컴포넌트 생성 예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sz="quarter" idx="1"/>
          </p:nvPr>
        </p:nvSpPr>
        <p:spPr>
          <a:xfrm>
            <a:off x="612648" y="1340768"/>
            <a:ext cx="8153400" cy="4464496"/>
          </a:xfrm>
        </p:spPr>
        <p:txBody>
          <a:bodyPr>
            <a:normAutofit fontScale="92500" lnSpcReduction="10000"/>
          </a:bodyPr>
          <a:lstStyle/>
          <a:p>
            <a:r>
              <a:rPr lang="ko-KR" altLang="en-US" dirty="0"/>
              <a:t>단순 텍스트 만을 가진 레이블 컴포넌트 생성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이미지를 가진 레이블 컴포넌트 생성</a:t>
            </a:r>
            <a:endParaRPr lang="en-US" altLang="ko-KR" dirty="0"/>
          </a:p>
          <a:p>
            <a:pPr lvl="1"/>
            <a:r>
              <a:rPr lang="ko-KR" altLang="en-US" dirty="0"/>
              <a:t>이미지 파일로부터 이미지를 읽기 위해 </a:t>
            </a:r>
            <a:r>
              <a:rPr lang="en-US" altLang="ko-KR" dirty="0" err="1"/>
              <a:t>ImageIcon</a:t>
            </a:r>
            <a:r>
              <a:rPr lang="en-US" altLang="ko-KR" dirty="0"/>
              <a:t> </a:t>
            </a:r>
            <a:r>
              <a:rPr lang="ko-KR" altLang="en-US" dirty="0"/>
              <a:t>클래스 사용</a:t>
            </a:r>
            <a:endParaRPr lang="en-US" altLang="ko-KR" dirty="0"/>
          </a:p>
          <a:p>
            <a:pPr lvl="1"/>
            <a:r>
              <a:rPr lang="ko-KR" altLang="en-US" dirty="0"/>
              <a:t>다룰 수 있는 이미지 </a:t>
            </a:r>
            <a:r>
              <a:rPr lang="en-US" altLang="ko-KR" dirty="0"/>
              <a:t>: </a:t>
            </a:r>
            <a:r>
              <a:rPr lang="en-US" altLang="ko-KR" dirty="0" err="1"/>
              <a:t>png</a:t>
            </a:r>
            <a:r>
              <a:rPr lang="en-US" altLang="ko-KR" dirty="0"/>
              <a:t>, gif, jpg</a:t>
            </a:r>
          </a:p>
          <a:p>
            <a:pPr lvl="2"/>
            <a:r>
              <a:rPr lang="en-US" altLang="ko-KR" dirty="0"/>
              <a:t>sunset.jpg</a:t>
            </a:r>
            <a:r>
              <a:rPr lang="ko-KR" altLang="en-US" dirty="0"/>
              <a:t>의 경로명이  </a:t>
            </a:r>
            <a:r>
              <a:rPr lang="en-US" altLang="ko-KR" dirty="0"/>
              <a:t>"images/sunset.jpg"</a:t>
            </a:r>
            <a:r>
              <a:rPr lang="ko-KR" altLang="en-US" dirty="0"/>
              <a:t>인</a:t>
            </a:r>
            <a:r>
              <a:rPr lang="en-US" altLang="ko-KR" dirty="0"/>
              <a:t> </a:t>
            </a:r>
            <a:r>
              <a:rPr lang="ko-KR" altLang="en-US" dirty="0"/>
              <a:t>경우</a:t>
            </a:r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수평 정렬 값을 가진 레이블 컴포넌트 생성</a:t>
            </a:r>
            <a:endParaRPr lang="en-US" altLang="ko-KR" dirty="0"/>
          </a:p>
          <a:p>
            <a:pPr lvl="2"/>
            <a:r>
              <a:rPr lang="ko-KR" altLang="en-US" dirty="0"/>
              <a:t>텍스트 이미지 모두 출력하고자 하는 경우 수평 정렬 지정</a:t>
            </a:r>
            <a:endParaRPr lang="en-US" altLang="ko-KR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77500" lnSpcReduction="20000"/>
          </a:bodyPr>
          <a:lstStyle/>
          <a:p>
            <a:fld id="{1A6BD2C2-3D3B-4E94-BD92-61B02C5F4DEE}" type="slidenum">
              <a:rPr lang="ko-KR" altLang="en-US" smtClean="0"/>
              <a:pPr/>
              <a:t>7</a:t>
            </a:fld>
            <a:endParaRPr lang="ko-KR" altLang="en-US"/>
          </a:p>
        </p:txBody>
      </p:sp>
      <p:sp>
        <p:nvSpPr>
          <p:cNvPr id="4" name="직사각형 3"/>
          <p:cNvSpPr/>
          <p:nvPr/>
        </p:nvSpPr>
        <p:spPr>
          <a:xfrm>
            <a:off x="1357290" y="1785926"/>
            <a:ext cx="4786346" cy="307777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defTabSz="180000"/>
            <a:r>
              <a:rPr lang="en-US" altLang="ko-KR" sz="14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JLabel</a:t>
            </a:r>
            <a:r>
              <a:rPr lang="en-US" altLang="ko-KR" sz="14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 </a:t>
            </a:r>
            <a:r>
              <a:rPr lang="en-US" altLang="ko-KR" sz="14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textLabel</a:t>
            </a:r>
            <a:r>
              <a:rPr lang="en-US" altLang="ko-KR" sz="14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 = new </a:t>
            </a:r>
            <a:r>
              <a:rPr lang="en-US" altLang="ko-KR" sz="14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JLabel</a:t>
            </a:r>
            <a:r>
              <a:rPr lang="en-US" altLang="ko-KR" sz="14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("</a:t>
            </a:r>
            <a:r>
              <a:rPr lang="ko-KR" altLang="en-US" sz="14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사랑합니다</a:t>
            </a:r>
            <a:r>
              <a:rPr lang="en-US" altLang="ko-KR" sz="14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");</a:t>
            </a:r>
          </a:p>
        </p:txBody>
      </p:sp>
      <p:sp>
        <p:nvSpPr>
          <p:cNvPr id="5" name="직사각형 4"/>
          <p:cNvSpPr/>
          <p:nvPr/>
        </p:nvSpPr>
        <p:spPr>
          <a:xfrm>
            <a:off x="1357290" y="4005482"/>
            <a:ext cx="5808138" cy="52322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defTabSz="180000"/>
            <a:r>
              <a:rPr lang="en-US" altLang="ko-KR" sz="14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ImageIcon</a:t>
            </a:r>
            <a:r>
              <a:rPr lang="en-US" altLang="ko-KR" sz="14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 image = new </a:t>
            </a:r>
            <a:r>
              <a:rPr lang="en-US" altLang="ko-KR" sz="14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ImageIcon</a:t>
            </a:r>
            <a:r>
              <a:rPr lang="en-US" altLang="ko-KR" sz="14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("images/sunset.jpg");</a:t>
            </a:r>
          </a:p>
          <a:p>
            <a:pPr defTabSz="180000"/>
            <a:r>
              <a:rPr lang="en-US" altLang="ko-KR" sz="14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JLabel</a:t>
            </a:r>
            <a:r>
              <a:rPr lang="en-US" altLang="ko-KR" sz="14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 </a:t>
            </a:r>
            <a:r>
              <a:rPr lang="en-US" altLang="ko-KR" sz="14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imageLabel</a:t>
            </a:r>
            <a:r>
              <a:rPr lang="en-US" altLang="ko-KR" sz="14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 = new </a:t>
            </a:r>
            <a:r>
              <a:rPr lang="en-US" altLang="ko-KR" sz="14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JLabel</a:t>
            </a:r>
            <a:r>
              <a:rPr lang="en-US" altLang="ko-KR" sz="14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(image);</a:t>
            </a:r>
          </a:p>
        </p:txBody>
      </p:sp>
      <p:sp>
        <p:nvSpPr>
          <p:cNvPr id="6" name="직사각형 5"/>
          <p:cNvSpPr/>
          <p:nvPr/>
        </p:nvSpPr>
        <p:spPr>
          <a:xfrm>
            <a:off x="1357290" y="5661248"/>
            <a:ext cx="6239046" cy="73866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defTabSz="180000"/>
            <a:r>
              <a:rPr lang="en-US" altLang="ko-KR" sz="14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ImageIcon</a:t>
            </a:r>
            <a:r>
              <a:rPr lang="en-US" altLang="ko-KR" sz="14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 image = new </a:t>
            </a:r>
            <a:r>
              <a:rPr lang="en-US" altLang="ko-KR" sz="14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ImageIcon</a:t>
            </a:r>
            <a:r>
              <a:rPr lang="en-US" altLang="ko-KR" sz="14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("images/sunset.jpg");</a:t>
            </a:r>
          </a:p>
          <a:p>
            <a:pPr defTabSz="180000"/>
            <a:r>
              <a:rPr lang="en-US" altLang="ko-KR" sz="14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JLabel</a:t>
            </a:r>
            <a:r>
              <a:rPr lang="en-US" altLang="ko-KR" sz="14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 label = new </a:t>
            </a:r>
            <a:r>
              <a:rPr lang="en-US" altLang="ko-KR" sz="14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JLabel</a:t>
            </a:r>
            <a:r>
              <a:rPr lang="en-US" altLang="ko-KR" sz="14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("</a:t>
            </a:r>
            <a:r>
              <a:rPr lang="ko-KR" altLang="en-US" sz="14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사랑합니다</a:t>
            </a:r>
            <a:r>
              <a:rPr lang="en-US" altLang="ko-KR" sz="14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", image, </a:t>
            </a:r>
            <a:r>
              <a:rPr lang="en-US" altLang="ko-KR" sz="14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SwingConstants.CENTER</a:t>
            </a:r>
            <a:r>
              <a:rPr lang="en-US" altLang="ko-KR" sz="14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30167409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80112" y="1758333"/>
            <a:ext cx="2808312" cy="432340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예제 </a:t>
            </a:r>
            <a:r>
              <a:rPr lang="en-US" altLang="ko-KR" dirty="0"/>
              <a:t>11-2 : </a:t>
            </a:r>
            <a:r>
              <a:rPr lang="en-US" altLang="ko-KR" dirty="0" err="1"/>
              <a:t>JLabel</a:t>
            </a:r>
            <a:r>
              <a:rPr lang="ko-KR" altLang="en-US" dirty="0"/>
              <a:t>을 이용한 레이블 만들기</a:t>
            </a:r>
          </a:p>
        </p:txBody>
      </p:sp>
      <p:sp>
        <p:nvSpPr>
          <p:cNvPr id="11" name="슬라이드 번호 개체 틀 10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77500" lnSpcReduction="20000"/>
          </a:bodyPr>
          <a:lstStyle/>
          <a:p>
            <a:fld id="{1A6BD2C2-3D3B-4E94-BD92-61B02C5F4DEE}" type="slidenum">
              <a:rPr lang="ko-KR" altLang="en-US" smtClean="0"/>
              <a:pPr/>
              <a:t>8</a:t>
            </a:fld>
            <a:endParaRPr lang="ko-KR" altLang="en-US"/>
          </a:p>
        </p:txBody>
      </p:sp>
      <p:sp>
        <p:nvSpPr>
          <p:cNvPr id="7" name="직사각형 6"/>
          <p:cNvSpPr/>
          <p:nvPr/>
        </p:nvSpPr>
        <p:spPr>
          <a:xfrm>
            <a:off x="222795" y="1484784"/>
            <a:ext cx="4786314" cy="5101397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defTabSz="180000"/>
            <a:r>
              <a:rPr lang="en-US" altLang="ko-KR" sz="105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import </a:t>
            </a:r>
            <a:r>
              <a:rPr lang="en-US" altLang="ko-KR" sz="105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javax.swing</a:t>
            </a:r>
            <a:r>
              <a:rPr lang="en-US" altLang="ko-KR" sz="105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.*;</a:t>
            </a:r>
          </a:p>
          <a:p>
            <a:pPr defTabSz="180000"/>
            <a:r>
              <a:rPr lang="en-US" altLang="ko-KR" sz="105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import </a:t>
            </a:r>
            <a:r>
              <a:rPr lang="en-US" altLang="ko-KR" sz="105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java.awt</a:t>
            </a:r>
            <a:r>
              <a:rPr lang="en-US" altLang="ko-KR" sz="105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.*;</a:t>
            </a:r>
          </a:p>
          <a:p>
            <a:pPr defTabSz="180000"/>
            <a:endParaRPr lang="en-US" altLang="ko-KR" sz="1050" dirty="0">
              <a:latin typeface="메이플스토리" panose="02000300000000000000" pitchFamily="2" charset="-127"/>
              <a:ea typeface="메이플스토리" panose="02000300000000000000" pitchFamily="2" charset="-127"/>
            </a:endParaRPr>
          </a:p>
          <a:p>
            <a:pPr defTabSz="180000"/>
            <a:r>
              <a:rPr lang="en-US" altLang="ko-KR" sz="1050" b="1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public class </a:t>
            </a:r>
            <a:r>
              <a:rPr lang="en-US" altLang="ko-KR" sz="1050" b="1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LabelEx</a:t>
            </a:r>
            <a:r>
              <a:rPr lang="en-US" altLang="ko-KR" sz="1050" b="1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 extends </a:t>
            </a:r>
            <a:r>
              <a:rPr lang="en-US" altLang="ko-KR" sz="1050" b="1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JFrame</a:t>
            </a:r>
            <a:r>
              <a:rPr lang="en-US" altLang="ko-KR" sz="1050" b="1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 </a:t>
            </a:r>
            <a:r>
              <a:rPr lang="en-US" altLang="ko-KR" sz="105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{</a:t>
            </a:r>
          </a:p>
          <a:p>
            <a:pPr defTabSz="180000"/>
            <a:r>
              <a:rPr lang="en-US" altLang="ko-KR" sz="105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public </a:t>
            </a:r>
            <a:r>
              <a:rPr lang="en-US" altLang="ko-KR" sz="105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LabelEx</a:t>
            </a:r>
            <a:r>
              <a:rPr lang="en-US" altLang="ko-KR" sz="105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() {</a:t>
            </a:r>
          </a:p>
          <a:p>
            <a:pPr defTabSz="180000"/>
            <a:r>
              <a:rPr lang="en-US" altLang="ko-KR" sz="105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	</a:t>
            </a:r>
            <a:r>
              <a:rPr lang="en-US" altLang="ko-KR" sz="105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setTitle</a:t>
            </a:r>
            <a:r>
              <a:rPr lang="en-US" altLang="ko-KR" sz="105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("</a:t>
            </a:r>
            <a:r>
              <a:rPr lang="ko-KR" altLang="en-US" sz="105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레이블 예제</a:t>
            </a:r>
            <a:r>
              <a:rPr lang="en-US" altLang="ko-KR" sz="105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");</a:t>
            </a:r>
          </a:p>
          <a:p>
            <a:pPr defTabSz="180000"/>
            <a:r>
              <a:rPr lang="en-US" altLang="ko-KR" sz="105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	</a:t>
            </a:r>
            <a:r>
              <a:rPr lang="en-US" altLang="ko-KR" sz="105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setDefaultCloseOperation</a:t>
            </a:r>
            <a:r>
              <a:rPr lang="en-US" altLang="ko-KR" sz="105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</a:t>
            </a:r>
            <a:r>
              <a:rPr lang="en-US" altLang="ko-KR" sz="105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JFrame.EXIT_ON_CLOSE</a:t>
            </a:r>
            <a:r>
              <a:rPr lang="en-US" altLang="ko-KR" sz="105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);</a:t>
            </a:r>
          </a:p>
          <a:p>
            <a:pPr defTabSz="180000"/>
            <a:r>
              <a:rPr lang="en-US" altLang="ko-KR" sz="105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	Container c = </a:t>
            </a:r>
            <a:r>
              <a:rPr lang="en-US" altLang="ko-KR" sz="105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getContentPane</a:t>
            </a:r>
            <a:r>
              <a:rPr lang="en-US" altLang="ko-KR" sz="105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();</a:t>
            </a:r>
          </a:p>
          <a:p>
            <a:pPr defTabSz="180000"/>
            <a:r>
              <a:rPr lang="en-US" altLang="ko-KR" sz="105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	</a:t>
            </a:r>
            <a:r>
              <a:rPr lang="en-US" altLang="ko-KR" sz="105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c.setLayout</a:t>
            </a:r>
            <a:r>
              <a:rPr lang="en-US" altLang="ko-KR" sz="105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(new </a:t>
            </a:r>
            <a:r>
              <a:rPr lang="en-US" altLang="ko-KR" sz="105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FlowLayout</a:t>
            </a:r>
            <a:r>
              <a:rPr lang="en-US" altLang="ko-KR" sz="105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());</a:t>
            </a:r>
          </a:p>
          <a:p>
            <a:pPr defTabSz="180000"/>
            <a:endParaRPr lang="en-US" altLang="ko-KR" sz="1050" dirty="0">
              <a:latin typeface="메이플스토리" panose="02000300000000000000" pitchFamily="2" charset="-127"/>
              <a:ea typeface="메이플스토리" panose="02000300000000000000" pitchFamily="2" charset="-127"/>
            </a:endParaRPr>
          </a:p>
          <a:p>
            <a:pPr defTabSz="180000"/>
            <a:r>
              <a:rPr lang="en-US" altLang="ko-KR" sz="105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	</a:t>
            </a:r>
            <a:r>
              <a:rPr lang="en-US" altLang="ko-KR" sz="1050" b="1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JLabel</a:t>
            </a:r>
            <a:r>
              <a:rPr lang="en-US" altLang="ko-KR" sz="1050" b="1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 </a:t>
            </a:r>
            <a:r>
              <a:rPr lang="en-US" altLang="ko-KR" sz="1050" b="1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textLabel</a:t>
            </a:r>
            <a:r>
              <a:rPr lang="en-US" altLang="ko-KR" sz="1050" b="1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 = new </a:t>
            </a:r>
            <a:r>
              <a:rPr lang="en-US" altLang="ko-KR" sz="1050" b="1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JLabel</a:t>
            </a:r>
            <a:r>
              <a:rPr lang="en-US" altLang="ko-KR" sz="1050" b="1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("</a:t>
            </a:r>
            <a:r>
              <a:rPr lang="ko-KR" altLang="en-US" sz="1050" b="1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사랑합니다</a:t>
            </a:r>
            <a:r>
              <a:rPr lang="en-US" altLang="ko-KR" sz="1050" b="1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.");</a:t>
            </a:r>
          </a:p>
          <a:p>
            <a:pPr defTabSz="180000"/>
            <a:r>
              <a:rPr lang="en-US" altLang="ko-KR" sz="105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	</a:t>
            </a:r>
          </a:p>
          <a:p>
            <a:pPr defTabSz="180000"/>
            <a:r>
              <a:rPr lang="en-US" altLang="ko-KR" sz="105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	</a:t>
            </a:r>
            <a:r>
              <a:rPr lang="en-US" altLang="ko-KR" sz="1050" b="1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ImageIcon</a:t>
            </a:r>
            <a:r>
              <a:rPr lang="en-US" altLang="ko-KR" sz="1050" b="1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 beauty = new </a:t>
            </a:r>
            <a:r>
              <a:rPr lang="en-US" altLang="ko-KR" sz="1050" b="1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ImageIcon</a:t>
            </a:r>
            <a:r>
              <a:rPr lang="en-US" altLang="ko-KR" sz="1050" b="1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("images/beauty.jpg"); </a:t>
            </a:r>
            <a:endParaRPr lang="ko-KR" altLang="en-US" sz="1050" b="1" dirty="0">
              <a:latin typeface="메이플스토리" panose="02000300000000000000" pitchFamily="2" charset="-127"/>
              <a:ea typeface="메이플스토리" panose="02000300000000000000" pitchFamily="2" charset="-127"/>
            </a:endParaRPr>
          </a:p>
          <a:p>
            <a:pPr defTabSz="180000"/>
            <a:r>
              <a:rPr lang="en-US" altLang="ko-KR" sz="1050" b="1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	</a:t>
            </a:r>
            <a:r>
              <a:rPr lang="en-US" altLang="ko-KR" sz="1050" b="1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JLabel</a:t>
            </a:r>
            <a:r>
              <a:rPr lang="en-US" altLang="ko-KR" sz="1050" b="1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 </a:t>
            </a:r>
            <a:r>
              <a:rPr lang="en-US" altLang="ko-KR" sz="1050" b="1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imageLabel</a:t>
            </a:r>
            <a:r>
              <a:rPr lang="en-US" altLang="ko-KR" sz="1050" b="1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 = new </a:t>
            </a:r>
            <a:r>
              <a:rPr lang="en-US" altLang="ko-KR" sz="1050" b="1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JLabel</a:t>
            </a:r>
            <a:r>
              <a:rPr lang="en-US" altLang="ko-KR" sz="1050" b="1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(beauty);</a:t>
            </a:r>
          </a:p>
          <a:p>
            <a:pPr defTabSz="180000"/>
            <a:endParaRPr lang="ko-KR" altLang="en-US" sz="1050" dirty="0">
              <a:latin typeface="메이플스토리" panose="02000300000000000000" pitchFamily="2" charset="-127"/>
              <a:ea typeface="메이플스토리" panose="02000300000000000000" pitchFamily="2" charset="-127"/>
            </a:endParaRPr>
          </a:p>
          <a:p>
            <a:pPr defTabSz="180000"/>
            <a:r>
              <a:rPr lang="en-US" altLang="ko-KR" sz="105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	</a:t>
            </a:r>
            <a:r>
              <a:rPr lang="en-US" altLang="ko-KR" sz="105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ImageIcon</a:t>
            </a:r>
            <a:r>
              <a:rPr lang="en-US" altLang="ko-KR" sz="105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 </a:t>
            </a:r>
            <a:r>
              <a:rPr lang="en-US" altLang="ko-KR" sz="105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normalIcon</a:t>
            </a:r>
            <a:r>
              <a:rPr lang="en-US" altLang="ko-KR" sz="105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 = new </a:t>
            </a:r>
            <a:r>
              <a:rPr lang="en-US" altLang="ko-KR" sz="105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ImageIcon</a:t>
            </a:r>
            <a:r>
              <a:rPr lang="en-US" altLang="ko-KR" sz="105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("images/normalIcon.gif"); </a:t>
            </a:r>
            <a:endParaRPr lang="ko-KR" altLang="en-US" sz="1050" dirty="0">
              <a:latin typeface="메이플스토리" panose="02000300000000000000" pitchFamily="2" charset="-127"/>
              <a:ea typeface="메이플스토리" panose="02000300000000000000" pitchFamily="2" charset="-127"/>
            </a:endParaRPr>
          </a:p>
          <a:p>
            <a:pPr defTabSz="180000"/>
            <a:r>
              <a:rPr lang="en-US" altLang="ko-KR" sz="105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	</a:t>
            </a:r>
            <a:r>
              <a:rPr lang="en-US" altLang="ko-KR" sz="1050" b="1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JLabel</a:t>
            </a:r>
            <a:r>
              <a:rPr lang="en-US" altLang="ko-KR" sz="1050" b="1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 label = new </a:t>
            </a:r>
            <a:r>
              <a:rPr lang="en-US" altLang="ko-KR" sz="1050" b="1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JLabel</a:t>
            </a:r>
            <a:r>
              <a:rPr lang="en-US" altLang="ko-KR" sz="1050" b="1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("</a:t>
            </a:r>
            <a:r>
              <a:rPr lang="ko-KR" altLang="en-US" sz="1050" b="1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보고싶으면</a:t>
            </a:r>
            <a:r>
              <a:rPr lang="ko-KR" altLang="en-US" sz="1050" b="1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 전화하세요</a:t>
            </a:r>
            <a:r>
              <a:rPr lang="en-US" altLang="ko-KR" sz="1050" b="1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",</a:t>
            </a:r>
          </a:p>
          <a:p>
            <a:pPr defTabSz="180000"/>
            <a:r>
              <a:rPr lang="en-US" altLang="ko-KR" sz="1050" b="1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				</a:t>
            </a:r>
            <a:r>
              <a:rPr lang="en-US" altLang="ko-KR" sz="1050" b="1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normalIcon</a:t>
            </a:r>
            <a:r>
              <a:rPr lang="en-US" altLang="ko-KR" sz="1050" b="1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, </a:t>
            </a:r>
            <a:r>
              <a:rPr lang="en-US" altLang="ko-KR" sz="1050" b="1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SwingConstants.CENTER</a:t>
            </a:r>
            <a:r>
              <a:rPr lang="en-US" altLang="ko-KR" sz="1050" b="1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);</a:t>
            </a:r>
          </a:p>
          <a:p>
            <a:pPr defTabSz="180000"/>
            <a:endParaRPr lang="en-US" altLang="ko-KR" sz="1050" dirty="0">
              <a:latin typeface="메이플스토리" panose="02000300000000000000" pitchFamily="2" charset="-127"/>
              <a:ea typeface="메이플스토리" panose="02000300000000000000" pitchFamily="2" charset="-127"/>
            </a:endParaRPr>
          </a:p>
          <a:p>
            <a:pPr defTabSz="180000"/>
            <a:r>
              <a:rPr lang="en-US" altLang="ko-KR" sz="105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	</a:t>
            </a:r>
            <a:r>
              <a:rPr lang="en-US" altLang="ko-KR" sz="105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c.add</a:t>
            </a:r>
            <a:r>
              <a:rPr lang="en-US" altLang="ko-KR" sz="105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</a:t>
            </a:r>
            <a:r>
              <a:rPr lang="en-US" altLang="ko-KR" sz="105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textLabel</a:t>
            </a:r>
            <a:r>
              <a:rPr lang="en-US" altLang="ko-KR" sz="105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);</a:t>
            </a:r>
          </a:p>
          <a:p>
            <a:pPr defTabSz="180000"/>
            <a:r>
              <a:rPr lang="en-US" altLang="ko-KR" sz="105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	</a:t>
            </a:r>
            <a:r>
              <a:rPr lang="en-US" altLang="ko-KR" sz="105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c.add</a:t>
            </a:r>
            <a:r>
              <a:rPr lang="en-US" altLang="ko-KR" sz="105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</a:t>
            </a:r>
            <a:r>
              <a:rPr lang="en-US" altLang="ko-KR" sz="105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imageLabel</a:t>
            </a:r>
            <a:r>
              <a:rPr lang="en-US" altLang="ko-KR" sz="105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);</a:t>
            </a:r>
          </a:p>
          <a:p>
            <a:pPr defTabSz="180000"/>
            <a:r>
              <a:rPr lang="en-US" altLang="ko-KR" sz="105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	</a:t>
            </a:r>
            <a:r>
              <a:rPr lang="en-US" altLang="ko-KR" sz="105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c.add</a:t>
            </a:r>
            <a:r>
              <a:rPr lang="en-US" altLang="ko-KR" sz="105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(label);</a:t>
            </a:r>
          </a:p>
          <a:p>
            <a:pPr defTabSz="180000"/>
            <a:endParaRPr lang="en-US" altLang="ko-KR" sz="1050" dirty="0">
              <a:latin typeface="메이플스토리" panose="02000300000000000000" pitchFamily="2" charset="-127"/>
              <a:ea typeface="메이플스토리" panose="02000300000000000000" pitchFamily="2" charset="-127"/>
            </a:endParaRPr>
          </a:p>
          <a:p>
            <a:pPr defTabSz="180000"/>
            <a:r>
              <a:rPr lang="en-US" altLang="ko-KR" sz="105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	</a:t>
            </a:r>
            <a:r>
              <a:rPr lang="en-US" altLang="ko-KR" sz="105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setSize</a:t>
            </a:r>
            <a:r>
              <a:rPr lang="en-US" altLang="ko-KR" sz="105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(400,600);</a:t>
            </a:r>
          </a:p>
          <a:p>
            <a:pPr defTabSz="180000"/>
            <a:r>
              <a:rPr lang="en-US" altLang="ko-KR" sz="105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	</a:t>
            </a:r>
            <a:r>
              <a:rPr lang="en-US" altLang="ko-KR" sz="105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setVisible</a:t>
            </a:r>
            <a:r>
              <a:rPr lang="en-US" altLang="ko-KR" sz="105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(true);</a:t>
            </a:r>
          </a:p>
          <a:p>
            <a:pPr defTabSz="180000"/>
            <a:r>
              <a:rPr lang="en-US" altLang="ko-KR" sz="105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}</a:t>
            </a:r>
          </a:p>
          <a:p>
            <a:pPr defTabSz="180000"/>
            <a:r>
              <a:rPr lang="en-US" altLang="ko-KR" sz="105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public static void main(String [] </a:t>
            </a:r>
            <a:r>
              <a:rPr lang="en-US" altLang="ko-KR" sz="105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args</a:t>
            </a:r>
            <a:r>
              <a:rPr lang="en-US" altLang="ko-KR" sz="105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) {</a:t>
            </a:r>
          </a:p>
          <a:p>
            <a:pPr defTabSz="180000"/>
            <a:r>
              <a:rPr lang="en-US" altLang="ko-KR" sz="105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	new </a:t>
            </a:r>
            <a:r>
              <a:rPr lang="en-US" altLang="ko-KR" sz="105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LabelEx</a:t>
            </a:r>
            <a:r>
              <a:rPr lang="en-US" altLang="ko-KR" sz="105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();</a:t>
            </a:r>
          </a:p>
          <a:p>
            <a:pPr defTabSz="180000"/>
            <a:r>
              <a:rPr lang="en-US" altLang="ko-KR" sz="105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}</a:t>
            </a:r>
          </a:p>
          <a:p>
            <a:pPr defTabSz="180000"/>
            <a:r>
              <a:rPr lang="en-US" altLang="ko-KR" sz="105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}</a:t>
            </a:r>
            <a:endParaRPr lang="ko-KR" altLang="en-US" sz="1050" dirty="0">
              <a:latin typeface="메이플스토리" panose="02000300000000000000" pitchFamily="2" charset="-127"/>
              <a:ea typeface="메이플스토리" panose="02000300000000000000" pitchFamily="2" charset="-127"/>
            </a:endParaRPr>
          </a:p>
        </p:txBody>
      </p:sp>
      <p:sp>
        <p:nvSpPr>
          <p:cNvPr id="8" name="자유형 7"/>
          <p:cNvSpPr/>
          <p:nvPr/>
        </p:nvSpPr>
        <p:spPr>
          <a:xfrm>
            <a:off x="3635896" y="1988841"/>
            <a:ext cx="2808312" cy="1224136"/>
          </a:xfrm>
          <a:custGeom>
            <a:avLst/>
            <a:gdLst>
              <a:gd name="connsiteX0" fmla="*/ 0 w 3453319"/>
              <a:gd name="connsiteY0" fmla="*/ 1583987 h 1583987"/>
              <a:gd name="connsiteX1" fmla="*/ 369651 w 3453319"/>
              <a:gd name="connsiteY1" fmla="*/ 1476983 h 1583987"/>
              <a:gd name="connsiteX2" fmla="*/ 1079770 w 3453319"/>
              <a:gd name="connsiteY2" fmla="*/ 1039238 h 1583987"/>
              <a:gd name="connsiteX3" fmla="*/ 1614792 w 3453319"/>
              <a:gd name="connsiteY3" fmla="*/ 348575 h 1583987"/>
              <a:gd name="connsiteX4" fmla="*/ 2266545 w 3453319"/>
              <a:gd name="connsiteY4" fmla="*/ 47017 h 1583987"/>
              <a:gd name="connsiteX5" fmla="*/ 3453319 w 3453319"/>
              <a:gd name="connsiteY5" fmla="*/ 66472 h 15839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453319" h="1583987">
                <a:moveTo>
                  <a:pt x="0" y="1583987"/>
                </a:moveTo>
                <a:cubicBezTo>
                  <a:pt x="94844" y="1575881"/>
                  <a:pt x="189689" y="1567775"/>
                  <a:pt x="369651" y="1476983"/>
                </a:cubicBezTo>
                <a:cubicBezTo>
                  <a:pt x="549613" y="1386192"/>
                  <a:pt x="872247" y="1227306"/>
                  <a:pt x="1079770" y="1039238"/>
                </a:cubicBezTo>
                <a:cubicBezTo>
                  <a:pt x="1287293" y="851170"/>
                  <a:pt x="1416996" y="513945"/>
                  <a:pt x="1614792" y="348575"/>
                </a:cubicBezTo>
                <a:cubicBezTo>
                  <a:pt x="1812588" y="183205"/>
                  <a:pt x="1960124" y="94034"/>
                  <a:pt x="2266545" y="47017"/>
                </a:cubicBezTo>
                <a:cubicBezTo>
                  <a:pt x="2572966" y="0"/>
                  <a:pt x="3013142" y="33236"/>
                  <a:pt x="3453319" y="66472"/>
                </a:cubicBezTo>
              </a:path>
            </a:pathLst>
          </a:custGeom>
          <a:ln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메이플스토리" panose="02000300000000000000" pitchFamily="2" charset="-127"/>
              <a:ea typeface="메이플스토리" panose="02000300000000000000" pitchFamily="2" charset="-127"/>
            </a:endParaRPr>
          </a:p>
        </p:txBody>
      </p:sp>
      <p:sp>
        <p:nvSpPr>
          <p:cNvPr id="9" name="자유형 8"/>
          <p:cNvSpPr/>
          <p:nvPr/>
        </p:nvSpPr>
        <p:spPr>
          <a:xfrm>
            <a:off x="3347864" y="3429000"/>
            <a:ext cx="2376263" cy="360040"/>
          </a:xfrm>
          <a:custGeom>
            <a:avLst/>
            <a:gdLst>
              <a:gd name="connsiteX0" fmla="*/ 0 w 2130357"/>
              <a:gd name="connsiteY0" fmla="*/ 175098 h 207524"/>
              <a:gd name="connsiteX1" fmla="*/ 778213 w 2130357"/>
              <a:gd name="connsiteY1" fmla="*/ 194554 h 207524"/>
              <a:gd name="connsiteX2" fmla="*/ 1527242 w 2130357"/>
              <a:gd name="connsiteY2" fmla="*/ 97277 h 207524"/>
              <a:gd name="connsiteX3" fmla="*/ 2130357 w 2130357"/>
              <a:gd name="connsiteY3" fmla="*/ 0 h 2075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30357" h="207524">
                <a:moveTo>
                  <a:pt x="0" y="175098"/>
                </a:moveTo>
                <a:cubicBezTo>
                  <a:pt x="261836" y="191311"/>
                  <a:pt x="523673" y="207524"/>
                  <a:pt x="778213" y="194554"/>
                </a:cubicBezTo>
                <a:cubicBezTo>
                  <a:pt x="1032753" y="181584"/>
                  <a:pt x="1301885" y="129703"/>
                  <a:pt x="1527242" y="97277"/>
                </a:cubicBezTo>
                <a:cubicBezTo>
                  <a:pt x="1752599" y="64851"/>
                  <a:pt x="1941478" y="32425"/>
                  <a:pt x="2130357" y="0"/>
                </a:cubicBezTo>
              </a:path>
            </a:pathLst>
          </a:custGeom>
          <a:ln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메이플스토리" panose="02000300000000000000" pitchFamily="2" charset="-127"/>
              <a:ea typeface="메이플스토리" panose="02000300000000000000" pitchFamily="2" charset="-127"/>
            </a:endParaRPr>
          </a:p>
        </p:txBody>
      </p:sp>
      <p:sp>
        <p:nvSpPr>
          <p:cNvPr id="10" name="자유형 9"/>
          <p:cNvSpPr/>
          <p:nvPr/>
        </p:nvSpPr>
        <p:spPr>
          <a:xfrm>
            <a:off x="3923928" y="4184354"/>
            <a:ext cx="2376264" cy="1116854"/>
          </a:xfrm>
          <a:custGeom>
            <a:avLst/>
            <a:gdLst>
              <a:gd name="connsiteX0" fmla="*/ 0 w 2461098"/>
              <a:gd name="connsiteY0" fmla="*/ 1621 h 1703961"/>
              <a:gd name="connsiteX1" fmla="*/ 340468 w 2461098"/>
              <a:gd name="connsiteY1" fmla="*/ 50259 h 1703961"/>
              <a:gd name="connsiteX2" fmla="*/ 710119 w 2461098"/>
              <a:gd name="connsiteY2" fmla="*/ 303178 h 1703961"/>
              <a:gd name="connsiteX3" fmla="*/ 1147864 w 2461098"/>
              <a:gd name="connsiteY3" fmla="*/ 1295399 h 1703961"/>
              <a:gd name="connsiteX4" fmla="*/ 2461098 w 2461098"/>
              <a:gd name="connsiteY4" fmla="*/ 1703961 h 17039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61098" h="1703961">
                <a:moveTo>
                  <a:pt x="0" y="1621"/>
                </a:moveTo>
                <a:cubicBezTo>
                  <a:pt x="111057" y="810"/>
                  <a:pt x="222115" y="0"/>
                  <a:pt x="340468" y="50259"/>
                </a:cubicBezTo>
                <a:cubicBezTo>
                  <a:pt x="458821" y="100518"/>
                  <a:pt x="575553" y="95655"/>
                  <a:pt x="710119" y="303178"/>
                </a:cubicBezTo>
                <a:cubicBezTo>
                  <a:pt x="844685" y="510701"/>
                  <a:pt x="856034" y="1061935"/>
                  <a:pt x="1147864" y="1295399"/>
                </a:cubicBezTo>
                <a:cubicBezTo>
                  <a:pt x="1439694" y="1528863"/>
                  <a:pt x="1950396" y="1616412"/>
                  <a:pt x="2461098" y="1703961"/>
                </a:cubicBezTo>
              </a:path>
            </a:pathLst>
          </a:custGeom>
          <a:ln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메이플스토리" panose="02000300000000000000" pitchFamily="2" charset="-127"/>
              <a:ea typeface="메이플스토리" panose="020003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0373047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JButton, </a:t>
            </a:r>
            <a:r>
              <a:rPr lang="ko-KR" altLang="en-US"/>
              <a:t>버튼</a:t>
            </a:r>
            <a:r>
              <a:rPr lang="en-US" altLang="ko-KR"/>
              <a:t> </a:t>
            </a:r>
            <a:r>
              <a:rPr lang="ko-KR" altLang="en-US"/>
              <a:t>컴포넌트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sz="quarter" idx="1"/>
          </p:nvPr>
        </p:nvSpPr>
        <p:spPr>
          <a:xfrm>
            <a:off x="612648" y="1340768"/>
            <a:ext cx="8153400" cy="4536504"/>
          </a:xfrm>
        </p:spPr>
        <p:txBody>
          <a:bodyPr>
            <a:normAutofit/>
          </a:bodyPr>
          <a:lstStyle/>
          <a:p>
            <a:r>
              <a:rPr lang="ko-KR" altLang="en-US" dirty="0"/>
              <a:t>버튼 컴포넌트</a:t>
            </a:r>
            <a:endParaRPr lang="en-US" altLang="ko-KR" dirty="0"/>
          </a:p>
          <a:p>
            <a:pPr lvl="1"/>
            <a:r>
              <a:rPr lang="ko-KR" altLang="en-US" dirty="0"/>
              <a:t>버튼 모양의 컴포넌트</a:t>
            </a:r>
            <a:endParaRPr lang="en-US" altLang="ko-KR" dirty="0"/>
          </a:p>
          <a:p>
            <a:pPr lvl="1"/>
            <a:r>
              <a:rPr lang="ko-KR" altLang="en-US" dirty="0"/>
              <a:t>버튼을 선택하면 </a:t>
            </a:r>
            <a:r>
              <a:rPr lang="en-US" altLang="ko-KR" dirty="0"/>
              <a:t>Action </a:t>
            </a:r>
            <a:r>
              <a:rPr lang="ko-KR" altLang="en-US" dirty="0"/>
              <a:t>이벤트 발생</a:t>
            </a:r>
            <a:endParaRPr lang="en-US" altLang="ko-KR" dirty="0"/>
          </a:p>
          <a:p>
            <a:r>
              <a:rPr lang="ko-KR" altLang="en-US" dirty="0" err="1"/>
              <a:t>생성자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버튼 컴포넌트 생성 예</a:t>
            </a:r>
            <a:endParaRPr lang="en-US" altLang="ko-KR" dirty="0"/>
          </a:p>
          <a:p>
            <a:pPr lvl="1"/>
            <a:r>
              <a:rPr lang="en-US" altLang="ko-KR" dirty="0"/>
              <a:t>"hello" </a:t>
            </a:r>
            <a:r>
              <a:rPr lang="ko-KR" altLang="en-US" dirty="0"/>
              <a:t>문자열을 가진 버튼 컴포넌트 생성 예</a:t>
            </a:r>
            <a:endParaRPr lang="en-US" altLang="ko-KR" dirty="0"/>
          </a:p>
          <a:p>
            <a:pPr lvl="1"/>
            <a:endParaRPr lang="ko-KR" altLang="en-US" dirty="0"/>
          </a:p>
        </p:txBody>
      </p:sp>
      <p:sp>
        <p:nvSpPr>
          <p:cNvPr id="11" name="슬라이드 번호 개체 틀 10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77500" lnSpcReduction="20000"/>
          </a:bodyPr>
          <a:lstStyle/>
          <a:p>
            <a:fld id="{1A6BD2C2-3D3B-4E94-BD92-61B02C5F4DEE}" type="slidenum">
              <a:rPr lang="ko-KR" altLang="en-US" smtClean="0"/>
              <a:pPr/>
              <a:t>9</a:t>
            </a:fld>
            <a:endParaRPr lang="ko-KR" altLang="en-US"/>
          </a:p>
        </p:txBody>
      </p:sp>
      <p:grpSp>
        <p:nvGrpSpPr>
          <p:cNvPr id="12" name="그룹 11"/>
          <p:cNvGrpSpPr/>
          <p:nvPr/>
        </p:nvGrpSpPr>
        <p:grpSpPr>
          <a:xfrm>
            <a:off x="5868144" y="1340768"/>
            <a:ext cx="2202315" cy="1759414"/>
            <a:chOff x="6372200" y="202098"/>
            <a:chExt cx="2202315" cy="1759414"/>
          </a:xfrm>
        </p:grpSpPr>
        <p:pic>
          <p:nvPicPr>
            <p:cNvPr id="8" name="그림 7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372200" y="202098"/>
              <a:ext cx="2202315" cy="1335646"/>
            </a:xfrm>
            <a:prstGeom prst="rect">
              <a:avLst/>
            </a:prstGeom>
            <a:ln>
              <a:solidFill>
                <a:schemeClr val="accent1"/>
              </a:solidFill>
            </a:ln>
          </p:spPr>
        </p:pic>
        <p:sp>
          <p:nvSpPr>
            <p:cNvPr id="5" name="TextBox 4"/>
            <p:cNvSpPr txBox="1"/>
            <p:nvPr/>
          </p:nvSpPr>
          <p:spPr>
            <a:xfrm>
              <a:off x="6551774" y="1684513"/>
              <a:ext cx="886781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200" dirty="0">
                  <a:latin typeface="메이플스토리" panose="02000300000000000000" pitchFamily="2" charset="-127"/>
                  <a:ea typeface="메이플스토리" panose="02000300000000000000" pitchFamily="2" charset="-127"/>
                </a:rPr>
                <a:t>버튼 이미지</a:t>
              </a: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7614133" y="1681270"/>
              <a:ext cx="875561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200" dirty="0">
                  <a:latin typeface="메이플스토리" panose="02000300000000000000" pitchFamily="2" charset="-127"/>
                  <a:ea typeface="메이플스토리" panose="02000300000000000000" pitchFamily="2" charset="-127"/>
                </a:rPr>
                <a:t>버튼 문자열</a:t>
              </a:r>
            </a:p>
          </p:txBody>
        </p:sp>
        <p:sp>
          <p:nvSpPr>
            <p:cNvPr id="7" name="자유형 6"/>
            <p:cNvSpPr/>
            <p:nvPr/>
          </p:nvSpPr>
          <p:spPr>
            <a:xfrm>
              <a:off x="7856438" y="939987"/>
              <a:ext cx="280010" cy="800102"/>
            </a:xfrm>
            <a:custGeom>
              <a:avLst/>
              <a:gdLst>
                <a:gd name="connsiteX0" fmla="*/ 535021 w 604736"/>
                <a:gd name="connsiteY0" fmla="*/ 875490 h 875490"/>
                <a:gd name="connsiteX1" fmla="*/ 515566 w 604736"/>
                <a:gd name="connsiteY1" fmla="*/ 486383 h 875490"/>
                <a:gd name="connsiteX2" fmla="*/ 0 w 604736"/>
                <a:gd name="connsiteY2" fmla="*/ 0 h 875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04736" h="875490">
                  <a:moveTo>
                    <a:pt x="535021" y="875490"/>
                  </a:moveTo>
                  <a:cubicBezTo>
                    <a:pt x="569878" y="753894"/>
                    <a:pt x="604736" y="632298"/>
                    <a:pt x="515566" y="486383"/>
                  </a:cubicBezTo>
                  <a:cubicBezTo>
                    <a:pt x="426396" y="340468"/>
                    <a:pt x="213198" y="170234"/>
                    <a:pt x="0" y="0"/>
                  </a:cubicBezTo>
                </a:path>
              </a:pathLst>
            </a:custGeom>
            <a:ln>
              <a:solidFill>
                <a:srgbClr val="FF0000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메이플스토리" panose="02000300000000000000" pitchFamily="2" charset="-127"/>
                <a:ea typeface="메이플스토리" panose="02000300000000000000" pitchFamily="2" charset="-127"/>
              </a:endParaRPr>
            </a:p>
          </p:txBody>
        </p:sp>
        <p:sp>
          <p:nvSpPr>
            <p:cNvPr id="9" name="자유형 8"/>
            <p:cNvSpPr/>
            <p:nvPr/>
          </p:nvSpPr>
          <p:spPr>
            <a:xfrm>
              <a:off x="6948264" y="1153996"/>
              <a:ext cx="141184" cy="527274"/>
            </a:xfrm>
            <a:custGeom>
              <a:avLst/>
              <a:gdLst>
                <a:gd name="connsiteX0" fmla="*/ 0 w 165370"/>
                <a:gd name="connsiteY0" fmla="*/ 680936 h 680936"/>
                <a:gd name="connsiteX1" fmla="*/ 29183 w 165370"/>
                <a:gd name="connsiteY1" fmla="*/ 291830 h 680936"/>
                <a:gd name="connsiteX2" fmla="*/ 165370 w 165370"/>
                <a:gd name="connsiteY2" fmla="*/ 0 h 6809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65370" h="680936">
                  <a:moveTo>
                    <a:pt x="0" y="680936"/>
                  </a:moveTo>
                  <a:cubicBezTo>
                    <a:pt x="810" y="543127"/>
                    <a:pt x="1621" y="405319"/>
                    <a:pt x="29183" y="291830"/>
                  </a:cubicBezTo>
                  <a:cubicBezTo>
                    <a:pt x="56745" y="178341"/>
                    <a:pt x="111057" y="89170"/>
                    <a:pt x="165370" y="0"/>
                  </a:cubicBezTo>
                </a:path>
              </a:pathLst>
            </a:custGeom>
            <a:ln>
              <a:solidFill>
                <a:srgbClr val="FF0000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메이플스토리" panose="02000300000000000000" pitchFamily="2" charset="-127"/>
                <a:ea typeface="메이플스토리" panose="02000300000000000000" pitchFamily="2" charset="-127"/>
              </a:endParaRPr>
            </a:p>
          </p:txBody>
        </p:sp>
      </p:grpSp>
      <p:sp>
        <p:nvSpPr>
          <p:cNvPr id="10" name="직사각형 9"/>
          <p:cNvSpPr/>
          <p:nvPr/>
        </p:nvSpPr>
        <p:spPr>
          <a:xfrm>
            <a:off x="1403648" y="5822001"/>
            <a:ext cx="4298250" cy="36933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altLang="ko-KR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JButton</a:t>
            </a:r>
            <a:r>
              <a:rPr lang="en-US" altLang="ko-KR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 </a:t>
            </a:r>
            <a:r>
              <a:rPr lang="en-US" altLang="ko-KR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btn</a:t>
            </a:r>
            <a:r>
              <a:rPr lang="en-US" altLang="ko-KR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 = new </a:t>
            </a:r>
            <a:r>
              <a:rPr lang="en-US" altLang="ko-KR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JButton</a:t>
            </a:r>
            <a:r>
              <a:rPr lang="en-US" altLang="ko-KR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("hello");</a:t>
            </a:r>
            <a:endParaRPr lang="ko-KR" altLang="en-US" dirty="0">
              <a:latin typeface="메이플스토리" panose="02000300000000000000" pitchFamily="2" charset="-127"/>
              <a:ea typeface="메이플스토리" panose="02000300000000000000" pitchFamily="2" charset="-127"/>
            </a:endParaRP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599" y="3094989"/>
            <a:ext cx="7734549" cy="14861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60855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이미지 버튼 만들기</a:t>
            </a:r>
            <a:endParaRPr lang="ko-KR" altLang="en-US" dirty="0"/>
          </a:p>
        </p:txBody>
      </p:sp>
      <p:sp>
        <p:nvSpPr>
          <p:cNvPr id="4" name="내용 개체 틀 3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ko-KR" altLang="en-US" dirty="0"/>
              <a:t>하나의 버튼에 </a:t>
            </a:r>
            <a:r>
              <a:rPr lang="en-US" altLang="ko-KR" dirty="0"/>
              <a:t>3 </a:t>
            </a:r>
            <a:r>
              <a:rPr lang="ko-KR" altLang="en-US" dirty="0"/>
              <a:t>개의 이미지 연결</a:t>
            </a:r>
            <a:endParaRPr lang="en-US" altLang="ko-KR" dirty="0"/>
          </a:p>
          <a:p>
            <a:pPr lvl="1"/>
            <a:r>
              <a:rPr lang="ko-KR" altLang="en-US" dirty="0"/>
              <a:t>마우스 접근에 따라 서로 다른 </a:t>
            </a:r>
            <a:r>
              <a:rPr lang="en-US" altLang="ko-KR" dirty="0"/>
              <a:t>3 </a:t>
            </a:r>
            <a:r>
              <a:rPr lang="ko-KR" altLang="en-US" dirty="0"/>
              <a:t>개의 이미지 출력 가능</a:t>
            </a:r>
            <a:endParaRPr lang="en-US" altLang="ko-KR" dirty="0"/>
          </a:p>
          <a:p>
            <a:pPr lvl="1"/>
            <a:r>
              <a:rPr lang="ko-KR" altLang="en-US" dirty="0"/>
              <a:t>사용자의 버튼 조작에 대한 시각적 효과를 극대화</a:t>
            </a:r>
            <a:endParaRPr lang="en-US" altLang="ko-KR" dirty="0"/>
          </a:p>
          <a:p>
            <a:pPr lvl="1"/>
            <a:endParaRPr lang="en-US" altLang="ko-KR" dirty="0"/>
          </a:p>
          <a:p>
            <a:r>
              <a:rPr lang="en-US" altLang="ko-KR" dirty="0"/>
              <a:t>3 </a:t>
            </a:r>
            <a:r>
              <a:rPr lang="ko-KR" altLang="en-US" dirty="0"/>
              <a:t>개의</a:t>
            </a:r>
            <a:r>
              <a:rPr lang="en-US" altLang="ko-KR" dirty="0"/>
              <a:t> </a:t>
            </a:r>
            <a:r>
              <a:rPr lang="ko-KR" altLang="en-US" dirty="0"/>
              <a:t>버튼 이미지</a:t>
            </a:r>
            <a:endParaRPr lang="en-US" altLang="ko-KR" dirty="0"/>
          </a:p>
          <a:p>
            <a:pPr marL="365760" lvl="1" indent="0">
              <a:buNone/>
            </a:pPr>
            <a:r>
              <a:rPr lang="en-US" altLang="ko-KR" dirty="0"/>
              <a:t>1. </a:t>
            </a:r>
            <a:r>
              <a:rPr lang="ko-KR" altLang="en-US" dirty="0"/>
              <a:t>버튼의 보통 상태 때 출력되는 이미지</a:t>
            </a:r>
            <a:endParaRPr lang="en-US" altLang="ko-KR" dirty="0"/>
          </a:p>
          <a:p>
            <a:pPr lvl="2"/>
            <a:r>
              <a:rPr lang="ko-KR" altLang="en-US" dirty="0" err="1"/>
              <a:t>생성자에</a:t>
            </a:r>
            <a:r>
              <a:rPr lang="ko-KR" altLang="en-US" dirty="0"/>
              <a:t> 이미지 아이콘 전달</a:t>
            </a:r>
            <a:endParaRPr lang="en-US" altLang="ko-KR" dirty="0"/>
          </a:p>
          <a:p>
            <a:pPr lvl="2"/>
            <a:r>
              <a:rPr lang="ko-KR" altLang="en-US" dirty="0"/>
              <a:t>이미지 설정 </a:t>
            </a:r>
            <a:r>
              <a:rPr lang="ko-KR" altLang="en-US" dirty="0" err="1"/>
              <a:t>메소드</a:t>
            </a:r>
            <a:r>
              <a:rPr lang="ko-KR" altLang="en-US" dirty="0"/>
              <a:t> </a:t>
            </a:r>
            <a:r>
              <a:rPr lang="en-US" altLang="ko-KR" dirty="0"/>
              <a:t>: </a:t>
            </a:r>
            <a:r>
              <a:rPr lang="en-US" altLang="ko-KR" dirty="0" err="1"/>
              <a:t>JButton</a:t>
            </a:r>
            <a:r>
              <a:rPr lang="ko-KR" altLang="en-US" dirty="0"/>
              <a:t>의 </a:t>
            </a:r>
            <a:r>
              <a:rPr lang="en-US" altLang="ko-KR" dirty="0" err="1"/>
              <a:t>setIcon</a:t>
            </a:r>
            <a:r>
              <a:rPr lang="en-US" altLang="ko-KR" dirty="0"/>
              <a:t>(Icon image)</a:t>
            </a:r>
          </a:p>
          <a:p>
            <a:pPr marL="365760" lvl="1" indent="0">
              <a:buNone/>
            </a:pPr>
            <a:r>
              <a:rPr lang="en-US" altLang="ko-KR" dirty="0"/>
              <a:t>2. </a:t>
            </a:r>
            <a:r>
              <a:rPr lang="ko-KR" altLang="en-US" dirty="0"/>
              <a:t>버튼에 마우스가 올라갈 때 출력되는 이미지</a:t>
            </a:r>
            <a:endParaRPr lang="en-US" altLang="ko-KR" dirty="0"/>
          </a:p>
          <a:p>
            <a:pPr lvl="2"/>
            <a:r>
              <a:rPr lang="ko-KR" altLang="en-US" dirty="0"/>
              <a:t>이미지 설정 </a:t>
            </a:r>
            <a:r>
              <a:rPr lang="ko-KR" altLang="en-US" dirty="0" err="1"/>
              <a:t>메소드</a:t>
            </a:r>
            <a:r>
              <a:rPr lang="ko-KR" altLang="en-US" dirty="0"/>
              <a:t> </a:t>
            </a:r>
            <a:r>
              <a:rPr lang="en-US" altLang="ko-KR" dirty="0"/>
              <a:t>: </a:t>
            </a:r>
            <a:r>
              <a:rPr lang="en-US" altLang="ko-KR" dirty="0" err="1"/>
              <a:t>JButton.setRolloverIcon</a:t>
            </a:r>
            <a:r>
              <a:rPr lang="en-US" altLang="ko-KR" dirty="0"/>
              <a:t>(Icon); </a:t>
            </a:r>
          </a:p>
          <a:p>
            <a:pPr marL="365760" lvl="1" indent="0">
              <a:buNone/>
            </a:pPr>
            <a:r>
              <a:rPr lang="en-US" altLang="ko-KR" dirty="0"/>
              <a:t>3. </a:t>
            </a:r>
            <a:r>
              <a:rPr lang="ko-KR" altLang="en-US" dirty="0"/>
              <a:t>버튼을 누르고</a:t>
            </a:r>
            <a:r>
              <a:rPr lang="en-US" altLang="ko-KR" dirty="0"/>
              <a:t> </a:t>
            </a:r>
            <a:r>
              <a:rPr lang="ko-KR" altLang="en-US" dirty="0"/>
              <a:t>있는 동안 출력되는 이미지</a:t>
            </a:r>
            <a:endParaRPr lang="en-US" altLang="ko-KR" dirty="0"/>
          </a:p>
          <a:p>
            <a:pPr lvl="2"/>
            <a:r>
              <a:rPr lang="ko-KR" altLang="en-US" dirty="0"/>
              <a:t>이미지 설정 </a:t>
            </a:r>
            <a:r>
              <a:rPr lang="ko-KR" altLang="en-US" dirty="0" err="1"/>
              <a:t>메소드</a:t>
            </a:r>
            <a:r>
              <a:rPr lang="ko-KR" altLang="en-US" dirty="0"/>
              <a:t> </a:t>
            </a:r>
            <a:r>
              <a:rPr lang="en-US" altLang="ko-KR" dirty="0"/>
              <a:t>: </a:t>
            </a:r>
            <a:r>
              <a:rPr lang="en-US" altLang="ko-KR" dirty="0" err="1"/>
              <a:t>JButton.setPressedIcon</a:t>
            </a:r>
            <a:r>
              <a:rPr lang="en-US" altLang="ko-KR" dirty="0"/>
              <a:t>(Icon)</a:t>
            </a:r>
          </a:p>
          <a:p>
            <a:endParaRPr lang="en-US" altLang="ko-KR" dirty="0"/>
          </a:p>
          <a:p>
            <a:r>
              <a:rPr lang="ko-KR" altLang="en-US" dirty="0"/>
              <a:t>이미지 아이콘 생성</a:t>
            </a:r>
            <a:endParaRPr lang="en-US" altLang="ko-KR" dirty="0"/>
          </a:p>
          <a:p>
            <a:pPr lvl="1"/>
            <a:r>
              <a:rPr lang="en-US" altLang="ko-KR" dirty="0"/>
              <a:t>new </a:t>
            </a:r>
            <a:r>
              <a:rPr lang="en-US" altLang="ko-KR" dirty="0" err="1"/>
              <a:t>ImageIcon</a:t>
            </a:r>
            <a:r>
              <a:rPr lang="en-US" altLang="ko-KR" dirty="0"/>
              <a:t>(</a:t>
            </a:r>
            <a:r>
              <a:rPr lang="ko-KR" altLang="en-US" dirty="0"/>
              <a:t>이미지</a:t>
            </a:r>
            <a:r>
              <a:rPr lang="en-US" altLang="ko-KR" dirty="0"/>
              <a:t> </a:t>
            </a:r>
            <a:r>
              <a:rPr lang="ko-KR" altLang="en-US" dirty="0"/>
              <a:t>경로명</a:t>
            </a:r>
            <a:r>
              <a:rPr lang="en-US" altLang="ko-KR" dirty="0"/>
              <a:t>);</a:t>
            </a:r>
          </a:p>
          <a:p>
            <a:pPr lvl="2"/>
            <a:r>
              <a:rPr lang="ko-KR" altLang="en-US" dirty="0"/>
              <a:t>예</a:t>
            </a:r>
            <a:r>
              <a:rPr lang="en-US" altLang="ko-KR" dirty="0"/>
              <a:t>) new </a:t>
            </a:r>
            <a:r>
              <a:rPr lang="en-US" altLang="ko-KR" dirty="0" err="1"/>
              <a:t>ImageIcon</a:t>
            </a:r>
            <a:r>
              <a:rPr lang="en-US" altLang="ko-KR" dirty="0"/>
              <a:t>("images/normalIcon.gif);</a:t>
            </a:r>
          </a:p>
          <a:p>
            <a:pPr lvl="1"/>
            <a:endParaRPr lang="en-US" altLang="ko-KR" dirty="0"/>
          </a:p>
          <a:p>
            <a:pPr lvl="1"/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77500" lnSpcReduction="20000"/>
          </a:bodyPr>
          <a:lstStyle/>
          <a:p>
            <a:fld id="{1A6BD2C2-3D3B-4E94-BD92-61B02C5F4DEE}" type="slidenum">
              <a:rPr lang="ko-KR" altLang="en-US" smtClean="0"/>
              <a:pPr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792734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solidFill>
                  <a:srgbClr val="FF0000"/>
                </a:solidFill>
              </a:rPr>
              <a:t>예제 </a:t>
            </a:r>
            <a:r>
              <a:rPr lang="en-US" altLang="ko-KR" dirty="0">
                <a:solidFill>
                  <a:srgbClr val="FF0000"/>
                </a:solidFill>
              </a:rPr>
              <a:t>11-3</a:t>
            </a:r>
            <a:r>
              <a:rPr lang="ko-KR" altLang="en-US" dirty="0">
                <a:solidFill>
                  <a:srgbClr val="FF0000"/>
                </a:solidFill>
              </a:rPr>
              <a:t> </a:t>
            </a:r>
            <a:r>
              <a:rPr lang="en-US" altLang="ko-KR" dirty="0">
                <a:solidFill>
                  <a:srgbClr val="FF0000"/>
                </a:solidFill>
              </a:rPr>
              <a:t>: </a:t>
            </a:r>
            <a:r>
              <a:rPr lang="en-US" altLang="ko-KR" dirty="0" err="1">
                <a:solidFill>
                  <a:srgbClr val="FF0000"/>
                </a:solidFill>
              </a:rPr>
              <a:t>JButton</a:t>
            </a:r>
            <a:r>
              <a:rPr lang="ko-KR" altLang="en-US" dirty="0">
                <a:solidFill>
                  <a:srgbClr val="FF0000"/>
                </a:solidFill>
              </a:rPr>
              <a:t>을 이용한 버튼 만들기</a:t>
            </a:r>
          </a:p>
        </p:txBody>
      </p:sp>
      <p:sp>
        <p:nvSpPr>
          <p:cNvPr id="10" name="슬라이드 번호 개체 틀 9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77500" lnSpcReduction="20000"/>
          </a:bodyPr>
          <a:lstStyle/>
          <a:p>
            <a:fld id="{1A6BD2C2-3D3B-4E94-BD92-61B02C5F4DEE}" type="slidenum">
              <a:rPr lang="ko-KR" altLang="en-US" smtClean="0"/>
              <a:pPr/>
              <a:t>11</a:t>
            </a:fld>
            <a:endParaRPr lang="ko-KR" altLang="en-US"/>
          </a:p>
        </p:txBody>
      </p:sp>
      <p:sp>
        <p:nvSpPr>
          <p:cNvPr id="7" name="직사각형 6"/>
          <p:cNvSpPr/>
          <p:nvPr/>
        </p:nvSpPr>
        <p:spPr>
          <a:xfrm>
            <a:off x="268112" y="1412776"/>
            <a:ext cx="5239991" cy="544764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defTabSz="180000"/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import </a:t>
            </a:r>
            <a:r>
              <a:rPr lang="en-US" altLang="ko-KR" sz="12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javax.swing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.*;</a:t>
            </a:r>
          </a:p>
          <a:p>
            <a:pPr defTabSz="180000"/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import </a:t>
            </a:r>
            <a:r>
              <a:rPr lang="en-US" altLang="ko-KR" sz="12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java.awt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.*;</a:t>
            </a:r>
          </a:p>
          <a:p>
            <a:pPr defTabSz="180000"/>
            <a:endParaRPr lang="en-US" altLang="ko-KR" sz="1200" dirty="0">
              <a:latin typeface="메이플스토리" panose="02000300000000000000" pitchFamily="2" charset="-127"/>
              <a:ea typeface="메이플스토리" panose="02000300000000000000" pitchFamily="2" charset="-127"/>
            </a:endParaRPr>
          </a:p>
          <a:p>
            <a:pPr defTabSz="180000"/>
            <a:r>
              <a:rPr lang="en-US" altLang="ko-KR" sz="1200" b="1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public class </a:t>
            </a:r>
            <a:r>
              <a:rPr lang="en-US" altLang="ko-KR" sz="1200" b="1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ButtonEx</a:t>
            </a:r>
            <a:r>
              <a:rPr lang="en-US" altLang="ko-KR" sz="1200" b="1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 extends </a:t>
            </a:r>
            <a:r>
              <a:rPr lang="en-US" altLang="ko-KR" sz="1200" b="1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JFrame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 {</a:t>
            </a:r>
          </a:p>
          <a:p>
            <a:pPr defTabSz="180000"/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public </a:t>
            </a:r>
            <a:r>
              <a:rPr lang="en-US" altLang="ko-KR" sz="12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ButtonEx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() {</a:t>
            </a:r>
          </a:p>
          <a:p>
            <a:pPr defTabSz="180000"/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	</a:t>
            </a:r>
            <a:r>
              <a:rPr lang="en-US" altLang="ko-KR" sz="12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setTitle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("</a:t>
            </a:r>
            <a:r>
              <a:rPr lang="ko-KR" altLang="en-US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이미지 버튼 예제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");</a:t>
            </a:r>
          </a:p>
          <a:p>
            <a:pPr defTabSz="180000"/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	</a:t>
            </a:r>
            <a:r>
              <a:rPr lang="en-US" altLang="ko-KR" sz="12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setDefaultCloseOperation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</a:t>
            </a:r>
            <a:r>
              <a:rPr lang="en-US" altLang="ko-KR" sz="12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JFrame.EXIT_ON_CLOSE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);</a:t>
            </a:r>
          </a:p>
          <a:p>
            <a:pPr defTabSz="180000"/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	Container c = </a:t>
            </a:r>
            <a:r>
              <a:rPr lang="en-US" altLang="ko-KR" sz="12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getContentPane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();</a:t>
            </a:r>
          </a:p>
          <a:p>
            <a:pPr defTabSz="180000"/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	</a:t>
            </a:r>
            <a:r>
              <a:rPr lang="en-US" altLang="ko-KR" sz="12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c.setLayout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(new </a:t>
            </a:r>
            <a:r>
              <a:rPr lang="en-US" altLang="ko-KR" sz="12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FlowLayout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());</a:t>
            </a:r>
          </a:p>
          <a:p>
            <a:pPr defTabSz="180000"/>
            <a:endParaRPr lang="en-US" altLang="ko-KR" sz="1200" dirty="0">
              <a:latin typeface="메이플스토리" panose="02000300000000000000" pitchFamily="2" charset="-127"/>
              <a:ea typeface="메이플스토리" panose="02000300000000000000" pitchFamily="2" charset="-127"/>
            </a:endParaRPr>
          </a:p>
          <a:p>
            <a:pPr defTabSz="180000"/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	</a:t>
            </a:r>
            <a:r>
              <a:rPr lang="en-US" altLang="ko-KR" sz="12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ImageIcon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 </a:t>
            </a:r>
            <a:r>
              <a:rPr lang="en-US" altLang="ko-KR" sz="12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normalIcon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 = new </a:t>
            </a:r>
            <a:r>
              <a:rPr lang="en-US" altLang="ko-KR" sz="12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ImageIcon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("images/normalIcon.gif");</a:t>
            </a:r>
          </a:p>
          <a:p>
            <a:pPr defTabSz="180000"/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	</a:t>
            </a:r>
            <a:r>
              <a:rPr lang="en-US" altLang="ko-KR" sz="12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ImageIcon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 </a:t>
            </a:r>
            <a:r>
              <a:rPr lang="en-US" altLang="ko-KR" sz="12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rolloverIcon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 = new </a:t>
            </a:r>
            <a:r>
              <a:rPr lang="en-US" altLang="ko-KR" sz="12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ImageIcon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("images/rolloverIcon.gif");</a:t>
            </a:r>
          </a:p>
          <a:p>
            <a:pPr defTabSz="180000"/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	</a:t>
            </a:r>
            <a:r>
              <a:rPr lang="en-US" altLang="ko-KR" sz="12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ImageIcon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 </a:t>
            </a:r>
            <a:r>
              <a:rPr lang="en-US" altLang="ko-KR" sz="12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pressedIcon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 = new </a:t>
            </a:r>
            <a:r>
              <a:rPr lang="en-US" altLang="ko-KR" sz="12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ImageIcon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("images/pressedIcon.gif");</a:t>
            </a:r>
          </a:p>
          <a:p>
            <a:pPr defTabSz="180000"/>
            <a:endParaRPr lang="en-US" altLang="ko-KR" sz="1200" dirty="0">
              <a:latin typeface="메이플스토리" panose="02000300000000000000" pitchFamily="2" charset="-127"/>
              <a:ea typeface="메이플스토리" panose="02000300000000000000" pitchFamily="2" charset="-127"/>
            </a:endParaRPr>
          </a:p>
          <a:p>
            <a:pPr defTabSz="180000"/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	</a:t>
            </a:r>
            <a:r>
              <a:rPr lang="en-US" altLang="ko-KR" sz="12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JButton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 </a:t>
            </a:r>
            <a:r>
              <a:rPr lang="en-US" altLang="ko-KR" sz="12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btn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 = </a:t>
            </a:r>
            <a:r>
              <a:rPr lang="en-US" altLang="ko-KR" sz="1200" b="1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new </a:t>
            </a:r>
            <a:r>
              <a:rPr lang="en-US" altLang="ko-KR" sz="1200" b="1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JButton</a:t>
            </a:r>
            <a:r>
              <a:rPr lang="en-US" altLang="ko-KR" sz="1200" b="1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("call~~", </a:t>
            </a:r>
            <a:r>
              <a:rPr lang="en-US" altLang="ko-KR" sz="1200" b="1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normalIcon</a:t>
            </a:r>
            <a:r>
              <a:rPr lang="en-US" altLang="ko-KR" sz="1200" b="1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);</a:t>
            </a:r>
            <a:endParaRPr lang="ko-KR" altLang="en-US" sz="1200" b="1" dirty="0">
              <a:latin typeface="메이플스토리" panose="02000300000000000000" pitchFamily="2" charset="-127"/>
              <a:ea typeface="메이플스토리" panose="02000300000000000000" pitchFamily="2" charset="-127"/>
            </a:endParaRPr>
          </a:p>
          <a:p>
            <a:pPr defTabSz="180000"/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	</a:t>
            </a:r>
            <a:r>
              <a:rPr lang="en-US" altLang="ko-KR" sz="1200" b="1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btn.setPressedIcon</a:t>
            </a:r>
            <a:r>
              <a:rPr lang="en-US" altLang="ko-KR" sz="1200" b="1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</a:t>
            </a:r>
            <a:r>
              <a:rPr lang="en-US" altLang="ko-KR" sz="1200" b="1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pressedIcon</a:t>
            </a:r>
            <a:r>
              <a:rPr lang="en-US" altLang="ko-KR" sz="1200" b="1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);</a:t>
            </a:r>
            <a:endParaRPr lang="ko-KR" altLang="en-US" sz="1200" b="1" dirty="0">
              <a:latin typeface="메이플스토리" panose="02000300000000000000" pitchFamily="2" charset="-127"/>
              <a:ea typeface="메이플스토리" panose="02000300000000000000" pitchFamily="2" charset="-127"/>
            </a:endParaRPr>
          </a:p>
          <a:p>
            <a:pPr defTabSz="180000"/>
            <a:r>
              <a:rPr lang="en-US" altLang="ko-KR" sz="1200" b="1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	</a:t>
            </a:r>
            <a:r>
              <a:rPr lang="en-US" altLang="ko-KR" sz="1200" b="1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btn.setRolloverIcon</a:t>
            </a:r>
            <a:r>
              <a:rPr lang="en-US" altLang="ko-KR" sz="1200" b="1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</a:t>
            </a:r>
            <a:r>
              <a:rPr lang="en-US" altLang="ko-KR" sz="1200" b="1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rolloverIcon</a:t>
            </a:r>
            <a:r>
              <a:rPr lang="en-US" altLang="ko-KR" sz="1200" b="1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);</a:t>
            </a:r>
            <a:endParaRPr lang="ko-KR" altLang="en-US" sz="1200" b="1" dirty="0">
              <a:latin typeface="메이플스토리" panose="02000300000000000000" pitchFamily="2" charset="-127"/>
              <a:ea typeface="메이플스토리" panose="02000300000000000000" pitchFamily="2" charset="-127"/>
            </a:endParaRPr>
          </a:p>
          <a:p>
            <a:pPr defTabSz="180000"/>
            <a:endParaRPr lang="en-US" altLang="ko-KR" sz="1200" dirty="0">
              <a:latin typeface="메이플스토리" panose="02000300000000000000" pitchFamily="2" charset="-127"/>
              <a:ea typeface="메이플스토리" panose="02000300000000000000" pitchFamily="2" charset="-127"/>
            </a:endParaRPr>
          </a:p>
          <a:p>
            <a:pPr defTabSz="180000"/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	</a:t>
            </a:r>
            <a:r>
              <a:rPr lang="en-US" altLang="ko-KR" sz="12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c.add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</a:t>
            </a:r>
            <a:r>
              <a:rPr lang="en-US" altLang="ko-KR" sz="12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btn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);</a:t>
            </a:r>
          </a:p>
          <a:p>
            <a:pPr defTabSz="180000"/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	</a:t>
            </a:r>
            <a:r>
              <a:rPr lang="en-US" altLang="ko-KR" sz="12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setSize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(250,150);</a:t>
            </a:r>
          </a:p>
          <a:p>
            <a:pPr defTabSz="180000"/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	</a:t>
            </a:r>
            <a:r>
              <a:rPr lang="en-US" altLang="ko-KR" sz="12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setVisible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(true);</a:t>
            </a:r>
          </a:p>
          <a:p>
            <a:pPr defTabSz="180000"/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}</a:t>
            </a:r>
          </a:p>
          <a:p>
            <a:pPr defTabSz="180000"/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public static void main(String [] </a:t>
            </a:r>
            <a:r>
              <a:rPr lang="en-US" altLang="ko-KR" sz="12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args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) {</a:t>
            </a:r>
          </a:p>
          <a:p>
            <a:pPr defTabSz="180000"/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	new </a:t>
            </a:r>
            <a:r>
              <a:rPr lang="en-US" altLang="ko-KR" sz="12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ButtonEx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();</a:t>
            </a:r>
          </a:p>
          <a:p>
            <a:pPr defTabSz="180000"/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}</a:t>
            </a:r>
          </a:p>
          <a:p>
            <a:pPr defTabSz="180000"/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}</a:t>
            </a:r>
            <a:endParaRPr lang="ko-KR" altLang="en-US" sz="1200" dirty="0">
              <a:latin typeface="메이플스토리" panose="02000300000000000000" pitchFamily="2" charset="-127"/>
              <a:ea typeface="메이플스토리" panose="02000300000000000000" pitchFamily="2" charset="-127"/>
            </a:endParaRPr>
          </a:p>
        </p:txBody>
      </p:sp>
      <p:grpSp>
        <p:nvGrpSpPr>
          <p:cNvPr id="8" name="그룹 7"/>
          <p:cNvGrpSpPr/>
          <p:nvPr/>
        </p:nvGrpSpPr>
        <p:grpSpPr>
          <a:xfrm>
            <a:off x="5508103" y="1524078"/>
            <a:ext cx="3366495" cy="4671042"/>
            <a:chOff x="5484439" y="1436496"/>
            <a:chExt cx="3366495" cy="4671042"/>
          </a:xfrm>
        </p:grpSpPr>
        <p:pic>
          <p:nvPicPr>
            <p:cNvPr id="4" name="그림 3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14152" y="4750989"/>
              <a:ext cx="2236782" cy="1356549"/>
            </a:xfrm>
            <a:prstGeom prst="rect">
              <a:avLst/>
            </a:prstGeom>
            <a:ln>
              <a:solidFill>
                <a:schemeClr val="accent1"/>
              </a:solidFill>
            </a:ln>
          </p:spPr>
        </p:pic>
        <p:pic>
          <p:nvPicPr>
            <p:cNvPr id="5" name="그림 4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14152" y="1436496"/>
              <a:ext cx="2236782" cy="1356549"/>
            </a:xfrm>
            <a:prstGeom prst="rect">
              <a:avLst/>
            </a:prstGeom>
            <a:ln>
              <a:solidFill>
                <a:schemeClr val="accent1"/>
              </a:solidFill>
            </a:ln>
          </p:spPr>
        </p:pic>
        <p:pic>
          <p:nvPicPr>
            <p:cNvPr id="6" name="그림 5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14152" y="3122839"/>
              <a:ext cx="2236782" cy="1356549"/>
            </a:xfrm>
            <a:prstGeom prst="rect">
              <a:avLst/>
            </a:prstGeom>
            <a:ln>
              <a:solidFill>
                <a:schemeClr val="accent1"/>
              </a:solidFill>
            </a:ln>
          </p:spPr>
        </p:pic>
        <p:sp>
          <p:nvSpPr>
            <p:cNvPr id="11" name="TextBox 10"/>
            <p:cNvSpPr txBox="1"/>
            <p:nvPr/>
          </p:nvSpPr>
          <p:spPr>
            <a:xfrm>
              <a:off x="5679269" y="2267376"/>
              <a:ext cx="139115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200" dirty="0">
                  <a:latin typeface="메이플스토리" panose="02000300000000000000" pitchFamily="2" charset="-127"/>
                  <a:ea typeface="메이플스토리" panose="02000300000000000000" pitchFamily="2" charset="-127"/>
                </a:rPr>
                <a:t>보통 상태</a:t>
              </a:r>
              <a:endPara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endParaRPr>
            </a:p>
            <a:p>
              <a:r>
                <a:rPr lang="en-US" altLang="ko-KR" sz="1200" dirty="0">
                  <a:latin typeface="메이플스토리" panose="02000300000000000000" pitchFamily="2" charset="-127"/>
                  <a:ea typeface="메이플스토리" panose="02000300000000000000" pitchFamily="2" charset="-127"/>
                </a:rPr>
                <a:t>(normalIcon.gif)</a:t>
              </a:r>
              <a:endParaRPr lang="ko-KR" altLang="en-US" sz="1200" dirty="0">
                <a:latin typeface="메이플스토리" panose="02000300000000000000" pitchFamily="2" charset="-127"/>
                <a:ea typeface="메이플스토리" panose="02000300000000000000" pitchFamily="2" charset="-127"/>
              </a:endParaRP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5618348" y="3666348"/>
              <a:ext cx="1448089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200" dirty="0">
                  <a:latin typeface="메이플스토리" panose="02000300000000000000" pitchFamily="2" charset="-127"/>
                  <a:ea typeface="메이플스토리" panose="02000300000000000000" pitchFamily="2" charset="-127"/>
                </a:rPr>
                <a:t>마우스가</a:t>
              </a:r>
              <a:endPara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endParaRPr>
            </a:p>
            <a:p>
              <a:r>
                <a:rPr lang="ko-KR" altLang="en-US" sz="1200" dirty="0">
                  <a:latin typeface="메이플스토리" panose="02000300000000000000" pitchFamily="2" charset="-127"/>
                  <a:ea typeface="메이플스토리" panose="02000300000000000000" pitchFamily="2" charset="-127"/>
                </a:rPr>
                <a:t>올라간 경우</a:t>
              </a:r>
              <a:endPara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endParaRPr>
            </a:p>
            <a:p>
              <a:r>
                <a:rPr lang="en-US" altLang="ko-KR" sz="1200" dirty="0">
                  <a:latin typeface="메이플스토리" panose="02000300000000000000" pitchFamily="2" charset="-127"/>
                  <a:ea typeface="메이플스토리" panose="02000300000000000000" pitchFamily="2" charset="-127"/>
                </a:rPr>
                <a:t>(rolloverIcon.gif)</a:t>
              </a:r>
              <a:endParaRPr lang="ko-KR" altLang="en-US" sz="1200" dirty="0">
                <a:latin typeface="메이플스토리" panose="02000300000000000000" pitchFamily="2" charset="-127"/>
                <a:ea typeface="메이플스토리" panose="02000300000000000000" pitchFamily="2" charset="-127"/>
              </a:endParaRP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5484439" y="5639930"/>
              <a:ext cx="1472391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200" dirty="0">
                  <a:latin typeface="메이플스토리" panose="02000300000000000000" pitchFamily="2" charset="-127"/>
                  <a:ea typeface="메이플스토리" panose="02000300000000000000" pitchFamily="2" charset="-127"/>
                </a:rPr>
                <a:t>마우스가 눌러진 순간</a:t>
              </a:r>
              <a:endPara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endParaRPr>
            </a:p>
            <a:p>
              <a:r>
                <a:rPr lang="en-US" altLang="ko-KR" sz="1200" dirty="0">
                  <a:latin typeface="메이플스토리" panose="02000300000000000000" pitchFamily="2" charset="-127"/>
                  <a:ea typeface="메이플스토리" panose="02000300000000000000" pitchFamily="2" charset="-127"/>
                </a:rPr>
                <a:t>(pressedIcon.gif)</a:t>
              </a:r>
              <a:endParaRPr lang="ko-KR" altLang="en-US" sz="1200" dirty="0">
                <a:latin typeface="메이플스토리" panose="02000300000000000000" pitchFamily="2" charset="-127"/>
                <a:ea typeface="메이플스토리" panose="02000300000000000000" pitchFamily="2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92418235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8680" y="4869160"/>
            <a:ext cx="5303520" cy="1676400"/>
          </a:xfrm>
          <a:prstGeom prst="rect">
            <a:avLst/>
          </a:prstGeom>
        </p:spPr>
      </p:pic>
      <p:pic>
        <p:nvPicPr>
          <p:cNvPr id="10" name="그림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6682" y="2132856"/>
            <a:ext cx="5223510" cy="1699260"/>
          </a:xfrm>
          <a:prstGeom prst="rect">
            <a:avLst/>
          </a:prstGeom>
        </p:spPr>
      </p:pic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레이블과 버튼의 정렬</a:t>
            </a:r>
            <a:r>
              <a:rPr lang="en-US" altLang="ko-KR"/>
              <a:t>(Alignment)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quarter" idx="1"/>
          </p:nvPr>
        </p:nvSpPr>
        <p:spPr>
          <a:xfrm>
            <a:off x="612648" y="1340768"/>
            <a:ext cx="8153400" cy="3168352"/>
          </a:xfrm>
        </p:spPr>
        <p:txBody>
          <a:bodyPr>
            <a:normAutofit lnSpcReduction="10000"/>
          </a:bodyPr>
          <a:lstStyle/>
          <a:p>
            <a:r>
              <a:rPr lang="ko-KR" altLang="en-US" sz="1800" dirty="0"/>
              <a:t>수평 정렬 </a:t>
            </a:r>
            <a:r>
              <a:rPr lang="en-US" altLang="ko-KR" sz="1800" dirty="0"/>
              <a:t>: </a:t>
            </a:r>
            <a:r>
              <a:rPr lang="ko-KR" altLang="en-US" sz="1800" dirty="0"/>
              <a:t>컴포넌트 내에 이미지와 텍스트의 수평 위치</a:t>
            </a:r>
            <a:endParaRPr lang="en-US" altLang="ko-KR" sz="1800" dirty="0"/>
          </a:p>
          <a:p>
            <a:pPr lvl="2"/>
            <a:endParaRPr lang="en-US" altLang="ko-KR" sz="1400" dirty="0"/>
          </a:p>
          <a:p>
            <a:pPr lvl="2"/>
            <a:endParaRPr lang="en-US" altLang="ko-KR" sz="1400" dirty="0"/>
          </a:p>
          <a:p>
            <a:pPr lvl="2"/>
            <a:endParaRPr lang="en-US" altLang="ko-KR" sz="1400" dirty="0"/>
          </a:p>
          <a:p>
            <a:pPr lvl="2"/>
            <a:endParaRPr lang="en-US" altLang="ko-KR" sz="1400" dirty="0"/>
          </a:p>
          <a:p>
            <a:endParaRPr lang="en-US" altLang="ko-KR" sz="1800" dirty="0"/>
          </a:p>
          <a:p>
            <a:endParaRPr lang="en-US" altLang="ko-KR" sz="1800" dirty="0"/>
          </a:p>
          <a:p>
            <a:endParaRPr lang="en-US" altLang="ko-KR" sz="1800" dirty="0"/>
          </a:p>
          <a:p>
            <a:endParaRPr lang="en-US" altLang="ko-KR" sz="1800" dirty="0"/>
          </a:p>
          <a:p>
            <a:r>
              <a:rPr lang="ko-KR" altLang="en-US" sz="1800" dirty="0"/>
              <a:t>수직 정렬 </a:t>
            </a:r>
            <a:r>
              <a:rPr lang="en-US" altLang="ko-KR" sz="1800" dirty="0"/>
              <a:t>: </a:t>
            </a:r>
            <a:r>
              <a:rPr lang="ko-KR" altLang="en-US" sz="1600" dirty="0"/>
              <a:t>컴포넌트 내에 이미지와 텍스트의 수직 위치</a:t>
            </a:r>
            <a:endParaRPr lang="en-US" altLang="ko-KR" sz="1600" dirty="0"/>
          </a:p>
          <a:p>
            <a:pPr lvl="1"/>
            <a:endParaRPr lang="ko-KR" altLang="en-US" sz="1600" dirty="0"/>
          </a:p>
        </p:txBody>
      </p:sp>
      <p:sp>
        <p:nvSpPr>
          <p:cNvPr id="29" name="슬라이드 번호 개체 틀 28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77500" lnSpcReduction="20000"/>
          </a:bodyPr>
          <a:lstStyle/>
          <a:p>
            <a:fld id="{1A6BD2C2-3D3B-4E94-BD92-61B02C5F4DEE}" type="slidenum">
              <a:rPr lang="ko-KR" altLang="en-US" smtClean="0"/>
              <a:pPr/>
              <a:t>12</a:t>
            </a:fld>
            <a:endParaRPr lang="ko-KR" altLang="en-US"/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3613" y="1700808"/>
            <a:ext cx="5307330" cy="777240"/>
          </a:xfrm>
          <a:prstGeom prst="rect">
            <a:avLst/>
          </a:prstGeom>
        </p:spPr>
      </p:pic>
      <p:pic>
        <p:nvPicPr>
          <p:cNvPr id="8" name="그림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6682" y="4427964"/>
            <a:ext cx="5303520" cy="7581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990752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JCheckBox, </a:t>
            </a:r>
            <a:r>
              <a:rPr lang="ko-KR" altLang="en-US"/>
              <a:t>체크박스</a:t>
            </a:r>
            <a:r>
              <a:rPr lang="en-US" altLang="ko-KR"/>
              <a:t> </a:t>
            </a:r>
            <a:r>
              <a:rPr lang="ko-KR" altLang="en-US"/>
              <a:t>컴포넌트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altLang="ko-KR" dirty="0" err="1"/>
              <a:t>JCheckBox</a:t>
            </a:r>
            <a:endParaRPr lang="en-US" altLang="ko-KR" dirty="0"/>
          </a:p>
          <a:p>
            <a:pPr lvl="1"/>
            <a:r>
              <a:rPr lang="ko-KR" altLang="en-US" dirty="0"/>
              <a:t>선택</a:t>
            </a:r>
            <a:r>
              <a:rPr lang="en-US" altLang="ko-KR" dirty="0"/>
              <a:t>(selected)</a:t>
            </a:r>
            <a:r>
              <a:rPr lang="ko-KR" altLang="en-US" dirty="0"/>
              <a:t>과 </a:t>
            </a:r>
            <a:r>
              <a:rPr lang="ko-KR" altLang="en-US" dirty="0" err="1"/>
              <a:t>비선택</a:t>
            </a:r>
            <a:r>
              <a:rPr lang="en-US" altLang="ko-KR" dirty="0"/>
              <a:t>(deselected)</a:t>
            </a:r>
            <a:r>
              <a:rPr lang="ko-KR" altLang="en-US" dirty="0"/>
              <a:t>의 </a:t>
            </a:r>
            <a:endParaRPr lang="en-US" altLang="ko-KR" dirty="0"/>
          </a:p>
          <a:p>
            <a:pPr marL="365760" lvl="1" indent="0">
              <a:buNone/>
            </a:pPr>
            <a:r>
              <a:rPr lang="en-US" altLang="ko-KR" dirty="0"/>
              <a:t>   </a:t>
            </a:r>
            <a:r>
              <a:rPr lang="ko-KR" altLang="en-US" dirty="0"/>
              <a:t>두 상태만 가지는 체크 버튼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 err="1"/>
              <a:t>생성자</a:t>
            </a:r>
            <a:endParaRPr lang="en-US" altLang="ko-KR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77500" lnSpcReduction="20000"/>
          </a:bodyPr>
          <a:lstStyle/>
          <a:p>
            <a:fld id="{1A6BD2C2-3D3B-4E94-BD92-61B02C5F4DEE}" type="slidenum">
              <a:rPr lang="ko-KR" altLang="en-US" smtClean="0"/>
              <a:pPr/>
              <a:t>13</a:t>
            </a:fld>
            <a:endParaRPr lang="ko-KR" altLang="en-US"/>
          </a:p>
        </p:txBody>
      </p:sp>
      <p:grpSp>
        <p:nvGrpSpPr>
          <p:cNvPr id="6" name="그룹 5"/>
          <p:cNvGrpSpPr/>
          <p:nvPr/>
        </p:nvGrpSpPr>
        <p:grpSpPr>
          <a:xfrm>
            <a:off x="5868144" y="1552837"/>
            <a:ext cx="2740532" cy="1906073"/>
            <a:chOff x="5796136" y="2232966"/>
            <a:chExt cx="2740532" cy="1906073"/>
          </a:xfrm>
        </p:grpSpPr>
        <p:pic>
          <p:nvPicPr>
            <p:cNvPr id="5" name="그림 4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796136" y="2232966"/>
              <a:ext cx="2447859" cy="1484562"/>
            </a:xfrm>
            <a:prstGeom prst="rect">
              <a:avLst/>
            </a:prstGeom>
            <a:ln>
              <a:solidFill>
                <a:schemeClr val="accent1"/>
              </a:solidFill>
            </a:ln>
          </p:spPr>
        </p:pic>
        <p:sp>
          <p:nvSpPr>
            <p:cNvPr id="7" name="TextBox 6"/>
            <p:cNvSpPr txBox="1"/>
            <p:nvPr/>
          </p:nvSpPr>
          <p:spPr>
            <a:xfrm>
              <a:off x="6012160" y="3862040"/>
              <a:ext cx="114967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200" dirty="0">
                  <a:latin typeface="메이플스토리" panose="02000300000000000000" pitchFamily="2" charset="-127"/>
                  <a:ea typeface="메이플스토리" panose="02000300000000000000" pitchFamily="2" charset="-127"/>
                </a:rPr>
                <a:t>체크박스 문자열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7395009" y="3862040"/>
              <a:ext cx="1141659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200" dirty="0">
                  <a:latin typeface="메이플스토리" panose="02000300000000000000" pitchFamily="2" charset="-127"/>
                  <a:ea typeface="메이플스토리" panose="02000300000000000000" pitchFamily="2" charset="-127"/>
                </a:rPr>
                <a:t>체크박스 이미지</a:t>
              </a:r>
            </a:p>
          </p:txBody>
        </p:sp>
        <p:sp>
          <p:nvSpPr>
            <p:cNvPr id="13" name="자유형 12"/>
            <p:cNvSpPr/>
            <p:nvPr/>
          </p:nvSpPr>
          <p:spPr>
            <a:xfrm>
              <a:off x="7453008" y="3067456"/>
              <a:ext cx="403697" cy="794584"/>
            </a:xfrm>
            <a:custGeom>
              <a:avLst/>
              <a:gdLst>
                <a:gd name="connsiteX0" fmla="*/ 299936 w 299936"/>
                <a:gd name="connsiteY0" fmla="*/ 979250 h 979250"/>
                <a:gd name="connsiteX1" fmla="*/ 251297 w 299936"/>
                <a:gd name="connsiteY1" fmla="*/ 726331 h 979250"/>
                <a:gd name="connsiteX2" fmla="*/ 37289 w 299936"/>
                <a:gd name="connsiteY2" fmla="*/ 113489 h 979250"/>
                <a:gd name="connsiteX3" fmla="*/ 27561 w 299936"/>
                <a:gd name="connsiteY3" fmla="*/ 45395 h 979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9936" h="979250">
                  <a:moveTo>
                    <a:pt x="299936" y="979250"/>
                  </a:moveTo>
                  <a:cubicBezTo>
                    <a:pt x="297504" y="924937"/>
                    <a:pt x="295072" y="870625"/>
                    <a:pt x="251297" y="726331"/>
                  </a:cubicBezTo>
                  <a:cubicBezTo>
                    <a:pt x="207523" y="582038"/>
                    <a:pt x="74578" y="226978"/>
                    <a:pt x="37289" y="113489"/>
                  </a:cubicBezTo>
                  <a:cubicBezTo>
                    <a:pt x="0" y="0"/>
                    <a:pt x="13780" y="22697"/>
                    <a:pt x="27561" y="45395"/>
                  </a:cubicBezTo>
                </a:path>
              </a:pathLst>
            </a:custGeom>
            <a:ln>
              <a:solidFill>
                <a:srgbClr val="FF0000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메이플스토리" panose="02000300000000000000" pitchFamily="2" charset="-127"/>
                <a:ea typeface="메이플스토리" panose="02000300000000000000" pitchFamily="2" charset="-127"/>
              </a:endParaRPr>
            </a:p>
          </p:txBody>
        </p:sp>
        <p:sp>
          <p:nvSpPr>
            <p:cNvPr id="15" name="자유형 14"/>
            <p:cNvSpPr/>
            <p:nvPr/>
          </p:nvSpPr>
          <p:spPr>
            <a:xfrm flipH="1">
              <a:off x="6876256" y="2957209"/>
              <a:ext cx="65781" cy="904831"/>
            </a:xfrm>
            <a:custGeom>
              <a:avLst/>
              <a:gdLst>
                <a:gd name="connsiteX0" fmla="*/ 116732 w 116732"/>
                <a:gd name="connsiteY0" fmla="*/ 651753 h 651753"/>
                <a:gd name="connsiteX1" fmla="*/ 48639 w 116732"/>
                <a:gd name="connsiteY1" fmla="*/ 389106 h 651753"/>
                <a:gd name="connsiteX2" fmla="*/ 0 w 116732"/>
                <a:gd name="connsiteY2" fmla="*/ 0 h 6517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6732" h="651753">
                  <a:moveTo>
                    <a:pt x="116732" y="651753"/>
                  </a:moveTo>
                  <a:cubicBezTo>
                    <a:pt x="92413" y="574742"/>
                    <a:pt x="68094" y="497731"/>
                    <a:pt x="48639" y="389106"/>
                  </a:cubicBezTo>
                  <a:cubicBezTo>
                    <a:pt x="29184" y="280481"/>
                    <a:pt x="14592" y="140240"/>
                    <a:pt x="0" y="0"/>
                  </a:cubicBezTo>
                </a:path>
              </a:pathLst>
            </a:custGeom>
            <a:ln>
              <a:solidFill>
                <a:srgbClr val="FF0000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메이플스토리" panose="02000300000000000000" pitchFamily="2" charset="-127"/>
                <a:ea typeface="메이플스토리" panose="02000300000000000000" pitchFamily="2" charset="-127"/>
              </a:endParaRPr>
            </a:p>
          </p:txBody>
        </p:sp>
      </p:grpSp>
      <p:pic>
        <p:nvPicPr>
          <p:cNvPr id="4" name="그림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3542" y="3573016"/>
            <a:ext cx="7036850" cy="23069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554474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체크 박스 생성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ko-KR" altLang="en-US" sz="2000" dirty="0"/>
              <a:t>문자열 체크 박스</a:t>
            </a:r>
            <a:endParaRPr lang="en-US" altLang="ko-KR" sz="2000" dirty="0"/>
          </a:p>
          <a:p>
            <a:pPr lvl="1"/>
            <a:r>
              <a:rPr lang="en-US" altLang="ko-KR" sz="1800" dirty="0"/>
              <a:t>"</a:t>
            </a:r>
            <a:r>
              <a:rPr lang="ko-KR" altLang="en-US" sz="1800" dirty="0"/>
              <a:t>사과</a:t>
            </a:r>
            <a:r>
              <a:rPr lang="en-US" altLang="ko-KR" sz="1800" dirty="0"/>
              <a:t>" </a:t>
            </a:r>
            <a:r>
              <a:rPr lang="ko-KR" altLang="en-US" sz="1800" dirty="0"/>
              <a:t>텍스트를 가진 체크박스 생성</a:t>
            </a:r>
            <a:endParaRPr lang="en-US" altLang="ko-KR" sz="1800" dirty="0"/>
          </a:p>
          <a:p>
            <a:pPr lvl="1"/>
            <a:endParaRPr lang="en-US" altLang="ko-KR" sz="1800" dirty="0"/>
          </a:p>
          <a:p>
            <a:pPr lvl="1"/>
            <a:r>
              <a:rPr lang="en-US" altLang="ko-KR" sz="1800" dirty="0"/>
              <a:t>"</a:t>
            </a:r>
            <a:r>
              <a:rPr lang="ko-KR" altLang="en-US" sz="1800" dirty="0"/>
              <a:t>배</a:t>
            </a:r>
            <a:r>
              <a:rPr lang="en-US" altLang="ko-KR" sz="1800" dirty="0"/>
              <a:t>" </a:t>
            </a:r>
            <a:r>
              <a:rPr lang="ko-KR" altLang="en-US" sz="1800" dirty="0"/>
              <a:t>텍스트를 가지고 선택 상태로 체크박스 생성</a:t>
            </a:r>
            <a:endParaRPr lang="en-US" altLang="ko-KR" sz="1800" dirty="0"/>
          </a:p>
          <a:p>
            <a:pPr lvl="2"/>
            <a:endParaRPr lang="en-US" altLang="ko-KR" sz="1600" dirty="0"/>
          </a:p>
          <a:p>
            <a:pPr lvl="1"/>
            <a:endParaRPr lang="en-US" altLang="ko-KR" sz="1800" dirty="0"/>
          </a:p>
          <a:p>
            <a:pPr lvl="1"/>
            <a:r>
              <a:rPr lang="ko-KR" altLang="en-US" sz="1800" dirty="0"/>
              <a:t>체크 박스 모양   이 명료하게 출력되고 사용자는 이것을 체크</a:t>
            </a:r>
            <a:endParaRPr lang="en-US" altLang="ko-KR" sz="1800" dirty="0"/>
          </a:p>
          <a:p>
            <a:r>
              <a:rPr lang="ko-KR" altLang="en-US" sz="2000" dirty="0"/>
              <a:t>이미지</a:t>
            </a:r>
            <a:r>
              <a:rPr lang="en-US" altLang="ko-KR" sz="2000" dirty="0"/>
              <a:t> </a:t>
            </a:r>
            <a:r>
              <a:rPr lang="ko-KR" altLang="en-US" sz="2000" dirty="0"/>
              <a:t>아이콘을 가진 체크 박스 생성 예</a:t>
            </a:r>
            <a:endParaRPr lang="en-US" altLang="ko-KR" sz="2000" dirty="0"/>
          </a:p>
          <a:p>
            <a:pPr lvl="1"/>
            <a:r>
              <a:rPr lang="ko-KR" altLang="en-US" sz="1800" dirty="0"/>
              <a:t>체크 박스 모양    이 출력되지 않음</a:t>
            </a:r>
            <a:endParaRPr lang="en-US" altLang="ko-KR" sz="1800" dirty="0"/>
          </a:p>
          <a:p>
            <a:pPr lvl="1"/>
            <a:r>
              <a:rPr lang="ko-KR" altLang="en-US" sz="1800" dirty="0"/>
              <a:t>선택 상태를 표현하는 이미지 아이콘을 따로 지정해야 함</a:t>
            </a:r>
            <a:endParaRPr lang="en-US" altLang="ko-KR" sz="1800" dirty="0"/>
          </a:p>
          <a:p>
            <a:pPr lvl="2"/>
            <a:r>
              <a:rPr lang="en-US" altLang="ko-KR" sz="1600" dirty="0"/>
              <a:t>cherry.jpg </a:t>
            </a:r>
            <a:r>
              <a:rPr lang="ko-KR" altLang="en-US" sz="1600" dirty="0"/>
              <a:t>이미지와 </a:t>
            </a:r>
            <a:r>
              <a:rPr lang="en-US" altLang="ko-KR" sz="1600" dirty="0"/>
              <a:t>"</a:t>
            </a:r>
            <a:r>
              <a:rPr lang="ko-KR" altLang="en-US" sz="1600" dirty="0"/>
              <a:t>체리</a:t>
            </a:r>
            <a:r>
              <a:rPr lang="en-US" altLang="ko-KR" sz="1600" dirty="0"/>
              <a:t>" </a:t>
            </a:r>
            <a:r>
              <a:rPr lang="ko-KR" altLang="en-US" sz="1600" dirty="0"/>
              <a:t>텍스트를 가진 체크 박스 생성 예</a:t>
            </a:r>
            <a:endParaRPr lang="en-US" altLang="ko-KR" sz="1600" dirty="0"/>
          </a:p>
          <a:p>
            <a:pPr marL="365760" lvl="1" indent="0">
              <a:buNone/>
            </a:pPr>
            <a:endParaRPr lang="ko-KR" altLang="en-US" sz="1800" dirty="0"/>
          </a:p>
        </p:txBody>
      </p:sp>
      <p:sp>
        <p:nvSpPr>
          <p:cNvPr id="11" name="슬라이드 번호 개체 틀 10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77500" lnSpcReduction="20000"/>
          </a:bodyPr>
          <a:lstStyle/>
          <a:p>
            <a:fld id="{1A6BD2C2-3D3B-4E94-BD92-61B02C5F4DEE}" type="slidenum">
              <a:rPr lang="ko-KR" altLang="en-US" smtClean="0"/>
              <a:pPr/>
              <a:t>14</a:t>
            </a:fld>
            <a:endParaRPr lang="ko-KR" altLang="en-US"/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627784" y="3546922"/>
            <a:ext cx="171450" cy="171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627784" y="4265662"/>
            <a:ext cx="171450" cy="171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TextBox 8"/>
          <p:cNvSpPr txBox="1"/>
          <p:nvPr/>
        </p:nvSpPr>
        <p:spPr>
          <a:xfrm>
            <a:off x="1403648" y="5301208"/>
            <a:ext cx="6743102" cy="1169551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marL="0" lvl="2"/>
            <a:r>
              <a:rPr lang="en-US" altLang="ko-KR" sz="14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ImageIcon</a:t>
            </a:r>
            <a:r>
              <a:rPr lang="en-US" altLang="ko-KR" sz="14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 </a:t>
            </a:r>
            <a:r>
              <a:rPr lang="en-US" altLang="ko-KR" sz="14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cherryIcon</a:t>
            </a:r>
            <a:r>
              <a:rPr lang="en-US" altLang="ko-KR" sz="14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 = new </a:t>
            </a:r>
            <a:r>
              <a:rPr lang="en-US" altLang="ko-KR" sz="14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ImageIcon</a:t>
            </a:r>
            <a:r>
              <a:rPr lang="en-US" altLang="ko-KR" sz="14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("images/cherry.jpg");</a:t>
            </a:r>
          </a:p>
          <a:p>
            <a:pPr marL="0" lvl="2"/>
            <a:r>
              <a:rPr lang="en-US" altLang="ko-KR" sz="1400" b="1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ImageIcon</a:t>
            </a:r>
            <a:r>
              <a:rPr lang="en-US" altLang="ko-KR" sz="1400" b="1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 </a:t>
            </a:r>
            <a:r>
              <a:rPr lang="en-US" altLang="ko-KR" sz="1400" b="1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selectedCherryIcon</a:t>
            </a:r>
            <a:r>
              <a:rPr lang="en-US" altLang="ko-KR" sz="1400" b="1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 = new </a:t>
            </a:r>
            <a:r>
              <a:rPr lang="en-US" altLang="ko-KR" sz="1400" b="1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ImageIcon</a:t>
            </a:r>
            <a:r>
              <a:rPr lang="en-US" altLang="ko-KR" sz="1400" b="1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("images/selectedCherry.jpg");</a:t>
            </a:r>
          </a:p>
          <a:p>
            <a:pPr marL="0" lvl="2"/>
            <a:r>
              <a:rPr lang="en-US" altLang="ko-KR" sz="14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JCheckBox</a:t>
            </a:r>
            <a:r>
              <a:rPr lang="en-US" altLang="ko-KR" sz="14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 cherry = new </a:t>
            </a:r>
            <a:r>
              <a:rPr lang="en-US" altLang="ko-KR" sz="14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JCheckBox</a:t>
            </a:r>
            <a:r>
              <a:rPr lang="en-US" altLang="ko-KR" sz="14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("</a:t>
            </a:r>
            <a:r>
              <a:rPr lang="ko-KR" altLang="en-US" sz="14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체리</a:t>
            </a:r>
            <a:r>
              <a:rPr lang="en-US" altLang="ko-KR" sz="14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", </a:t>
            </a:r>
            <a:r>
              <a:rPr lang="en-US" altLang="ko-KR" sz="14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cherryIcon</a:t>
            </a:r>
            <a:r>
              <a:rPr lang="en-US" altLang="ko-KR" sz="14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);</a:t>
            </a:r>
          </a:p>
          <a:p>
            <a:pPr marL="0" lvl="2"/>
            <a:r>
              <a:rPr lang="en-US" altLang="ko-KR" sz="1400" b="1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cherry.setSelectedIcon</a:t>
            </a:r>
            <a:r>
              <a:rPr lang="en-US" altLang="ko-KR" sz="1400" b="1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</a:t>
            </a:r>
            <a:r>
              <a:rPr lang="en-US" altLang="ko-KR" sz="1400" b="1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selectedCherryIcon</a:t>
            </a:r>
            <a:r>
              <a:rPr lang="en-US" altLang="ko-KR" sz="1400" b="1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); // </a:t>
            </a:r>
            <a:r>
              <a:rPr lang="ko-KR" altLang="en-US" sz="1400" b="1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선택 상태의 이미지 달기</a:t>
            </a:r>
          </a:p>
        </p:txBody>
      </p:sp>
      <p:sp>
        <p:nvSpPr>
          <p:cNvPr id="8" name="직사각형 7"/>
          <p:cNvSpPr/>
          <p:nvPr/>
        </p:nvSpPr>
        <p:spPr>
          <a:xfrm>
            <a:off x="1403648" y="2060848"/>
            <a:ext cx="3888432" cy="307777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4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JCheckBox</a:t>
            </a:r>
            <a:r>
              <a:rPr lang="en-US" altLang="ko-KR" sz="14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 c = new </a:t>
            </a:r>
            <a:r>
              <a:rPr lang="en-US" altLang="ko-KR" sz="14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JCheckBox</a:t>
            </a:r>
            <a:r>
              <a:rPr lang="en-US" altLang="ko-KR" sz="14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("</a:t>
            </a:r>
            <a:r>
              <a:rPr lang="ko-KR" altLang="en-US" sz="14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사과</a:t>
            </a:r>
            <a:r>
              <a:rPr lang="en-US" altLang="ko-KR" sz="14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");</a:t>
            </a:r>
          </a:p>
        </p:txBody>
      </p:sp>
      <p:sp>
        <p:nvSpPr>
          <p:cNvPr id="10" name="직사각형 9"/>
          <p:cNvSpPr/>
          <p:nvPr/>
        </p:nvSpPr>
        <p:spPr>
          <a:xfrm>
            <a:off x="1403648" y="2833191"/>
            <a:ext cx="4225102" cy="307777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4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JCheckBox</a:t>
            </a:r>
            <a:r>
              <a:rPr lang="en-US" altLang="ko-KR" sz="14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 c = new </a:t>
            </a:r>
            <a:r>
              <a:rPr lang="en-US" altLang="ko-KR" sz="14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JCheckBox</a:t>
            </a:r>
            <a:r>
              <a:rPr lang="en-US" altLang="ko-KR" sz="14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("</a:t>
            </a:r>
            <a:r>
              <a:rPr lang="ko-KR" altLang="en-US" sz="14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배</a:t>
            </a:r>
            <a:r>
              <a:rPr lang="en-US" altLang="ko-KR" sz="14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", true);</a:t>
            </a:r>
            <a:endParaRPr lang="ko-KR" altLang="en-US" sz="1400" dirty="0">
              <a:latin typeface="메이플스토리" panose="02000300000000000000" pitchFamily="2" charset="-127"/>
              <a:ea typeface="메이플스토리" panose="020003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92181167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예제 </a:t>
            </a:r>
            <a:r>
              <a:rPr lang="en-US" altLang="ko-KR" dirty="0"/>
              <a:t>11-4 : </a:t>
            </a:r>
            <a:r>
              <a:rPr lang="ko-KR" altLang="en-US" dirty="0"/>
              <a:t>체크박스 생성 예</a:t>
            </a:r>
          </a:p>
        </p:txBody>
      </p:sp>
      <p:sp>
        <p:nvSpPr>
          <p:cNvPr id="12" name="슬라이드 번호 개체 틀 11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77500" lnSpcReduction="20000"/>
          </a:bodyPr>
          <a:lstStyle/>
          <a:p>
            <a:fld id="{1A6BD2C2-3D3B-4E94-BD92-61B02C5F4DEE}" type="slidenum">
              <a:rPr lang="ko-KR" altLang="en-US" smtClean="0"/>
              <a:pPr/>
              <a:t>15</a:t>
            </a:fld>
            <a:endParaRPr lang="ko-KR" altLang="en-US"/>
          </a:p>
        </p:txBody>
      </p:sp>
      <p:sp>
        <p:nvSpPr>
          <p:cNvPr id="6" name="직사각형 5"/>
          <p:cNvSpPr/>
          <p:nvPr/>
        </p:nvSpPr>
        <p:spPr>
          <a:xfrm>
            <a:off x="700194" y="1130157"/>
            <a:ext cx="4960572" cy="5816977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defTabSz="180000"/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import </a:t>
            </a:r>
            <a:r>
              <a:rPr lang="en-US" altLang="ko-KR" sz="12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javax.swing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.*;</a:t>
            </a:r>
          </a:p>
          <a:p>
            <a:pPr defTabSz="180000"/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import </a:t>
            </a:r>
            <a:r>
              <a:rPr lang="en-US" altLang="ko-KR" sz="12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java.awt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.*;</a:t>
            </a:r>
          </a:p>
          <a:p>
            <a:pPr defTabSz="180000"/>
            <a:endParaRPr lang="en-US" altLang="ko-KR" sz="1200" dirty="0">
              <a:latin typeface="메이플스토리" panose="02000300000000000000" pitchFamily="2" charset="-127"/>
              <a:ea typeface="메이플스토리" panose="02000300000000000000" pitchFamily="2" charset="-127"/>
            </a:endParaRPr>
          </a:p>
          <a:p>
            <a:pPr defTabSz="180000"/>
            <a:r>
              <a:rPr lang="en-US" altLang="ko-KR" sz="1200" b="1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public class </a:t>
            </a:r>
            <a:r>
              <a:rPr lang="en-US" altLang="ko-KR" sz="1200" b="1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CheckBoxEx</a:t>
            </a:r>
            <a:r>
              <a:rPr lang="en-US" altLang="ko-KR" sz="1200" b="1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 extends </a:t>
            </a:r>
            <a:r>
              <a:rPr lang="en-US" altLang="ko-KR" sz="1200" b="1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JFrame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 {</a:t>
            </a:r>
          </a:p>
          <a:p>
            <a:pPr defTabSz="180000"/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public </a:t>
            </a:r>
            <a:r>
              <a:rPr lang="en-US" altLang="ko-KR" sz="12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CheckBoxEx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() {</a:t>
            </a:r>
          </a:p>
          <a:p>
            <a:pPr defTabSz="180000"/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	</a:t>
            </a:r>
            <a:r>
              <a:rPr lang="en-US" altLang="ko-KR" sz="12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setTitle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("</a:t>
            </a:r>
            <a:r>
              <a:rPr lang="ko-KR" altLang="en-US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체크박스 만들기 예제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");</a:t>
            </a:r>
          </a:p>
          <a:p>
            <a:pPr defTabSz="180000"/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	</a:t>
            </a:r>
            <a:r>
              <a:rPr lang="en-US" altLang="ko-KR" sz="12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setDefaultCloseOperation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</a:t>
            </a:r>
            <a:r>
              <a:rPr lang="en-US" altLang="ko-KR" sz="12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JFrame.EXIT_ON_CLOSE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);</a:t>
            </a:r>
          </a:p>
          <a:p>
            <a:pPr defTabSz="180000"/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	Container c = </a:t>
            </a:r>
            <a:r>
              <a:rPr lang="en-US" altLang="ko-KR" sz="12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getContentPane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();</a:t>
            </a:r>
          </a:p>
          <a:p>
            <a:pPr defTabSz="180000"/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	</a:t>
            </a:r>
            <a:r>
              <a:rPr lang="en-US" altLang="ko-KR" sz="12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c.setLayout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(new </a:t>
            </a:r>
            <a:r>
              <a:rPr lang="en-US" altLang="ko-KR" sz="12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FlowLayout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());</a:t>
            </a:r>
          </a:p>
          <a:p>
            <a:pPr defTabSz="180000"/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	</a:t>
            </a:r>
            <a:r>
              <a:rPr lang="en-US" altLang="ko-KR" sz="12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ImageIcon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 </a:t>
            </a:r>
            <a:r>
              <a:rPr lang="en-US" altLang="ko-KR" sz="12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cherryIcon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 = new </a:t>
            </a:r>
            <a:r>
              <a:rPr lang="en-US" altLang="ko-KR" sz="12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ImageIcon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("images/cherry.jpg"); 			</a:t>
            </a:r>
            <a:r>
              <a:rPr lang="en-US" altLang="ko-KR" sz="12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ImageIcon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 </a:t>
            </a:r>
            <a:r>
              <a:rPr lang="en-US" altLang="ko-KR" sz="12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selectedCherryIcon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 = new </a:t>
            </a:r>
            <a:r>
              <a:rPr lang="en-US" altLang="ko-KR" sz="12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ImageIcon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</a:t>
            </a:r>
          </a:p>
          <a:p>
            <a:pPr defTabSz="180000"/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										"images/selectedCherry.jpg");</a:t>
            </a:r>
            <a:endParaRPr lang="ko-KR" altLang="en-US" sz="1200" dirty="0">
              <a:latin typeface="메이플스토리" panose="02000300000000000000" pitchFamily="2" charset="-127"/>
              <a:ea typeface="메이플스토리" panose="02000300000000000000" pitchFamily="2" charset="-127"/>
            </a:endParaRPr>
          </a:p>
          <a:p>
            <a:pPr defTabSz="180000"/>
            <a:endParaRPr lang="en-US" altLang="ko-KR" sz="1200" dirty="0">
              <a:latin typeface="메이플스토리" panose="02000300000000000000" pitchFamily="2" charset="-127"/>
              <a:ea typeface="메이플스토리" panose="02000300000000000000" pitchFamily="2" charset="-127"/>
            </a:endParaRPr>
          </a:p>
          <a:p>
            <a:pPr defTabSz="180000"/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	</a:t>
            </a:r>
            <a:r>
              <a:rPr lang="en-US" altLang="ko-KR" sz="1200" b="1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JCheckBox</a:t>
            </a:r>
            <a:r>
              <a:rPr lang="en-US" altLang="ko-KR" sz="1200" b="1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 apple = new </a:t>
            </a:r>
            <a:r>
              <a:rPr lang="en-US" altLang="ko-KR" sz="1200" b="1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JCheckBox</a:t>
            </a:r>
            <a:r>
              <a:rPr lang="en-US" altLang="ko-KR" sz="1200" b="1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("</a:t>
            </a:r>
            <a:r>
              <a:rPr lang="ko-KR" altLang="en-US" sz="1200" b="1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사과</a:t>
            </a:r>
            <a:r>
              <a:rPr lang="en-US" altLang="ko-KR" sz="1200" b="1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");</a:t>
            </a:r>
          </a:p>
          <a:p>
            <a:pPr defTabSz="180000"/>
            <a:r>
              <a:rPr lang="en-US" altLang="ko-KR" sz="1200" b="1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	</a:t>
            </a:r>
            <a:r>
              <a:rPr lang="en-US" altLang="ko-KR" sz="1200" b="1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JCheckBox</a:t>
            </a:r>
            <a:r>
              <a:rPr lang="en-US" altLang="ko-KR" sz="1200" b="1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 pear = new </a:t>
            </a:r>
            <a:r>
              <a:rPr lang="en-US" altLang="ko-KR" sz="1200" b="1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JCheckBox</a:t>
            </a:r>
            <a:r>
              <a:rPr lang="en-US" altLang="ko-KR" sz="1200" b="1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("</a:t>
            </a:r>
            <a:r>
              <a:rPr lang="ko-KR" altLang="en-US" sz="1200" b="1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배</a:t>
            </a:r>
            <a:r>
              <a:rPr lang="en-US" altLang="ko-KR" sz="1200" b="1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", true);</a:t>
            </a:r>
          </a:p>
          <a:p>
            <a:pPr defTabSz="180000"/>
            <a:r>
              <a:rPr lang="en-US" altLang="ko-KR" sz="1200" b="1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	</a:t>
            </a:r>
            <a:r>
              <a:rPr lang="en-US" altLang="ko-KR" sz="1200" b="1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JCheckBox</a:t>
            </a:r>
            <a:r>
              <a:rPr lang="en-US" altLang="ko-KR" sz="1200" b="1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 cherry = new </a:t>
            </a:r>
            <a:r>
              <a:rPr lang="en-US" altLang="ko-KR" sz="1200" b="1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JCheckBox</a:t>
            </a:r>
            <a:r>
              <a:rPr lang="en-US" altLang="ko-KR" sz="1200" b="1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("</a:t>
            </a:r>
            <a:r>
              <a:rPr lang="ko-KR" altLang="en-US" sz="1200" b="1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체리</a:t>
            </a:r>
            <a:r>
              <a:rPr lang="en-US" altLang="ko-KR" sz="1200" b="1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", </a:t>
            </a:r>
            <a:r>
              <a:rPr lang="en-US" altLang="ko-KR" sz="1200" b="1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cherryIcon</a:t>
            </a:r>
            <a:r>
              <a:rPr lang="en-US" altLang="ko-KR" sz="1200" b="1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);</a:t>
            </a:r>
          </a:p>
          <a:p>
            <a:pPr defTabSz="180000"/>
            <a:r>
              <a:rPr lang="en-US" altLang="ko-KR" sz="1200" b="1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	</a:t>
            </a:r>
            <a:r>
              <a:rPr lang="en-US" altLang="ko-KR" sz="1200" b="1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cherry.setBorderPainted</a:t>
            </a:r>
            <a:r>
              <a:rPr lang="en-US" altLang="ko-KR" sz="1200" b="1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(true);</a:t>
            </a:r>
            <a:endParaRPr lang="ko-KR" altLang="en-US" sz="1200" b="1" dirty="0">
              <a:latin typeface="메이플스토리" panose="02000300000000000000" pitchFamily="2" charset="-127"/>
              <a:ea typeface="메이플스토리" panose="02000300000000000000" pitchFamily="2" charset="-127"/>
            </a:endParaRPr>
          </a:p>
          <a:p>
            <a:pPr defTabSz="180000"/>
            <a:r>
              <a:rPr lang="en-US" altLang="ko-KR" sz="1200" b="1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	</a:t>
            </a:r>
            <a:r>
              <a:rPr lang="en-US" altLang="ko-KR" sz="1200" b="1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cherry.setSelectedIcon</a:t>
            </a:r>
            <a:r>
              <a:rPr lang="en-US" altLang="ko-KR" sz="1200" b="1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</a:t>
            </a:r>
            <a:r>
              <a:rPr lang="en-US" altLang="ko-KR" sz="1200" b="1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selectedCherryIcon</a:t>
            </a:r>
            <a:r>
              <a:rPr lang="en-US" altLang="ko-KR" sz="1200" b="1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);</a:t>
            </a:r>
          </a:p>
          <a:p>
            <a:pPr defTabSz="180000"/>
            <a:endParaRPr lang="ko-KR" altLang="en-US" sz="1200" dirty="0">
              <a:latin typeface="메이플스토리" panose="02000300000000000000" pitchFamily="2" charset="-127"/>
              <a:ea typeface="메이플스토리" panose="02000300000000000000" pitchFamily="2" charset="-127"/>
            </a:endParaRPr>
          </a:p>
          <a:p>
            <a:pPr defTabSz="180000"/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	</a:t>
            </a:r>
            <a:r>
              <a:rPr lang="en-US" altLang="ko-KR" sz="12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c.add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(apple);</a:t>
            </a:r>
          </a:p>
          <a:p>
            <a:pPr defTabSz="180000"/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	</a:t>
            </a:r>
            <a:r>
              <a:rPr lang="en-US" altLang="ko-KR" sz="12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c.add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(pear);</a:t>
            </a:r>
          </a:p>
          <a:p>
            <a:pPr defTabSz="180000"/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	</a:t>
            </a:r>
            <a:r>
              <a:rPr lang="en-US" altLang="ko-KR" sz="12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c.add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(cherry);</a:t>
            </a:r>
          </a:p>
          <a:p>
            <a:pPr defTabSz="180000"/>
            <a:endParaRPr lang="en-US" altLang="ko-KR" sz="1200" dirty="0">
              <a:latin typeface="메이플스토리" panose="02000300000000000000" pitchFamily="2" charset="-127"/>
              <a:ea typeface="메이플스토리" panose="02000300000000000000" pitchFamily="2" charset="-127"/>
            </a:endParaRPr>
          </a:p>
          <a:p>
            <a:pPr defTabSz="180000"/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	</a:t>
            </a:r>
            <a:r>
              <a:rPr lang="en-US" altLang="ko-KR" sz="12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setSize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(250,150);</a:t>
            </a:r>
          </a:p>
          <a:p>
            <a:pPr defTabSz="180000"/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	</a:t>
            </a:r>
            <a:r>
              <a:rPr lang="en-US" altLang="ko-KR" sz="12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setVisible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(true);</a:t>
            </a:r>
          </a:p>
          <a:p>
            <a:pPr defTabSz="180000"/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}</a:t>
            </a:r>
          </a:p>
          <a:p>
            <a:pPr defTabSz="180000"/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public static void main(String [] </a:t>
            </a:r>
            <a:r>
              <a:rPr lang="en-US" altLang="ko-KR" sz="12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args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) {</a:t>
            </a:r>
          </a:p>
          <a:p>
            <a:pPr defTabSz="180000"/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	new </a:t>
            </a:r>
            <a:r>
              <a:rPr lang="en-US" altLang="ko-KR" sz="12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CheckBoxEx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();</a:t>
            </a:r>
          </a:p>
          <a:p>
            <a:pPr defTabSz="180000"/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}</a:t>
            </a:r>
          </a:p>
          <a:p>
            <a:pPr defTabSz="180000"/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}</a:t>
            </a:r>
            <a:endParaRPr lang="ko-KR" altLang="en-US" sz="1200" dirty="0">
              <a:latin typeface="메이플스토리" panose="02000300000000000000" pitchFamily="2" charset="-127"/>
              <a:ea typeface="메이플스토리" panose="02000300000000000000" pitchFamily="2" charset="-127"/>
            </a:endParaRPr>
          </a:p>
        </p:txBody>
      </p:sp>
      <p:grpSp>
        <p:nvGrpSpPr>
          <p:cNvPr id="10" name="그룹 9"/>
          <p:cNvGrpSpPr/>
          <p:nvPr/>
        </p:nvGrpSpPr>
        <p:grpSpPr>
          <a:xfrm>
            <a:off x="5930031" y="1635299"/>
            <a:ext cx="2814936" cy="4086924"/>
            <a:chOff x="5930031" y="1635299"/>
            <a:chExt cx="2814936" cy="4086924"/>
          </a:xfrm>
        </p:grpSpPr>
        <p:pic>
          <p:nvPicPr>
            <p:cNvPr id="7" name="그림 6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089099" y="3936878"/>
              <a:ext cx="2363929" cy="1433660"/>
            </a:xfrm>
            <a:prstGeom prst="rect">
              <a:avLst/>
            </a:prstGeom>
            <a:ln>
              <a:solidFill>
                <a:schemeClr val="accent1"/>
              </a:solidFill>
            </a:ln>
          </p:spPr>
        </p:pic>
        <p:pic>
          <p:nvPicPr>
            <p:cNvPr id="9" name="그림 8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12140" y="1635299"/>
              <a:ext cx="2363929" cy="1433660"/>
            </a:xfrm>
            <a:prstGeom prst="rect">
              <a:avLst/>
            </a:prstGeom>
            <a:ln>
              <a:solidFill>
                <a:schemeClr val="accent1"/>
              </a:solidFill>
            </a:ln>
          </p:spPr>
        </p:pic>
        <p:sp>
          <p:nvSpPr>
            <p:cNvPr id="8" name="자유형 7"/>
            <p:cNvSpPr/>
            <p:nvPr/>
          </p:nvSpPr>
          <p:spPr>
            <a:xfrm>
              <a:off x="7997647" y="2285993"/>
              <a:ext cx="747320" cy="2380550"/>
            </a:xfrm>
            <a:custGeom>
              <a:avLst/>
              <a:gdLst>
                <a:gd name="connsiteX0" fmla="*/ 0 w 753893"/>
                <a:gd name="connsiteY0" fmla="*/ 0 h 2500008"/>
                <a:gd name="connsiteX1" fmla="*/ 321013 w 753893"/>
                <a:gd name="connsiteY1" fmla="*/ 252919 h 2500008"/>
                <a:gd name="connsiteX2" fmla="*/ 680936 w 753893"/>
                <a:gd name="connsiteY2" fmla="*/ 953310 h 2500008"/>
                <a:gd name="connsiteX3" fmla="*/ 651753 w 753893"/>
                <a:gd name="connsiteY3" fmla="*/ 1809344 h 2500008"/>
                <a:gd name="connsiteX4" fmla="*/ 68094 w 753893"/>
                <a:gd name="connsiteY4" fmla="*/ 2500008 h 25000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3893" h="2500008">
                  <a:moveTo>
                    <a:pt x="0" y="0"/>
                  </a:moveTo>
                  <a:cubicBezTo>
                    <a:pt x="103762" y="47017"/>
                    <a:pt x="207524" y="94034"/>
                    <a:pt x="321013" y="252919"/>
                  </a:cubicBezTo>
                  <a:cubicBezTo>
                    <a:pt x="434502" y="411804"/>
                    <a:pt x="625813" y="693906"/>
                    <a:pt x="680936" y="953310"/>
                  </a:cubicBezTo>
                  <a:cubicBezTo>
                    <a:pt x="736059" y="1212714"/>
                    <a:pt x="753893" y="1551561"/>
                    <a:pt x="651753" y="1809344"/>
                  </a:cubicBezTo>
                  <a:cubicBezTo>
                    <a:pt x="549613" y="2067127"/>
                    <a:pt x="308853" y="2283567"/>
                    <a:pt x="68094" y="2500008"/>
                  </a:cubicBezTo>
                </a:path>
              </a:pathLst>
            </a:custGeom>
            <a:ln>
              <a:solidFill>
                <a:srgbClr val="FF0000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메이플스토리" panose="02000300000000000000" pitchFamily="2" charset="-127"/>
                <a:ea typeface="메이플스토리" panose="02000300000000000000" pitchFamily="2" charset="-127"/>
              </a:endParaRP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7754391" y="3400527"/>
              <a:ext cx="86113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200" dirty="0">
                  <a:latin typeface="메이플스토리" panose="02000300000000000000" pitchFamily="2" charset="-127"/>
                  <a:ea typeface="메이플스토리" panose="02000300000000000000" pitchFamily="2" charset="-127"/>
                </a:rPr>
                <a:t>체크 박스를</a:t>
              </a:r>
              <a:endPara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endParaRPr>
            </a:p>
            <a:p>
              <a:r>
                <a:rPr lang="ko-KR" altLang="en-US" sz="1200" dirty="0">
                  <a:latin typeface="메이플스토리" panose="02000300000000000000" pitchFamily="2" charset="-127"/>
                  <a:ea typeface="메이플스토리" panose="02000300000000000000" pitchFamily="2" charset="-127"/>
                </a:rPr>
                <a:t>선택하면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6154746" y="5445224"/>
              <a:ext cx="2437975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dirty="0">
                  <a:latin typeface="메이플스토리" panose="02000300000000000000" pitchFamily="2" charset="-127"/>
                  <a:ea typeface="메이플스토리" panose="02000300000000000000" pitchFamily="2" charset="-127"/>
                </a:rPr>
                <a:t>selectedCherry.jpg(</a:t>
              </a:r>
              <a:r>
                <a:rPr lang="ko-KR" altLang="en-US" sz="1200" dirty="0">
                  <a:latin typeface="메이플스토리" panose="02000300000000000000" pitchFamily="2" charset="-127"/>
                  <a:ea typeface="메이플스토리" panose="02000300000000000000" pitchFamily="2" charset="-127"/>
                </a:rPr>
                <a:t>선택된 상태</a:t>
              </a:r>
              <a:r>
                <a:rPr lang="en-US" altLang="ko-KR" sz="1200" dirty="0">
                  <a:latin typeface="메이플스토리" panose="02000300000000000000" pitchFamily="2" charset="-127"/>
                  <a:ea typeface="메이플스토리" panose="02000300000000000000" pitchFamily="2" charset="-127"/>
                </a:rPr>
                <a:t>)</a:t>
              </a:r>
              <a:endParaRPr lang="ko-KR" altLang="en-US" sz="1200" dirty="0">
                <a:latin typeface="메이플스토리" panose="02000300000000000000" pitchFamily="2" charset="-127"/>
                <a:ea typeface="메이플스토리" panose="02000300000000000000" pitchFamily="2" charset="-127"/>
              </a:endParaRPr>
            </a:p>
          </p:txBody>
        </p:sp>
        <p:cxnSp>
          <p:nvCxnSpPr>
            <p:cNvPr id="17" name="직선 화살표 연결선 16"/>
            <p:cNvCxnSpPr>
              <a:stCxn id="15" idx="0"/>
            </p:cNvCxnSpPr>
            <p:nvPr/>
          </p:nvCxnSpPr>
          <p:spPr>
            <a:xfrm flipV="1">
              <a:off x="7373734" y="4667660"/>
              <a:ext cx="85382" cy="777564"/>
            </a:xfrm>
            <a:prstGeom prst="straightConnector1">
              <a:avLst/>
            </a:prstGeom>
            <a:ln>
              <a:solidFill>
                <a:schemeClr val="accent2">
                  <a:lumMod val="75000"/>
                </a:schemeClr>
              </a:solidFill>
              <a:prstDash val="dash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TextBox 15"/>
            <p:cNvSpPr txBox="1"/>
            <p:nvPr/>
          </p:nvSpPr>
          <p:spPr>
            <a:xfrm>
              <a:off x="5930031" y="3068959"/>
              <a:ext cx="2207656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dirty="0">
                  <a:latin typeface="메이플스토리" panose="02000300000000000000" pitchFamily="2" charset="-127"/>
                  <a:ea typeface="메이플스토리" panose="02000300000000000000" pitchFamily="2" charset="-127"/>
                </a:rPr>
                <a:t>cherry.jpg(</a:t>
              </a:r>
              <a:r>
                <a:rPr lang="ko-KR" altLang="en-US" sz="1200" dirty="0">
                  <a:latin typeface="메이플스토리" panose="02000300000000000000" pitchFamily="2" charset="-127"/>
                  <a:ea typeface="메이플스토리" panose="02000300000000000000" pitchFamily="2" charset="-127"/>
                </a:rPr>
                <a:t>선택되지 않은 상태</a:t>
              </a:r>
              <a:r>
                <a:rPr lang="en-US" altLang="ko-KR" sz="1200" dirty="0">
                  <a:latin typeface="메이플스토리" panose="02000300000000000000" pitchFamily="2" charset="-127"/>
                  <a:ea typeface="메이플스토리" panose="02000300000000000000" pitchFamily="2" charset="-127"/>
                </a:rPr>
                <a:t>)</a:t>
              </a:r>
              <a:endParaRPr lang="ko-KR" altLang="en-US" sz="1200" dirty="0">
                <a:latin typeface="메이플스토리" panose="02000300000000000000" pitchFamily="2" charset="-127"/>
                <a:ea typeface="메이플스토리" panose="02000300000000000000" pitchFamily="2" charset="-127"/>
              </a:endParaRPr>
            </a:p>
          </p:txBody>
        </p:sp>
        <p:cxnSp>
          <p:nvCxnSpPr>
            <p:cNvPr id="21" name="직선 화살표 연결선 20"/>
            <p:cNvCxnSpPr>
              <a:stCxn id="16" idx="0"/>
            </p:cNvCxnSpPr>
            <p:nvPr/>
          </p:nvCxnSpPr>
          <p:spPr>
            <a:xfrm flipV="1">
              <a:off x="7033859" y="2285995"/>
              <a:ext cx="425257" cy="782964"/>
            </a:xfrm>
            <a:prstGeom prst="straightConnector1">
              <a:avLst/>
            </a:prstGeom>
            <a:ln>
              <a:solidFill>
                <a:schemeClr val="accent2">
                  <a:lumMod val="75000"/>
                </a:schemeClr>
              </a:solidFill>
              <a:prstDash val="dash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68131657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JCheckBox</a:t>
            </a:r>
            <a:r>
              <a:rPr lang="ko-KR" altLang="en-US" dirty="0"/>
              <a:t>에서 </a:t>
            </a:r>
            <a:r>
              <a:rPr lang="en-US" altLang="ko-KR" dirty="0"/>
              <a:t>Item </a:t>
            </a:r>
            <a:r>
              <a:rPr lang="ko-KR" altLang="en-US" dirty="0"/>
              <a:t>이벤트 처리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quarter" idx="1"/>
          </p:nvPr>
        </p:nvSpPr>
        <p:spPr>
          <a:xfrm>
            <a:off x="612648" y="1340768"/>
            <a:ext cx="8153400" cy="3600400"/>
          </a:xfrm>
        </p:spPr>
        <p:txBody>
          <a:bodyPr>
            <a:normAutofit fontScale="85000" lnSpcReduction="20000"/>
          </a:bodyPr>
          <a:lstStyle/>
          <a:p>
            <a:r>
              <a:rPr lang="en-US" altLang="ko-KR" dirty="0"/>
              <a:t>Item </a:t>
            </a:r>
            <a:r>
              <a:rPr lang="ko-KR" altLang="en-US" dirty="0"/>
              <a:t>이벤트</a:t>
            </a:r>
            <a:endParaRPr lang="en-US" altLang="ko-KR" dirty="0"/>
          </a:p>
          <a:p>
            <a:pPr lvl="1"/>
            <a:r>
              <a:rPr lang="ko-KR" altLang="en-US" dirty="0"/>
              <a:t>체크 박스나 라디오버튼의 선택 상태가 바뀔 발생하는 이벤트</a:t>
            </a:r>
            <a:endParaRPr lang="en-US" altLang="ko-KR" dirty="0"/>
          </a:p>
          <a:p>
            <a:pPr lvl="2"/>
            <a:r>
              <a:rPr lang="ko-KR" altLang="en-US" dirty="0"/>
              <a:t>마우스나 키보드로 체크박스를 선택 상태를 바꾸는 경우</a:t>
            </a:r>
            <a:endParaRPr lang="en-US" altLang="ko-KR" dirty="0"/>
          </a:p>
          <a:p>
            <a:pPr lvl="2"/>
            <a:r>
              <a:rPr lang="ko-KR" altLang="en-US" dirty="0"/>
              <a:t>프로그램에서 선택 상태를 바꾸는 경우</a:t>
            </a:r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endParaRPr lang="en-US" altLang="ko-KR" dirty="0"/>
          </a:p>
          <a:p>
            <a:r>
              <a:rPr lang="en-US" altLang="ko-KR" dirty="0" err="1"/>
              <a:t>ItemListener</a:t>
            </a:r>
            <a:r>
              <a:rPr lang="en-US" altLang="ko-KR" dirty="0"/>
              <a:t> </a:t>
            </a:r>
            <a:r>
              <a:rPr lang="ko-KR" altLang="en-US" dirty="0"/>
              <a:t>인터페이스의 추상 </a:t>
            </a:r>
            <a:r>
              <a:rPr lang="ko-KR" altLang="en-US" dirty="0" err="1"/>
              <a:t>메소드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en-US" altLang="ko-KR" dirty="0" err="1"/>
              <a:t>ItemEvent</a:t>
            </a:r>
            <a:r>
              <a:rPr lang="ko-KR" altLang="en-US" dirty="0"/>
              <a:t>의 주요 </a:t>
            </a:r>
            <a:r>
              <a:rPr lang="ko-KR" altLang="en-US" dirty="0" err="1"/>
              <a:t>메소드</a:t>
            </a:r>
            <a:endParaRPr lang="en-US" altLang="ko-KR" dirty="0"/>
          </a:p>
          <a:p>
            <a:pPr lvl="3"/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77500" lnSpcReduction="20000"/>
          </a:bodyPr>
          <a:lstStyle/>
          <a:p>
            <a:fld id="{1A6BD2C2-3D3B-4E94-BD92-61B02C5F4DEE}" type="slidenum">
              <a:rPr lang="ko-KR" altLang="en-US" smtClean="0"/>
              <a:pPr/>
              <a:t>16</a:t>
            </a:fld>
            <a:endParaRPr lang="ko-KR" altLang="en-US"/>
          </a:p>
        </p:txBody>
      </p:sp>
      <p:sp>
        <p:nvSpPr>
          <p:cNvPr id="4" name="직사각형 3"/>
          <p:cNvSpPr/>
          <p:nvPr/>
        </p:nvSpPr>
        <p:spPr>
          <a:xfrm>
            <a:off x="1619672" y="2564904"/>
            <a:ext cx="4572000" cy="52322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>
            <a:spAutoFit/>
          </a:bodyPr>
          <a:lstStyle/>
          <a:p>
            <a:r>
              <a:rPr lang="en-US" altLang="ko-KR" sz="14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JCheckBox</a:t>
            </a:r>
            <a:r>
              <a:rPr lang="en-US" altLang="ko-KR" sz="14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 c = new </a:t>
            </a:r>
            <a:r>
              <a:rPr lang="en-US" altLang="ko-KR" sz="14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JCheckBox</a:t>
            </a:r>
            <a:r>
              <a:rPr lang="en-US" altLang="ko-KR" sz="14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("</a:t>
            </a:r>
            <a:r>
              <a:rPr lang="ko-KR" altLang="en-US" sz="14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사과</a:t>
            </a:r>
            <a:r>
              <a:rPr lang="en-US" altLang="ko-KR" sz="14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");</a:t>
            </a:r>
          </a:p>
          <a:p>
            <a:r>
              <a:rPr lang="en-US" altLang="ko-KR" sz="14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c.setSelected</a:t>
            </a:r>
            <a:r>
              <a:rPr lang="en-US" altLang="ko-KR" sz="14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(true); // </a:t>
            </a:r>
            <a:r>
              <a:rPr lang="ko-KR" altLang="en-US" sz="14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선택 상태 변경</a:t>
            </a:r>
            <a:endParaRPr lang="en-US" altLang="ko-KR" sz="1400" dirty="0">
              <a:latin typeface="메이플스토리" panose="02000300000000000000" pitchFamily="2" charset="-127"/>
              <a:ea typeface="메이플스토리" panose="02000300000000000000" pitchFamily="2" charset="-127"/>
            </a:endParaRPr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9325" y="4836478"/>
            <a:ext cx="7203363" cy="1328826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9326" y="3717032"/>
            <a:ext cx="7126399" cy="5284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052965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4294967295"/>
          </p:nvPr>
        </p:nvSpPr>
        <p:spPr>
          <a:xfrm>
            <a:off x="0" y="228600"/>
            <a:ext cx="8480425" cy="679450"/>
          </a:xfrm>
        </p:spPr>
        <p:txBody>
          <a:bodyPr>
            <a:noAutofit/>
          </a:bodyPr>
          <a:lstStyle/>
          <a:p>
            <a:r>
              <a:rPr lang="ko-KR" altLang="en-US" sz="2400" dirty="0">
                <a:solidFill>
                  <a:srgbClr val="FF0000"/>
                </a:solidFill>
              </a:rPr>
              <a:t>예제 </a:t>
            </a:r>
            <a:r>
              <a:rPr lang="en-US" altLang="ko-KR" sz="2400" dirty="0">
                <a:solidFill>
                  <a:srgbClr val="FF0000"/>
                </a:solidFill>
              </a:rPr>
              <a:t>11-5 : </a:t>
            </a:r>
            <a:r>
              <a:rPr lang="en-US" altLang="ko-KR" sz="2400" dirty="0" err="1">
                <a:solidFill>
                  <a:srgbClr val="FF0000"/>
                </a:solidFill>
              </a:rPr>
              <a:t>ItemEvent</a:t>
            </a:r>
            <a:r>
              <a:rPr lang="ko-KR" altLang="en-US" sz="2400" dirty="0">
                <a:solidFill>
                  <a:srgbClr val="FF0000"/>
                </a:solidFill>
              </a:rPr>
              <a:t> 활용하여 체크박스로 가격 합산하기</a:t>
            </a:r>
          </a:p>
        </p:txBody>
      </p:sp>
      <p:sp>
        <p:nvSpPr>
          <p:cNvPr id="4" name="직사각형 3"/>
          <p:cNvSpPr/>
          <p:nvPr/>
        </p:nvSpPr>
        <p:spPr>
          <a:xfrm>
            <a:off x="125760" y="908050"/>
            <a:ext cx="4392488" cy="461664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defTabSz="180000"/>
            <a:r>
              <a:rPr lang="en-US" altLang="ko-KR" sz="105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import </a:t>
            </a:r>
            <a:r>
              <a:rPr lang="en-US" altLang="ko-KR" sz="105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javax.swing</a:t>
            </a:r>
            <a:r>
              <a:rPr lang="en-US" altLang="ko-KR" sz="105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.*;</a:t>
            </a:r>
          </a:p>
          <a:p>
            <a:pPr defTabSz="180000"/>
            <a:r>
              <a:rPr lang="en-US" altLang="ko-KR" sz="105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import </a:t>
            </a:r>
            <a:r>
              <a:rPr lang="en-US" altLang="ko-KR" sz="105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java.awt.event</a:t>
            </a:r>
            <a:r>
              <a:rPr lang="en-US" altLang="ko-KR" sz="105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.*;</a:t>
            </a:r>
          </a:p>
          <a:p>
            <a:pPr defTabSz="180000"/>
            <a:r>
              <a:rPr lang="en-US" altLang="ko-KR" sz="105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import </a:t>
            </a:r>
            <a:r>
              <a:rPr lang="en-US" altLang="ko-KR" sz="105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java.awt</a:t>
            </a:r>
            <a:r>
              <a:rPr lang="en-US" altLang="ko-KR" sz="105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.*;</a:t>
            </a:r>
          </a:p>
          <a:p>
            <a:pPr defTabSz="180000"/>
            <a:endParaRPr lang="en-US" altLang="ko-KR" sz="1050" dirty="0">
              <a:latin typeface="메이플스토리" panose="02000300000000000000" pitchFamily="2" charset="-127"/>
              <a:ea typeface="메이플스토리" panose="02000300000000000000" pitchFamily="2" charset="-127"/>
            </a:endParaRPr>
          </a:p>
          <a:p>
            <a:pPr defTabSz="180000"/>
            <a:r>
              <a:rPr lang="en-US" altLang="ko-KR" sz="1050" b="1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public class </a:t>
            </a:r>
            <a:r>
              <a:rPr lang="en-US" altLang="ko-KR" sz="1050" b="1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CheckBoxItemEventEx</a:t>
            </a:r>
            <a:r>
              <a:rPr lang="en-US" altLang="ko-KR" sz="1050" b="1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 extends </a:t>
            </a:r>
            <a:r>
              <a:rPr lang="en-US" altLang="ko-KR" sz="1050" b="1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JFrame</a:t>
            </a:r>
            <a:r>
              <a:rPr lang="en-US" altLang="ko-KR" sz="1050" b="1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 </a:t>
            </a:r>
            <a:r>
              <a:rPr lang="en-US" altLang="ko-KR" sz="105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{</a:t>
            </a:r>
          </a:p>
          <a:p>
            <a:pPr defTabSz="180000"/>
            <a:r>
              <a:rPr lang="en-US" altLang="ko-KR" sz="105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private </a:t>
            </a:r>
            <a:r>
              <a:rPr lang="en-US" altLang="ko-KR" sz="105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JCheckBox</a:t>
            </a:r>
            <a:r>
              <a:rPr lang="en-US" altLang="ko-KR" sz="105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 [] fruits = new </a:t>
            </a:r>
            <a:r>
              <a:rPr lang="en-US" altLang="ko-KR" sz="105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JCheckBox</a:t>
            </a:r>
            <a:r>
              <a:rPr lang="en-US" altLang="ko-KR" sz="105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 [3];</a:t>
            </a:r>
            <a:endParaRPr lang="ko-KR" altLang="en-US" sz="1050" dirty="0">
              <a:latin typeface="메이플스토리" panose="02000300000000000000" pitchFamily="2" charset="-127"/>
              <a:ea typeface="메이플스토리" panose="02000300000000000000" pitchFamily="2" charset="-127"/>
            </a:endParaRPr>
          </a:p>
          <a:p>
            <a:pPr defTabSz="180000"/>
            <a:r>
              <a:rPr lang="en-US" altLang="ko-KR" sz="105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private String [] names = {"</a:t>
            </a:r>
            <a:r>
              <a:rPr lang="ko-KR" altLang="en-US" sz="105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사과</a:t>
            </a:r>
            <a:r>
              <a:rPr lang="en-US" altLang="ko-KR" sz="105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", "</a:t>
            </a:r>
            <a:r>
              <a:rPr lang="ko-KR" altLang="en-US" sz="105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배</a:t>
            </a:r>
            <a:r>
              <a:rPr lang="en-US" altLang="ko-KR" sz="105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", "</a:t>
            </a:r>
            <a:r>
              <a:rPr lang="ko-KR" altLang="en-US" sz="105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체리</a:t>
            </a:r>
            <a:r>
              <a:rPr lang="en-US" altLang="ko-KR" sz="105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"};</a:t>
            </a:r>
          </a:p>
          <a:p>
            <a:pPr defTabSz="180000"/>
            <a:r>
              <a:rPr lang="en-US" altLang="ko-KR" sz="105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private </a:t>
            </a:r>
            <a:r>
              <a:rPr lang="en-US" altLang="ko-KR" sz="105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JLabel</a:t>
            </a:r>
            <a:r>
              <a:rPr lang="en-US" altLang="ko-KR" sz="105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 </a:t>
            </a:r>
            <a:r>
              <a:rPr lang="en-US" altLang="ko-KR" sz="105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sumLabel</a:t>
            </a:r>
            <a:r>
              <a:rPr lang="en-US" altLang="ko-KR" sz="105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;</a:t>
            </a:r>
            <a:endParaRPr lang="ko-KR" altLang="en-US" sz="1050" dirty="0">
              <a:latin typeface="메이플스토리" panose="02000300000000000000" pitchFamily="2" charset="-127"/>
              <a:ea typeface="메이플스토리" panose="02000300000000000000" pitchFamily="2" charset="-127"/>
            </a:endParaRPr>
          </a:p>
          <a:p>
            <a:pPr defTabSz="180000"/>
            <a:endParaRPr lang="en-US" altLang="ko-KR" sz="1050" dirty="0">
              <a:latin typeface="메이플스토리" panose="02000300000000000000" pitchFamily="2" charset="-127"/>
              <a:ea typeface="메이플스토리" panose="02000300000000000000" pitchFamily="2" charset="-127"/>
            </a:endParaRPr>
          </a:p>
          <a:p>
            <a:pPr defTabSz="180000"/>
            <a:r>
              <a:rPr lang="en-US" altLang="ko-KR" sz="105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public </a:t>
            </a:r>
            <a:r>
              <a:rPr lang="en-US" altLang="ko-KR" sz="105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CheckBoxItemEventEx</a:t>
            </a:r>
            <a:r>
              <a:rPr lang="en-US" altLang="ko-KR" sz="105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() {</a:t>
            </a:r>
          </a:p>
          <a:p>
            <a:pPr defTabSz="180000"/>
            <a:r>
              <a:rPr lang="en-US" altLang="ko-KR" sz="105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	</a:t>
            </a:r>
            <a:r>
              <a:rPr lang="en-US" altLang="ko-KR" sz="105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setTitle</a:t>
            </a:r>
            <a:r>
              <a:rPr lang="en-US" altLang="ko-KR" sz="105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("</a:t>
            </a:r>
            <a:r>
              <a:rPr lang="ko-KR" altLang="en-US" sz="105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체크박스와 </a:t>
            </a:r>
            <a:r>
              <a:rPr lang="en-US" altLang="ko-KR" sz="105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ItemEvent</a:t>
            </a:r>
            <a:r>
              <a:rPr lang="en-US" altLang="ko-KR" sz="105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 </a:t>
            </a:r>
            <a:r>
              <a:rPr lang="ko-KR" altLang="en-US" sz="105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예제</a:t>
            </a:r>
            <a:r>
              <a:rPr lang="en-US" altLang="ko-KR" sz="105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");</a:t>
            </a:r>
          </a:p>
          <a:p>
            <a:pPr defTabSz="180000"/>
            <a:r>
              <a:rPr lang="en-US" altLang="ko-KR" sz="105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	</a:t>
            </a:r>
            <a:r>
              <a:rPr lang="en-US" altLang="ko-KR" sz="105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setDefaultCloseOperation</a:t>
            </a:r>
            <a:r>
              <a:rPr lang="en-US" altLang="ko-KR" sz="105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</a:t>
            </a:r>
            <a:r>
              <a:rPr lang="en-US" altLang="ko-KR" sz="105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JFrame.EXIT_ON_CLOSE</a:t>
            </a:r>
            <a:r>
              <a:rPr lang="en-US" altLang="ko-KR" sz="105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);</a:t>
            </a:r>
          </a:p>
          <a:p>
            <a:pPr defTabSz="180000"/>
            <a:r>
              <a:rPr lang="en-US" altLang="ko-KR" sz="105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	Container c = </a:t>
            </a:r>
            <a:r>
              <a:rPr lang="en-US" altLang="ko-KR" sz="105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getContentPane</a:t>
            </a:r>
            <a:r>
              <a:rPr lang="en-US" altLang="ko-KR" sz="105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();</a:t>
            </a:r>
          </a:p>
          <a:p>
            <a:pPr defTabSz="180000"/>
            <a:r>
              <a:rPr lang="en-US" altLang="ko-KR" sz="105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	</a:t>
            </a:r>
            <a:r>
              <a:rPr lang="en-US" altLang="ko-KR" sz="105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c.setLayout</a:t>
            </a:r>
            <a:r>
              <a:rPr lang="en-US" altLang="ko-KR" sz="105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(new </a:t>
            </a:r>
            <a:r>
              <a:rPr lang="en-US" altLang="ko-KR" sz="105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FlowLayout</a:t>
            </a:r>
            <a:r>
              <a:rPr lang="en-US" altLang="ko-KR" sz="105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());</a:t>
            </a:r>
          </a:p>
          <a:p>
            <a:pPr defTabSz="180000"/>
            <a:r>
              <a:rPr lang="en-US" altLang="ko-KR" sz="105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	</a:t>
            </a:r>
            <a:r>
              <a:rPr lang="en-US" altLang="ko-KR" sz="105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c.add</a:t>
            </a:r>
            <a:r>
              <a:rPr lang="en-US" altLang="ko-KR" sz="105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(new </a:t>
            </a:r>
            <a:r>
              <a:rPr lang="en-US" altLang="ko-KR" sz="105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JLabel</a:t>
            </a:r>
            <a:r>
              <a:rPr lang="en-US" altLang="ko-KR" sz="105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("</a:t>
            </a:r>
            <a:r>
              <a:rPr lang="ko-KR" altLang="en-US" sz="105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사과 </a:t>
            </a:r>
            <a:r>
              <a:rPr lang="en-US" altLang="ko-KR" sz="105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100</a:t>
            </a:r>
            <a:r>
              <a:rPr lang="ko-KR" altLang="en-US" sz="105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원</a:t>
            </a:r>
            <a:r>
              <a:rPr lang="en-US" altLang="ko-KR" sz="105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, </a:t>
            </a:r>
            <a:r>
              <a:rPr lang="ko-KR" altLang="en-US" sz="105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배 </a:t>
            </a:r>
            <a:r>
              <a:rPr lang="en-US" altLang="ko-KR" sz="105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500</a:t>
            </a:r>
            <a:r>
              <a:rPr lang="ko-KR" altLang="en-US" sz="105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원</a:t>
            </a:r>
            <a:r>
              <a:rPr lang="en-US" altLang="ko-KR" sz="105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, </a:t>
            </a:r>
            <a:r>
              <a:rPr lang="ko-KR" altLang="en-US" sz="105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체리 </a:t>
            </a:r>
            <a:r>
              <a:rPr lang="en-US" altLang="ko-KR" sz="105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20000</a:t>
            </a:r>
            <a:r>
              <a:rPr lang="ko-KR" altLang="en-US" sz="105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원</a:t>
            </a:r>
            <a:r>
              <a:rPr lang="en-US" altLang="ko-KR" sz="105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"));</a:t>
            </a:r>
          </a:p>
          <a:p>
            <a:pPr defTabSz="180000"/>
            <a:endParaRPr lang="en-US" altLang="ko-KR" sz="1050" dirty="0">
              <a:latin typeface="메이플스토리" panose="02000300000000000000" pitchFamily="2" charset="-127"/>
              <a:ea typeface="메이플스토리" panose="02000300000000000000" pitchFamily="2" charset="-127"/>
            </a:endParaRPr>
          </a:p>
          <a:p>
            <a:pPr defTabSz="180000"/>
            <a:r>
              <a:rPr lang="en-US" altLang="ko-KR" sz="105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	</a:t>
            </a:r>
            <a:r>
              <a:rPr lang="en-US" altLang="ko-KR" sz="1050" b="1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MyItemListener</a:t>
            </a:r>
            <a:r>
              <a:rPr lang="en-US" altLang="ko-KR" sz="1050" b="1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 listener = new </a:t>
            </a:r>
            <a:r>
              <a:rPr lang="en-US" altLang="ko-KR" sz="1050" b="1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MyItemListener</a:t>
            </a:r>
            <a:r>
              <a:rPr lang="en-US" altLang="ko-KR" sz="1050" b="1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();</a:t>
            </a:r>
          </a:p>
          <a:p>
            <a:pPr defTabSz="180000"/>
            <a:r>
              <a:rPr lang="en-US" altLang="ko-KR" sz="105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	for(</a:t>
            </a:r>
            <a:r>
              <a:rPr lang="en-US" altLang="ko-KR" sz="105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int</a:t>
            </a:r>
            <a:r>
              <a:rPr lang="en-US" altLang="ko-KR" sz="105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 </a:t>
            </a:r>
            <a:r>
              <a:rPr lang="en-US" altLang="ko-KR" sz="105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i</a:t>
            </a:r>
            <a:r>
              <a:rPr lang="en-US" altLang="ko-KR" sz="105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=0; </a:t>
            </a:r>
            <a:r>
              <a:rPr lang="en-US" altLang="ko-KR" sz="105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i</a:t>
            </a:r>
            <a:r>
              <a:rPr lang="en-US" altLang="ko-KR" sz="105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&lt;</a:t>
            </a:r>
            <a:r>
              <a:rPr lang="en-US" altLang="ko-KR" sz="105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fruits.length</a:t>
            </a:r>
            <a:r>
              <a:rPr lang="en-US" altLang="ko-KR" sz="105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; </a:t>
            </a:r>
            <a:r>
              <a:rPr lang="en-US" altLang="ko-KR" sz="105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i</a:t>
            </a:r>
            <a:r>
              <a:rPr lang="en-US" altLang="ko-KR" sz="105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++) {</a:t>
            </a:r>
          </a:p>
          <a:p>
            <a:pPr defTabSz="180000"/>
            <a:r>
              <a:rPr lang="en-US" altLang="ko-KR" sz="105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		fruits[</a:t>
            </a:r>
            <a:r>
              <a:rPr lang="en-US" altLang="ko-KR" sz="105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i</a:t>
            </a:r>
            <a:r>
              <a:rPr lang="en-US" altLang="ko-KR" sz="105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] = new </a:t>
            </a:r>
            <a:r>
              <a:rPr lang="en-US" altLang="ko-KR" sz="105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JCheckBox</a:t>
            </a:r>
            <a:r>
              <a:rPr lang="en-US" altLang="ko-KR" sz="105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(names[</a:t>
            </a:r>
            <a:r>
              <a:rPr lang="en-US" altLang="ko-KR" sz="105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i</a:t>
            </a:r>
            <a:r>
              <a:rPr lang="en-US" altLang="ko-KR" sz="105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]); </a:t>
            </a:r>
            <a:endParaRPr lang="ko-KR" altLang="en-US" sz="1050" dirty="0">
              <a:latin typeface="메이플스토리" panose="02000300000000000000" pitchFamily="2" charset="-127"/>
              <a:ea typeface="메이플스토리" panose="02000300000000000000" pitchFamily="2" charset="-127"/>
            </a:endParaRPr>
          </a:p>
          <a:p>
            <a:pPr defTabSz="180000"/>
            <a:r>
              <a:rPr lang="en-US" altLang="ko-KR" sz="105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		fruits[</a:t>
            </a:r>
            <a:r>
              <a:rPr lang="en-US" altLang="ko-KR" sz="105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i</a:t>
            </a:r>
            <a:r>
              <a:rPr lang="en-US" altLang="ko-KR" sz="105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].</a:t>
            </a:r>
            <a:r>
              <a:rPr lang="en-US" altLang="ko-KR" sz="105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setBorderPainted</a:t>
            </a:r>
            <a:r>
              <a:rPr lang="en-US" altLang="ko-KR" sz="105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(true);</a:t>
            </a:r>
            <a:endParaRPr lang="ko-KR" altLang="en-US" sz="1050" dirty="0">
              <a:latin typeface="메이플스토리" panose="02000300000000000000" pitchFamily="2" charset="-127"/>
              <a:ea typeface="메이플스토리" panose="02000300000000000000" pitchFamily="2" charset="-127"/>
            </a:endParaRPr>
          </a:p>
          <a:p>
            <a:pPr defTabSz="180000"/>
            <a:r>
              <a:rPr lang="en-US" altLang="ko-KR" sz="105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		</a:t>
            </a:r>
            <a:r>
              <a:rPr lang="en-US" altLang="ko-KR" sz="105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c.add</a:t>
            </a:r>
            <a:r>
              <a:rPr lang="en-US" altLang="ko-KR" sz="105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(fruits[</a:t>
            </a:r>
            <a:r>
              <a:rPr lang="en-US" altLang="ko-KR" sz="105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i</a:t>
            </a:r>
            <a:r>
              <a:rPr lang="en-US" altLang="ko-KR" sz="105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]);</a:t>
            </a:r>
            <a:endParaRPr lang="ko-KR" altLang="en-US" sz="1050" dirty="0">
              <a:latin typeface="메이플스토리" panose="02000300000000000000" pitchFamily="2" charset="-127"/>
              <a:ea typeface="메이플스토리" panose="02000300000000000000" pitchFamily="2" charset="-127"/>
            </a:endParaRPr>
          </a:p>
          <a:p>
            <a:pPr defTabSz="180000"/>
            <a:r>
              <a:rPr lang="en-US" altLang="ko-KR" sz="105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		</a:t>
            </a:r>
            <a:r>
              <a:rPr lang="en-US" altLang="ko-KR" sz="1050" b="1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fruits[</a:t>
            </a:r>
            <a:r>
              <a:rPr lang="en-US" altLang="ko-KR" sz="1050" b="1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i</a:t>
            </a:r>
            <a:r>
              <a:rPr lang="en-US" altLang="ko-KR" sz="1050" b="1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].</a:t>
            </a:r>
            <a:r>
              <a:rPr lang="en-US" altLang="ko-KR" sz="1050" b="1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addItemListener</a:t>
            </a:r>
            <a:r>
              <a:rPr lang="en-US" altLang="ko-KR" sz="1050" b="1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(listener);</a:t>
            </a:r>
            <a:endParaRPr lang="ko-KR" altLang="en-US" sz="1050" b="1" dirty="0">
              <a:latin typeface="메이플스토리" panose="02000300000000000000" pitchFamily="2" charset="-127"/>
              <a:ea typeface="메이플스토리" panose="02000300000000000000" pitchFamily="2" charset="-127"/>
            </a:endParaRPr>
          </a:p>
          <a:p>
            <a:pPr defTabSz="180000"/>
            <a:r>
              <a:rPr lang="en-US" altLang="ko-KR" sz="105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	}</a:t>
            </a:r>
          </a:p>
          <a:p>
            <a:pPr defTabSz="180000"/>
            <a:r>
              <a:rPr lang="en-US" altLang="ko-KR" sz="105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	</a:t>
            </a:r>
            <a:r>
              <a:rPr lang="en-US" altLang="ko-KR" sz="105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sumLabel</a:t>
            </a:r>
            <a:r>
              <a:rPr lang="en-US" altLang="ko-KR" sz="105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 = new </a:t>
            </a:r>
            <a:r>
              <a:rPr lang="en-US" altLang="ko-KR" sz="105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JLabel</a:t>
            </a:r>
            <a:r>
              <a:rPr lang="en-US" altLang="ko-KR" sz="105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("</a:t>
            </a:r>
            <a:r>
              <a:rPr lang="ko-KR" altLang="en-US" sz="105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현재 </a:t>
            </a:r>
            <a:r>
              <a:rPr lang="en-US" altLang="ko-KR" sz="105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0 </a:t>
            </a:r>
            <a:r>
              <a:rPr lang="ko-KR" altLang="en-US" sz="105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원 입니다</a:t>
            </a:r>
            <a:r>
              <a:rPr lang="en-US" altLang="ko-KR" sz="105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.");</a:t>
            </a:r>
            <a:endParaRPr lang="ko-KR" altLang="en-US" sz="1050" dirty="0">
              <a:latin typeface="메이플스토리" panose="02000300000000000000" pitchFamily="2" charset="-127"/>
              <a:ea typeface="메이플스토리" panose="02000300000000000000" pitchFamily="2" charset="-127"/>
            </a:endParaRPr>
          </a:p>
          <a:p>
            <a:pPr defTabSz="180000"/>
            <a:r>
              <a:rPr lang="en-US" altLang="ko-KR" sz="105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	</a:t>
            </a:r>
            <a:r>
              <a:rPr lang="en-US" altLang="ko-KR" sz="105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c.add</a:t>
            </a:r>
            <a:r>
              <a:rPr lang="en-US" altLang="ko-KR" sz="105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</a:t>
            </a:r>
            <a:r>
              <a:rPr lang="en-US" altLang="ko-KR" sz="105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sumLabel</a:t>
            </a:r>
            <a:r>
              <a:rPr lang="en-US" altLang="ko-KR" sz="105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);</a:t>
            </a:r>
          </a:p>
          <a:p>
            <a:pPr defTabSz="180000"/>
            <a:r>
              <a:rPr lang="en-US" altLang="ko-KR" sz="105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	</a:t>
            </a:r>
            <a:r>
              <a:rPr lang="en-US" altLang="ko-KR" sz="105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setSize</a:t>
            </a:r>
            <a:r>
              <a:rPr lang="en-US" altLang="ko-KR" sz="105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(250,200);</a:t>
            </a:r>
          </a:p>
          <a:p>
            <a:pPr defTabSz="180000"/>
            <a:r>
              <a:rPr lang="en-US" altLang="ko-KR" sz="105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	</a:t>
            </a:r>
            <a:r>
              <a:rPr lang="en-US" altLang="ko-KR" sz="105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setVisible</a:t>
            </a:r>
            <a:r>
              <a:rPr lang="en-US" altLang="ko-KR" sz="105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(true);</a:t>
            </a:r>
          </a:p>
          <a:p>
            <a:pPr defTabSz="180000"/>
            <a:r>
              <a:rPr lang="en-US" altLang="ko-KR" sz="105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}</a:t>
            </a:r>
            <a:endParaRPr lang="ko-KR" altLang="en-US" sz="1050" dirty="0">
              <a:latin typeface="메이플스토리" panose="02000300000000000000" pitchFamily="2" charset="-127"/>
              <a:ea typeface="메이플스토리" panose="02000300000000000000" pitchFamily="2" charset="-127"/>
            </a:endParaRPr>
          </a:p>
        </p:txBody>
      </p:sp>
      <p:sp>
        <p:nvSpPr>
          <p:cNvPr id="5" name="직사각형 4"/>
          <p:cNvSpPr/>
          <p:nvPr/>
        </p:nvSpPr>
        <p:spPr>
          <a:xfrm>
            <a:off x="4644008" y="908720"/>
            <a:ext cx="4214842" cy="4455066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defTabSz="180000"/>
            <a:r>
              <a:rPr lang="en-US" altLang="ko-KR" sz="105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</a:t>
            </a:r>
            <a:r>
              <a:rPr lang="en-US" altLang="ko-KR" sz="1050" b="1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class </a:t>
            </a:r>
            <a:r>
              <a:rPr lang="en-US" altLang="ko-KR" sz="1050" b="1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MyItemListener</a:t>
            </a:r>
            <a:r>
              <a:rPr lang="en-US" altLang="ko-KR" sz="1050" b="1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 implements </a:t>
            </a:r>
            <a:r>
              <a:rPr lang="en-US" altLang="ko-KR" sz="1050" b="1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ItemListener</a:t>
            </a:r>
            <a:r>
              <a:rPr lang="en-US" altLang="ko-KR" sz="1050" b="1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 </a:t>
            </a:r>
            <a:r>
              <a:rPr lang="en-US" altLang="ko-KR" sz="105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{</a:t>
            </a:r>
          </a:p>
          <a:p>
            <a:pPr defTabSz="180000"/>
            <a:r>
              <a:rPr lang="en-US" altLang="ko-KR" sz="105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	private </a:t>
            </a:r>
            <a:r>
              <a:rPr lang="en-US" altLang="ko-KR" sz="105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int</a:t>
            </a:r>
            <a:r>
              <a:rPr lang="en-US" altLang="ko-KR" sz="105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 sum = 0; // </a:t>
            </a:r>
            <a:r>
              <a:rPr lang="ko-KR" altLang="en-US" sz="105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가격의 합</a:t>
            </a:r>
          </a:p>
          <a:p>
            <a:pPr defTabSz="180000"/>
            <a:r>
              <a:rPr lang="en-US" altLang="ko-KR" sz="105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	</a:t>
            </a:r>
            <a:r>
              <a:rPr lang="en-US" altLang="ko-KR" sz="1050" b="1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public void </a:t>
            </a:r>
            <a:r>
              <a:rPr lang="en-US" altLang="ko-KR" sz="1050" b="1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itemStateChanged</a:t>
            </a:r>
            <a:r>
              <a:rPr lang="en-US" altLang="ko-KR" sz="1050" b="1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</a:t>
            </a:r>
            <a:r>
              <a:rPr lang="en-US" altLang="ko-KR" sz="1050" b="1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ItemEvent</a:t>
            </a:r>
            <a:r>
              <a:rPr lang="en-US" altLang="ko-KR" sz="1050" b="1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 e) {</a:t>
            </a:r>
          </a:p>
          <a:p>
            <a:pPr defTabSz="180000"/>
            <a:r>
              <a:rPr lang="en-US" altLang="ko-KR" sz="105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		</a:t>
            </a:r>
            <a:r>
              <a:rPr lang="en-US" altLang="ko-KR" sz="1050" b="1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if(</a:t>
            </a:r>
            <a:r>
              <a:rPr lang="en-US" altLang="ko-KR" sz="1050" b="1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e.getStateChange</a:t>
            </a:r>
            <a:r>
              <a:rPr lang="en-US" altLang="ko-KR" sz="1050" b="1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() == </a:t>
            </a:r>
            <a:r>
              <a:rPr lang="en-US" altLang="ko-KR" sz="1050" b="1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ItemEvent.SELECTED</a:t>
            </a:r>
            <a:r>
              <a:rPr lang="en-US" altLang="ko-KR" sz="1050" b="1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) {</a:t>
            </a:r>
            <a:endParaRPr lang="ko-KR" altLang="en-US" sz="1050" b="1" dirty="0">
              <a:latin typeface="메이플스토리" panose="02000300000000000000" pitchFamily="2" charset="-127"/>
              <a:ea typeface="메이플스토리" panose="02000300000000000000" pitchFamily="2" charset="-127"/>
            </a:endParaRPr>
          </a:p>
          <a:p>
            <a:pPr defTabSz="180000"/>
            <a:r>
              <a:rPr lang="en-US" altLang="ko-KR" sz="105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			if(</a:t>
            </a:r>
            <a:r>
              <a:rPr lang="en-US" altLang="ko-KR" sz="1050" b="1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e.getItem</a:t>
            </a:r>
            <a:r>
              <a:rPr lang="en-US" altLang="ko-KR" sz="1050" b="1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() </a:t>
            </a:r>
            <a:r>
              <a:rPr lang="en-US" altLang="ko-KR" sz="105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== fruits[0])</a:t>
            </a:r>
            <a:endParaRPr lang="ko-KR" altLang="en-US" sz="1050" dirty="0">
              <a:latin typeface="메이플스토리" panose="02000300000000000000" pitchFamily="2" charset="-127"/>
              <a:ea typeface="메이플스토리" panose="02000300000000000000" pitchFamily="2" charset="-127"/>
            </a:endParaRPr>
          </a:p>
          <a:p>
            <a:pPr defTabSz="180000"/>
            <a:r>
              <a:rPr lang="en-US" altLang="ko-KR" sz="105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				sum += 100;</a:t>
            </a:r>
          </a:p>
          <a:p>
            <a:pPr defTabSz="180000"/>
            <a:r>
              <a:rPr lang="en-US" altLang="ko-KR" sz="105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			else if(</a:t>
            </a:r>
            <a:r>
              <a:rPr lang="en-US" altLang="ko-KR" sz="1050" b="1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e.getItem</a:t>
            </a:r>
            <a:r>
              <a:rPr lang="en-US" altLang="ko-KR" sz="1050" b="1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() </a:t>
            </a:r>
            <a:r>
              <a:rPr lang="en-US" altLang="ko-KR" sz="105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== fruits[1])</a:t>
            </a:r>
            <a:endParaRPr lang="ko-KR" altLang="en-US" sz="1050" dirty="0">
              <a:latin typeface="메이플스토리" panose="02000300000000000000" pitchFamily="2" charset="-127"/>
              <a:ea typeface="메이플스토리" panose="02000300000000000000" pitchFamily="2" charset="-127"/>
            </a:endParaRPr>
          </a:p>
          <a:p>
            <a:pPr defTabSz="180000"/>
            <a:r>
              <a:rPr lang="en-US" altLang="ko-KR" sz="105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				sum += 500;</a:t>
            </a:r>
          </a:p>
          <a:p>
            <a:pPr defTabSz="180000"/>
            <a:r>
              <a:rPr lang="en-US" altLang="ko-KR" sz="105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			else</a:t>
            </a:r>
            <a:endParaRPr lang="ko-KR" altLang="en-US" sz="1050" dirty="0">
              <a:latin typeface="메이플스토리" panose="02000300000000000000" pitchFamily="2" charset="-127"/>
              <a:ea typeface="메이플스토리" panose="02000300000000000000" pitchFamily="2" charset="-127"/>
            </a:endParaRPr>
          </a:p>
          <a:p>
            <a:pPr defTabSz="180000"/>
            <a:r>
              <a:rPr lang="en-US" altLang="ko-KR" sz="105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				sum += 20000;</a:t>
            </a:r>
          </a:p>
          <a:p>
            <a:pPr defTabSz="180000"/>
            <a:r>
              <a:rPr lang="en-US" altLang="ko-KR" sz="105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		}</a:t>
            </a:r>
          </a:p>
          <a:p>
            <a:pPr defTabSz="180000"/>
            <a:r>
              <a:rPr lang="en-US" altLang="ko-KR" sz="105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		else {</a:t>
            </a:r>
            <a:endParaRPr lang="ko-KR" altLang="en-US" sz="1050" dirty="0">
              <a:latin typeface="메이플스토리" panose="02000300000000000000" pitchFamily="2" charset="-127"/>
              <a:ea typeface="메이플스토리" panose="02000300000000000000" pitchFamily="2" charset="-127"/>
            </a:endParaRPr>
          </a:p>
          <a:p>
            <a:pPr defTabSz="180000"/>
            <a:r>
              <a:rPr lang="en-US" altLang="ko-KR" sz="105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			if(</a:t>
            </a:r>
            <a:r>
              <a:rPr lang="en-US" altLang="ko-KR" sz="105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e.getItem</a:t>
            </a:r>
            <a:r>
              <a:rPr lang="en-US" altLang="ko-KR" sz="105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() == fruits[0])</a:t>
            </a:r>
            <a:endParaRPr lang="ko-KR" altLang="en-US" sz="1050" dirty="0">
              <a:latin typeface="메이플스토리" panose="02000300000000000000" pitchFamily="2" charset="-127"/>
              <a:ea typeface="메이플스토리" panose="02000300000000000000" pitchFamily="2" charset="-127"/>
            </a:endParaRPr>
          </a:p>
          <a:p>
            <a:pPr defTabSz="180000"/>
            <a:r>
              <a:rPr lang="en-US" altLang="ko-KR" sz="105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				sum -= 100;</a:t>
            </a:r>
          </a:p>
          <a:p>
            <a:pPr defTabSz="180000"/>
            <a:r>
              <a:rPr lang="en-US" altLang="ko-KR" sz="105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			else if(</a:t>
            </a:r>
            <a:r>
              <a:rPr lang="en-US" altLang="ko-KR" sz="105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e.getItem</a:t>
            </a:r>
            <a:r>
              <a:rPr lang="en-US" altLang="ko-KR" sz="105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() == fruits[1])</a:t>
            </a:r>
            <a:endParaRPr lang="ko-KR" altLang="en-US" sz="1050" dirty="0">
              <a:latin typeface="메이플스토리" panose="02000300000000000000" pitchFamily="2" charset="-127"/>
              <a:ea typeface="메이플스토리" panose="02000300000000000000" pitchFamily="2" charset="-127"/>
            </a:endParaRPr>
          </a:p>
          <a:p>
            <a:pPr defTabSz="180000"/>
            <a:r>
              <a:rPr lang="en-US" altLang="ko-KR" sz="105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				sum -= 500;</a:t>
            </a:r>
          </a:p>
          <a:p>
            <a:pPr defTabSz="180000"/>
            <a:r>
              <a:rPr lang="en-US" altLang="ko-KR" sz="105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			else</a:t>
            </a:r>
            <a:endParaRPr lang="ko-KR" altLang="en-US" sz="1050" dirty="0">
              <a:latin typeface="메이플스토리" panose="02000300000000000000" pitchFamily="2" charset="-127"/>
              <a:ea typeface="메이플스토리" panose="02000300000000000000" pitchFamily="2" charset="-127"/>
            </a:endParaRPr>
          </a:p>
          <a:p>
            <a:pPr defTabSz="180000"/>
            <a:r>
              <a:rPr lang="en-US" altLang="ko-KR" sz="105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				sum -= 20000;</a:t>
            </a:r>
          </a:p>
          <a:p>
            <a:pPr defTabSz="180000"/>
            <a:r>
              <a:rPr lang="en-US" altLang="ko-KR" sz="105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		}</a:t>
            </a:r>
          </a:p>
          <a:p>
            <a:pPr defTabSz="180000"/>
            <a:r>
              <a:rPr lang="en-US" altLang="ko-KR" sz="105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		</a:t>
            </a:r>
            <a:r>
              <a:rPr lang="en-US" altLang="ko-KR" sz="1050" b="1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sumLabel.setText</a:t>
            </a:r>
            <a:r>
              <a:rPr lang="en-US" altLang="ko-KR" sz="1050" b="1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("</a:t>
            </a:r>
            <a:r>
              <a:rPr lang="ko-KR" altLang="en-US" sz="1050" b="1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현재 </a:t>
            </a:r>
            <a:r>
              <a:rPr lang="en-US" altLang="ko-KR" sz="1050" b="1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"+ sum + "</a:t>
            </a:r>
            <a:r>
              <a:rPr lang="ko-KR" altLang="en-US" sz="1050" b="1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원 입니다</a:t>
            </a:r>
            <a:r>
              <a:rPr lang="en-US" altLang="ko-KR" sz="1050" b="1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.");</a:t>
            </a:r>
            <a:endParaRPr lang="ko-KR" altLang="en-US" sz="1050" b="1" dirty="0">
              <a:latin typeface="메이플스토리" panose="02000300000000000000" pitchFamily="2" charset="-127"/>
              <a:ea typeface="메이플스토리" panose="02000300000000000000" pitchFamily="2" charset="-127"/>
            </a:endParaRPr>
          </a:p>
          <a:p>
            <a:pPr defTabSz="180000"/>
            <a:r>
              <a:rPr lang="en-US" altLang="ko-KR" sz="105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	}</a:t>
            </a:r>
          </a:p>
          <a:p>
            <a:pPr defTabSz="180000"/>
            <a:r>
              <a:rPr lang="en-US" altLang="ko-KR" sz="105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}</a:t>
            </a:r>
          </a:p>
          <a:p>
            <a:pPr defTabSz="180000"/>
            <a:endParaRPr lang="en-US" altLang="ko-KR" sz="1050" dirty="0">
              <a:latin typeface="메이플스토리" panose="02000300000000000000" pitchFamily="2" charset="-127"/>
              <a:ea typeface="메이플스토리" panose="02000300000000000000" pitchFamily="2" charset="-127"/>
            </a:endParaRPr>
          </a:p>
          <a:p>
            <a:pPr defTabSz="180000"/>
            <a:r>
              <a:rPr lang="en-US" altLang="ko-KR" sz="105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public static void main(String [] </a:t>
            </a:r>
            <a:r>
              <a:rPr lang="en-US" altLang="ko-KR" sz="105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args</a:t>
            </a:r>
            <a:r>
              <a:rPr lang="en-US" altLang="ko-KR" sz="105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) {</a:t>
            </a:r>
          </a:p>
          <a:p>
            <a:pPr defTabSz="180000"/>
            <a:r>
              <a:rPr lang="en-US" altLang="ko-KR" sz="105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	new </a:t>
            </a:r>
            <a:r>
              <a:rPr lang="en-US" altLang="ko-KR" sz="105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CheckBoxItemEventEx</a:t>
            </a:r>
            <a:r>
              <a:rPr lang="en-US" altLang="ko-KR" sz="105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();</a:t>
            </a:r>
          </a:p>
          <a:p>
            <a:pPr defTabSz="180000"/>
            <a:r>
              <a:rPr lang="en-US" altLang="ko-KR" sz="105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}</a:t>
            </a:r>
          </a:p>
          <a:p>
            <a:pPr defTabSz="180000"/>
            <a:r>
              <a:rPr lang="en-US" altLang="ko-KR" sz="105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}</a:t>
            </a:r>
            <a:endParaRPr lang="ko-KR" altLang="en-US" sz="1050" dirty="0">
              <a:latin typeface="메이플스토리" panose="02000300000000000000" pitchFamily="2" charset="-127"/>
              <a:ea typeface="메이플스토리" panose="02000300000000000000" pitchFamily="2" charset="-127"/>
            </a:endParaRPr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1A6BD2C2-3D3B-4E94-BD92-61B02C5F4DEE}" type="slidenum">
              <a:rPr lang="ko-KR" altLang="en-US" smtClean="0"/>
              <a:pPr/>
              <a:t>17</a:t>
            </a:fld>
            <a:endParaRPr lang="ko-KR" altLang="en-US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04048" y="5091201"/>
            <a:ext cx="1877178" cy="1538199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11760" y="5068323"/>
            <a:ext cx="1877178" cy="1538199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414865121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JRadioButton</a:t>
            </a:r>
            <a:r>
              <a:rPr lang="en-US" altLang="ko-KR" dirty="0"/>
              <a:t>, </a:t>
            </a:r>
            <a:r>
              <a:rPr lang="ko-KR" altLang="en-US" dirty="0"/>
              <a:t>라디오버튼 컴포넌트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quarter" idx="1"/>
          </p:nvPr>
        </p:nvSpPr>
        <p:spPr>
          <a:xfrm>
            <a:off x="612648" y="1357849"/>
            <a:ext cx="8153400" cy="3007255"/>
          </a:xfrm>
        </p:spPr>
        <p:txBody>
          <a:bodyPr>
            <a:normAutofit fontScale="70000" lnSpcReduction="20000"/>
          </a:bodyPr>
          <a:lstStyle/>
          <a:p>
            <a:r>
              <a:rPr lang="en-US" altLang="ko-KR" dirty="0" err="1"/>
              <a:t>JRadioButton</a:t>
            </a:r>
            <a:endParaRPr lang="en-US" altLang="ko-KR" dirty="0"/>
          </a:p>
          <a:p>
            <a:pPr lvl="1"/>
            <a:r>
              <a:rPr lang="ko-KR" altLang="en-US" dirty="0"/>
              <a:t>라디오버튼이란</a:t>
            </a:r>
            <a:r>
              <a:rPr lang="en-US" altLang="ko-KR" dirty="0"/>
              <a:t>?</a:t>
            </a:r>
          </a:p>
          <a:p>
            <a:pPr lvl="2"/>
            <a:r>
              <a:rPr lang="ko-KR" altLang="en-US" dirty="0"/>
              <a:t>여러 버튼으로 그룹을 형성하고</a:t>
            </a:r>
            <a:r>
              <a:rPr lang="en-US" altLang="ko-KR" dirty="0"/>
              <a:t>, </a:t>
            </a:r>
          </a:p>
          <a:p>
            <a:pPr marL="685800" lvl="2" indent="0">
              <a:buNone/>
            </a:pPr>
            <a:r>
              <a:rPr lang="ko-KR" altLang="en-US" dirty="0"/>
              <a:t>    하나만 선택되는 버튼</a:t>
            </a:r>
            <a:endParaRPr lang="en-US" altLang="ko-KR" dirty="0"/>
          </a:p>
          <a:p>
            <a:pPr lvl="2"/>
            <a:r>
              <a:rPr lang="ko-KR" altLang="en-US" dirty="0"/>
              <a:t>다른 버튼이 선택되면 이전에 선택된</a:t>
            </a:r>
            <a:endParaRPr lang="en-US" altLang="ko-KR" dirty="0"/>
          </a:p>
          <a:p>
            <a:pPr marL="685800" lvl="2" indent="0">
              <a:buNone/>
            </a:pPr>
            <a:r>
              <a:rPr lang="ko-KR" altLang="en-US" dirty="0"/>
              <a:t>     버튼은 자동으로 해제됨</a:t>
            </a:r>
            <a:endParaRPr lang="en-US" altLang="ko-KR" dirty="0"/>
          </a:p>
          <a:p>
            <a:pPr lvl="1"/>
            <a:r>
              <a:rPr lang="ko-KR" altLang="en-US" dirty="0"/>
              <a:t>체크박스와의 차이점</a:t>
            </a:r>
            <a:endParaRPr lang="en-US" altLang="ko-KR" dirty="0"/>
          </a:p>
          <a:p>
            <a:pPr lvl="2"/>
            <a:r>
              <a:rPr lang="ko-KR" altLang="en-US" dirty="0"/>
              <a:t>체크 박스는 각 체크박스마다 선택</a:t>
            </a:r>
            <a:r>
              <a:rPr lang="en-US" altLang="ko-KR" dirty="0"/>
              <a:t>/</a:t>
            </a:r>
            <a:r>
              <a:rPr lang="ko-KR" altLang="en-US" dirty="0"/>
              <a:t>해제 가능</a:t>
            </a:r>
            <a:endParaRPr lang="en-US" altLang="ko-KR" dirty="0"/>
          </a:p>
          <a:p>
            <a:pPr lvl="2"/>
            <a:r>
              <a:rPr lang="ko-KR" altLang="en-US" dirty="0"/>
              <a:t>라디오 버튼은 그룹에 속한 버튼 중 하나만 선택 상태가 됨</a:t>
            </a:r>
            <a:endParaRPr lang="en-US" altLang="ko-KR" dirty="0"/>
          </a:p>
          <a:p>
            <a:pPr lvl="1"/>
            <a:r>
              <a:rPr lang="ko-KR" altLang="en-US" dirty="0"/>
              <a:t>이미지를 가진 라디오버튼의 생성 및 다루기는 체크박스와 완전히 동일</a:t>
            </a:r>
            <a:endParaRPr lang="en-US" altLang="ko-KR" dirty="0"/>
          </a:p>
          <a:p>
            <a:pPr lvl="1"/>
            <a:endParaRPr lang="en-US" altLang="ko-KR" dirty="0"/>
          </a:p>
          <a:p>
            <a:r>
              <a:rPr lang="ko-KR" altLang="en-US" dirty="0" err="1"/>
              <a:t>생성자</a:t>
            </a:r>
            <a:endParaRPr lang="en-US" altLang="ko-KR" dirty="0"/>
          </a:p>
          <a:p>
            <a:pPr lvl="1"/>
            <a:endParaRPr lang="en-US" altLang="ko-KR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77500" lnSpcReduction="20000"/>
          </a:bodyPr>
          <a:lstStyle/>
          <a:p>
            <a:fld id="{1A6BD2C2-3D3B-4E94-BD92-61B02C5F4DEE}" type="slidenum">
              <a:rPr lang="ko-KR" altLang="en-US" smtClean="0"/>
              <a:pPr/>
              <a:t>18</a:t>
            </a:fld>
            <a:endParaRPr lang="ko-KR" altLang="en-US"/>
          </a:p>
        </p:txBody>
      </p:sp>
      <p:grpSp>
        <p:nvGrpSpPr>
          <p:cNvPr id="4" name="그룹 3"/>
          <p:cNvGrpSpPr/>
          <p:nvPr/>
        </p:nvGrpSpPr>
        <p:grpSpPr>
          <a:xfrm>
            <a:off x="5076056" y="1412776"/>
            <a:ext cx="3787418" cy="1433661"/>
            <a:chOff x="5076056" y="1412776"/>
            <a:chExt cx="3787418" cy="1433661"/>
          </a:xfrm>
        </p:grpSpPr>
        <p:pic>
          <p:nvPicPr>
            <p:cNvPr id="10" name="그림 9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076056" y="1412776"/>
              <a:ext cx="2363930" cy="1433661"/>
            </a:xfrm>
            <a:prstGeom prst="rect">
              <a:avLst/>
            </a:prstGeom>
            <a:ln>
              <a:solidFill>
                <a:schemeClr val="accent1"/>
              </a:solidFill>
            </a:ln>
          </p:spPr>
        </p:pic>
        <p:sp>
          <p:nvSpPr>
            <p:cNvPr id="6" name="직사각형 5"/>
            <p:cNvSpPr/>
            <p:nvPr/>
          </p:nvSpPr>
          <p:spPr>
            <a:xfrm>
              <a:off x="5194541" y="1913198"/>
              <a:ext cx="2000264" cy="246221"/>
            </a:xfrm>
            <a:prstGeom prst="rect">
              <a:avLst/>
            </a:prstGeom>
            <a:noFill/>
            <a:ln>
              <a:solidFill>
                <a:schemeClr val="accent2">
                  <a:lumMod val="75000"/>
                </a:schemeClr>
              </a:solidFill>
            </a:ln>
          </p:spPr>
          <p:txBody>
            <a:bodyPr wrap="square" rtlCol="0" anchor="ctr">
              <a:spAutoFit/>
            </a:bodyPr>
            <a:lstStyle/>
            <a:p>
              <a:pPr algn="ctr"/>
              <a:endParaRPr lang="ko-KR" altLang="en-US" sz="1000" b="1" dirty="0">
                <a:latin typeface="메이플스토리" panose="02000300000000000000" pitchFamily="2" charset="-127"/>
                <a:ea typeface="메이플스토리" panose="02000300000000000000" pitchFamily="2" charset="-127"/>
              </a:endParaRP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7547088" y="1694309"/>
              <a:ext cx="131638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200" dirty="0">
                  <a:latin typeface="메이플스토리" panose="02000300000000000000" pitchFamily="2" charset="-127"/>
                  <a:ea typeface="메이플스토리" panose="02000300000000000000" pitchFamily="2" charset="-127"/>
                </a:rPr>
                <a:t>하나의 버튼 그룹에</a:t>
              </a:r>
              <a:endPara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endParaRPr>
            </a:p>
            <a:p>
              <a:r>
                <a:rPr lang="ko-KR" altLang="en-US" sz="1200" dirty="0">
                  <a:latin typeface="메이플스토리" panose="02000300000000000000" pitchFamily="2" charset="-127"/>
                  <a:ea typeface="메이플스토리" panose="02000300000000000000" pitchFamily="2" charset="-127"/>
                </a:rPr>
                <a:t>속한 라디오버튼들</a:t>
              </a:r>
            </a:p>
          </p:txBody>
        </p:sp>
        <p:sp>
          <p:nvSpPr>
            <p:cNvPr id="8" name="자유형 7"/>
            <p:cNvSpPr/>
            <p:nvPr/>
          </p:nvSpPr>
          <p:spPr>
            <a:xfrm>
              <a:off x="7179575" y="1993650"/>
              <a:ext cx="418290" cy="113490"/>
            </a:xfrm>
            <a:custGeom>
              <a:avLst/>
              <a:gdLst>
                <a:gd name="connsiteX0" fmla="*/ 418290 w 418290"/>
                <a:gd name="connsiteY0" fmla="*/ 16213 h 113490"/>
                <a:gd name="connsiteX1" fmla="*/ 136188 w 418290"/>
                <a:gd name="connsiteY1" fmla="*/ 16213 h 113490"/>
                <a:gd name="connsiteX2" fmla="*/ 0 w 418290"/>
                <a:gd name="connsiteY2" fmla="*/ 113490 h 113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8290" h="113490">
                  <a:moveTo>
                    <a:pt x="418290" y="16213"/>
                  </a:moveTo>
                  <a:cubicBezTo>
                    <a:pt x="312096" y="8106"/>
                    <a:pt x="205903" y="0"/>
                    <a:pt x="136188" y="16213"/>
                  </a:cubicBezTo>
                  <a:cubicBezTo>
                    <a:pt x="66473" y="32426"/>
                    <a:pt x="33236" y="72958"/>
                    <a:pt x="0" y="113490"/>
                  </a:cubicBezTo>
                </a:path>
              </a:pathLst>
            </a:custGeom>
            <a:ln>
              <a:solidFill>
                <a:srgbClr val="FF0000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메이플스토리" panose="02000300000000000000" pitchFamily="2" charset="-127"/>
                <a:ea typeface="메이플스토리" panose="02000300000000000000" pitchFamily="2" charset="-127"/>
              </a:endParaRP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6839202" y="2493809"/>
              <a:ext cx="127791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200" dirty="0">
                  <a:latin typeface="메이플스토리" panose="02000300000000000000" pitchFamily="2" charset="-127"/>
                  <a:ea typeface="메이플스토리" panose="02000300000000000000" pitchFamily="2" charset="-127"/>
                </a:rPr>
                <a:t>이미지</a:t>
              </a:r>
              <a:r>
                <a:rPr lang="en-US" altLang="ko-KR" sz="1200" dirty="0">
                  <a:latin typeface="메이플스토리" panose="02000300000000000000" pitchFamily="2" charset="-127"/>
                  <a:ea typeface="메이플스토리" panose="02000300000000000000" pitchFamily="2" charset="-127"/>
                </a:rPr>
                <a:t> </a:t>
              </a:r>
              <a:r>
                <a:rPr lang="ko-KR" altLang="en-US" sz="1200" dirty="0">
                  <a:latin typeface="메이플스토리" panose="02000300000000000000" pitchFamily="2" charset="-127"/>
                  <a:ea typeface="메이플스토리" panose="02000300000000000000" pitchFamily="2" charset="-127"/>
                </a:rPr>
                <a:t>라디오버튼</a:t>
              </a:r>
            </a:p>
          </p:txBody>
        </p:sp>
        <p:sp>
          <p:nvSpPr>
            <p:cNvPr id="13" name="자유형 12"/>
            <p:cNvSpPr/>
            <p:nvPr/>
          </p:nvSpPr>
          <p:spPr>
            <a:xfrm flipV="1">
              <a:off x="6732240" y="2276872"/>
              <a:ext cx="216024" cy="439272"/>
            </a:xfrm>
            <a:custGeom>
              <a:avLst/>
              <a:gdLst>
                <a:gd name="connsiteX0" fmla="*/ 418290 w 418290"/>
                <a:gd name="connsiteY0" fmla="*/ 16213 h 113490"/>
                <a:gd name="connsiteX1" fmla="*/ 136188 w 418290"/>
                <a:gd name="connsiteY1" fmla="*/ 16213 h 113490"/>
                <a:gd name="connsiteX2" fmla="*/ 0 w 418290"/>
                <a:gd name="connsiteY2" fmla="*/ 113490 h 113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8290" h="113490">
                  <a:moveTo>
                    <a:pt x="418290" y="16213"/>
                  </a:moveTo>
                  <a:cubicBezTo>
                    <a:pt x="312096" y="8106"/>
                    <a:pt x="205903" y="0"/>
                    <a:pt x="136188" y="16213"/>
                  </a:cubicBezTo>
                  <a:cubicBezTo>
                    <a:pt x="66473" y="32426"/>
                    <a:pt x="33236" y="72958"/>
                    <a:pt x="0" y="113490"/>
                  </a:cubicBezTo>
                </a:path>
              </a:pathLst>
            </a:custGeom>
            <a:ln>
              <a:solidFill>
                <a:srgbClr val="FF0000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메이플스토리" panose="02000300000000000000" pitchFamily="2" charset="-127"/>
                <a:ea typeface="메이플스토리" panose="02000300000000000000" pitchFamily="2" charset="-127"/>
              </a:endParaRPr>
            </a:p>
          </p:txBody>
        </p:sp>
      </p:grpSp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9632" y="4317580"/>
            <a:ext cx="6977836" cy="233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209018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라디오버튼 생성 과정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067944" y="2143116"/>
            <a:ext cx="4429156" cy="28931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marL="0" lvl="2"/>
            <a:r>
              <a:rPr lang="en-US" altLang="ko-KR" sz="14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ButtonGroup</a:t>
            </a:r>
            <a:r>
              <a:rPr lang="en-US" altLang="ko-KR" sz="14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 group = new </a:t>
            </a:r>
            <a:r>
              <a:rPr lang="en-US" altLang="ko-KR" sz="14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ButtonGroup</a:t>
            </a:r>
            <a:r>
              <a:rPr lang="en-US" altLang="ko-KR" sz="14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();</a:t>
            </a:r>
          </a:p>
          <a:p>
            <a:pPr marL="0" lvl="2"/>
            <a:endParaRPr lang="en-US" altLang="ko-KR" sz="1400" dirty="0">
              <a:latin typeface="메이플스토리" panose="02000300000000000000" pitchFamily="2" charset="-127"/>
              <a:ea typeface="메이플스토리" panose="02000300000000000000" pitchFamily="2" charset="-127"/>
            </a:endParaRPr>
          </a:p>
          <a:p>
            <a:pPr marL="0" lvl="2"/>
            <a:r>
              <a:rPr lang="en-US" altLang="ko-KR" sz="14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JRadioButton</a:t>
            </a:r>
            <a:r>
              <a:rPr lang="en-US" altLang="ko-KR" sz="14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 apple= new </a:t>
            </a:r>
            <a:r>
              <a:rPr lang="en-US" altLang="ko-KR" sz="14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JRadioButton</a:t>
            </a:r>
            <a:r>
              <a:rPr lang="en-US" altLang="ko-KR" sz="14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("</a:t>
            </a:r>
            <a:r>
              <a:rPr lang="ko-KR" altLang="en-US" sz="14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사과</a:t>
            </a:r>
            <a:r>
              <a:rPr lang="en-US" altLang="ko-KR" sz="14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");</a:t>
            </a:r>
          </a:p>
          <a:p>
            <a:pPr marL="0" lvl="2"/>
            <a:r>
              <a:rPr lang="en-US" altLang="ko-KR" sz="14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JRadioButton</a:t>
            </a:r>
            <a:r>
              <a:rPr lang="en-US" altLang="ko-KR" sz="14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 pear= new </a:t>
            </a:r>
            <a:r>
              <a:rPr lang="en-US" altLang="ko-KR" sz="14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JRadioButton</a:t>
            </a:r>
            <a:r>
              <a:rPr lang="en-US" altLang="ko-KR" sz="14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("</a:t>
            </a:r>
            <a:r>
              <a:rPr lang="ko-KR" altLang="en-US" sz="14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배</a:t>
            </a:r>
            <a:r>
              <a:rPr lang="en-US" altLang="ko-KR" sz="14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");</a:t>
            </a:r>
            <a:endParaRPr lang="ko-KR" altLang="en-US" sz="1400" dirty="0">
              <a:latin typeface="메이플스토리" panose="02000300000000000000" pitchFamily="2" charset="-127"/>
              <a:ea typeface="메이플스토리" panose="02000300000000000000" pitchFamily="2" charset="-127"/>
            </a:endParaRPr>
          </a:p>
          <a:p>
            <a:pPr marL="0" lvl="2"/>
            <a:r>
              <a:rPr lang="en-US" altLang="ko-KR" sz="14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JRadioButton</a:t>
            </a:r>
            <a:r>
              <a:rPr lang="en-US" altLang="ko-KR" sz="14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 cherry= new </a:t>
            </a:r>
            <a:r>
              <a:rPr lang="en-US" altLang="ko-KR" sz="14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JRadioButton</a:t>
            </a:r>
            <a:r>
              <a:rPr lang="en-US" altLang="ko-KR" sz="14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("</a:t>
            </a:r>
            <a:r>
              <a:rPr lang="ko-KR" altLang="en-US" sz="14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체리</a:t>
            </a:r>
            <a:r>
              <a:rPr lang="en-US" altLang="ko-KR" sz="14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");</a:t>
            </a:r>
          </a:p>
          <a:p>
            <a:pPr marL="0" lvl="2"/>
            <a:endParaRPr lang="en-US" altLang="ko-KR" sz="1400" dirty="0">
              <a:latin typeface="메이플스토리" panose="02000300000000000000" pitchFamily="2" charset="-127"/>
              <a:ea typeface="메이플스토리" panose="02000300000000000000" pitchFamily="2" charset="-127"/>
            </a:endParaRPr>
          </a:p>
          <a:p>
            <a:pPr marL="0" lvl="2"/>
            <a:r>
              <a:rPr lang="en-US" altLang="ko-KR" sz="14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group.add</a:t>
            </a:r>
            <a:r>
              <a:rPr lang="en-US" altLang="ko-KR" sz="14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(apple);</a:t>
            </a:r>
          </a:p>
          <a:p>
            <a:pPr marL="0" lvl="2"/>
            <a:r>
              <a:rPr lang="en-US" altLang="ko-KR" sz="14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group.add</a:t>
            </a:r>
            <a:r>
              <a:rPr lang="en-US" altLang="ko-KR" sz="14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(pear);</a:t>
            </a:r>
            <a:endParaRPr lang="ko-KR" altLang="en-US" sz="1400" dirty="0">
              <a:latin typeface="메이플스토리" panose="02000300000000000000" pitchFamily="2" charset="-127"/>
              <a:ea typeface="메이플스토리" panose="02000300000000000000" pitchFamily="2" charset="-127"/>
            </a:endParaRPr>
          </a:p>
          <a:p>
            <a:pPr marL="0" lvl="2"/>
            <a:r>
              <a:rPr lang="en-US" altLang="ko-KR" sz="14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group.add</a:t>
            </a:r>
            <a:r>
              <a:rPr lang="en-US" altLang="ko-KR" sz="14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(cherry);</a:t>
            </a:r>
          </a:p>
          <a:p>
            <a:pPr marL="0" lvl="2"/>
            <a:endParaRPr lang="en-US" altLang="ko-KR" sz="1400" dirty="0">
              <a:latin typeface="메이플스토리" panose="02000300000000000000" pitchFamily="2" charset="-127"/>
              <a:ea typeface="메이플스토리" panose="02000300000000000000" pitchFamily="2" charset="-127"/>
            </a:endParaRPr>
          </a:p>
          <a:p>
            <a:pPr marL="0" lvl="2"/>
            <a:r>
              <a:rPr lang="en-US" altLang="ko-KR" sz="14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container.add</a:t>
            </a:r>
            <a:r>
              <a:rPr lang="en-US" altLang="ko-KR" sz="14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(apple);</a:t>
            </a:r>
          </a:p>
          <a:p>
            <a:pPr marL="0" lvl="2"/>
            <a:r>
              <a:rPr lang="en-US" altLang="ko-KR" sz="14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container.add</a:t>
            </a:r>
            <a:r>
              <a:rPr lang="en-US" altLang="ko-KR" sz="14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(pear);</a:t>
            </a:r>
            <a:endParaRPr lang="ko-KR" altLang="en-US" sz="1400" dirty="0">
              <a:latin typeface="메이플스토리" panose="02000300000000000000" pitchFamily="2" charset="-127"/>
              <a:ea typeface="메이플스토리" panose="02000300000000000000" pitchFamily="2" charset="-127"/>
            </a:endParaRPr>
          </a:p>
          <a:p>
            <a:pPr marL="0" lvl="2"/>
            <a:r>
              <a:rPr lang="en-US" altLang="ko-KR" sz="14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container.add</a:t>
            </a:r>
            <a:r>
              <a:rPr lang="en-US" altLang="ko-KR" sz="14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(cherry);</a:t>
            </a:r>
            <a:endParaRPr lang="ko-KR" altLang="en-US" sz="1400" dirty="0">
              <a:latin typeface="메이플스토리" panose="02000300000000000000" pitchFamily="2" charset="-127"/>
              <a:ea typeface="메이플스토리" panose="02000300000000000000" pitchFamily="2" charset="-127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86108" y="2154647"/>
            <a:ext cx="173156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1. </a:t>
            </a:r>
            <a:r>
              <a:rPr lang="ko-KR" altLang="en-US" sz="14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버튼 그룹 객체 생성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6108" y="2803321"/>
            <a:ext cx="215636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2. </a:t>
            </a:r>
            <a:r>
              <a:rPr lang="ko-KR" altLang="en-US" sz="14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라디오버튼 컴포넌트 생성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6108" y="3681092"/>
            <a:ext cx="255711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3. </a:t>
            </a:r>
            <a:r>
              <a:rPr lang="ko-KR" altLang="en-US" sz="14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라디오 버튼을 버튼 그룹에 삽입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6108" y="4568975"/>
            <a:ext cx="256031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4. </a:t>
            </a:r>
            <a:r>
              <a:rPr lang="ko-KR" altLang="en-US" sz="14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라디오 버튼을 컨테이너에 삽입</a:t>
            </a:r>
          </a:p>
        </p:txBody>
      </p:sp>
      <p:cxnSp>
        <p:nvCxnSpPr>
          <p:cNvPr id="10" name="직선 화살표 연결선 9"/>
          <p:cNvCxnSpPr>
            <a:stCxn id="5" idx="3"/>
          </p:cNvCxnSpPr>
          <p:nvPr/>
        </p:nvCxnSpPr>
        <p:spPr>
          <a:xfrm flipV="1">
            <a:off x="2317672" y="2308535"/>
            <a:ext cx="1731605" cy="1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왼쪽 중괄호 10"/>
          <p:cNvSpPr/>
          <p:nvPr/>
        </p:nvSpPr>
        <p:spPr>
          <a:xfrm>
            <a:off x="3763525" y="2671458"/>
            <a:ext cx="285752" cy="571504"/>
          </a:xfrm>
          <a:prstGeom prst="leftBrace">
            <a:avLst>
              <a:gd name="adj1" fmla="val 35567"/>
              <a:gd name="adj2" fmla="val 50000"/>
            </a:avLst>
          </a:prstGeom>
          <a:ln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sz="1400" dirty="0">
              <a:latin typeface="메이플스토리" panose="02000300000000000000" pitchFamily="2" charset="-127"/>
              <a:ea typeface="메이플스토리" panose="02000300000000000000" pitchFamily="2" charset="-127"/>
            </a:endParaRPr>
          </a:p>
        </p:txBody>
      </p:sp>
      <p:cxnSp>
        <p:nvCxnSpPr>
          <p:cNvPr id="13" name="직선 화살표 연결선 12"/>
          <p:cNvCxnSpPr>
            <a:stCxn id="6" idx="3"/>
            <a:endCxn id="11" idx="1"/>
          </p:cNvCxnSpPr>
          <p:nvPr/>
        </p:nvCxnSpPr>
        <p:spPr>
          <a:xfrm>
            <a:off x="2742468" y="2957210"/>
            <a:ext cx="1021057" cy="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왼쪽 중괄호 13"/>
          <p:cNvSpPr/>
          <p:nvPr/>
        </p:nvSpPr>
        <p:spPr>
          <a:xfrm>
            <a:off x="3793236" y="3549229"/>
            <a:ext cx="285752" cy="571504"/>
          </a:xfrm>
          <a:prstGeom prst="leftBrace">
            <a:avLst>
              <a:gd name="adj1" fmla="val 35567"/>
              <a:gd name="adj2" fmla="val 50000"/>
            </a:avLst>
          </a:prstGeom>
          <a:ln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sz="1400" dirty="0">
              <a:latin typeface="메이플스토리" panose="02000300000000000000" pitchFamily="2" charset="-127"/>
              <a:ea typeface="메이플스토리" panose="02000300000000000000" pitchFamily="2" charset="-127"/>
            </a:endParaRPr>
          </a:p>
        </p:txBody>
      </p:sp>
      <p:sp>
        <p:nvSpPr>
          <p:cNvPr id="15" name="왼쪽 중괄호 14"/>
          <p:cNvSpPr/>
          <p:nvPr/>
        </p:nvSpPr>
        <p:spPr>
          <a:xfrm>
            <a:off x="3793236" y="4437112"/>
            <a:ext cx="285752" cy="571504"/>
          </a:xfrm>
          <a:prstGeom prst="leftBrace">
            <a:avLst>
              <a:gd name="adj1" fmla="val 35567"/>
              <a:gd name="adj2" fmla="val 50000"/>
            </a:avLst>
          </a:prstGeom>
          <a:ln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sz="1400" dirty="0">
              <a:latin typeface="메이플스토리" panose="02000300000000000000" pitchFamily="2" charset="-127"/>
              <a:ea typeface="메이플스토리" panose="02000300000000000000" pitchFamily="2" charset="-127"/>
            </a:endParaRPr>
          </a:p>
        </p:txBody>
      </p:sp>
      <p:cxnSp>
        <p:nvCxnSpPr>
          <p:cNvPr id="19" name="직선 화살표 연결선 18"/>
          <p:cNvCxnSpPr>
            <a:stCxn id="7" idx="3"/>
            <a:endCxn id="14" idx="1"/>
          </p:cNvCxnSpPr>
          <p:nvPr/>
        </p:nvCxnSpPr>
        <p:spPr>
          <a:xfrm>
            <a:off x="3143218" y="3834981"/>
            <a:ext cx="650018" cy="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직선 화살표 연결선 20"/>
          <p:cNvCxnSpPr>
            <a:stCxn id="8" idx="3"/>
            <a:endCxn id="15" idx="1"/>
          </p:cNvCxnSpPr>
          <p:nvPr/>
        </p:nvCxnSpPr>
        <p:spPr>
          <a:xfrm>
            <a:off x="3146424" y="4722864"/>
            <a:ext cx="646812" cy="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슬라이드 번호 개체 틀 1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77500" lnSpcReduction="20000"/>
          </a:bodyPr>
          <a:lstStyle/>
          <a:p>
            <a:fld id="{1A6BD2C2-3D3B-4E94-BD92-61B02C5F4DEE}" type="slidenum">
              <a:rPr lang="ko-KR" altLang="en-US" smtClean="0"/>
              <a:pPr/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4256981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그림 1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8521" y="1461780"/>
            <a:ext cx="2363930" cy="1433661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11" name="슬라이드 번호 개체 틀 10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1A6BD2C2-3D3B-4E94-BD92-61B02C5F4DEE}" type="slidenum">
              <a:rPr lang="ko-KR" altLang="en-US" smtClean="0"/>
              <a:pPr/>
              <a:t>20</a:t>
            </a:fld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title" idx="4294967295"/>
          </p:nvPr>
        </p:nvSpPr>
        <p:spPr>
          <a:xfrm>
            <a:off x="0" y="231158"/>
            <a:ext cx="4211960" cy="679450"/>
          </a:xfrm>
        </p:spPr>
        <p:txBody>
          <a:bodyPr>
            <a:noAutofit/>
          </a:bodyPr>
          <a:lstStyle/>
          <a:p>
            <a:r>
              <a:rPr lang="ko-KR" altLang="en-US" sz="2800" dirty="0"/>
              <a:t>예제 </a:t>
            </a:r>
            <a:r>
              <a:rPr lang="en-US" altLang="ko-KR" sz="2800" dirty="0"/>
              <a:t>11-6 : </a:t>
            </a:r>
            <a:r>
              <a:rPr lang="ko-KR" altLang="en-US" sz="2800" dirty="0"/>
              <a:t>라디오버튼</a:t>
            </a:r>
            <a:br>
              <a:rPr lang="en-US" altLang="ko-KR" sz="2800" dirty="0"/>
            </a:br>
            <a:r>
              <a:rPr lang="ko-KR" altLang="en-US" sz="2800" dirty="0"/>
              <a:t> 생성 예</a:t>
            </a:r>
          </a:p>
        </p:txBody>
      </p:sp>
      <p:sp>
        <p:nvSpPr>
          <p:cNvPr id="4" name="직사각형 3"/>
          <p:cNvSpPr/>
          <p:nvPr/>
        </p:nvSpPr>
        <p:spPr>
          <a:xfrm>
            <a:off x="3995936" y="188640"/>
            <a:ext cx="5040560" cy="710963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defTabSz="180000"/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import </a:t>
            </a:r>
            <a:r>
              <a:rPr lang="en-US" altLang="ko-KR" sz="12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javax.swing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.*;</a:t>
            </a:r>
          </a:p>
          <a:p>
            <a:pPr defTabSz="180000"/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import </a:t>
            </a:r>
            <a:r>
              <a:rPr lang="en-US" altLang="ko-KR" sz="12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java.awt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.*;</a:t>
            </a:r>
          </a:p>
          <a:p>
            <a:pPr defTabSz="180000"/>
            <a:endParaRPr lang="en-US" altLang="ko-KR" sz="1200" dirty="0">
              <a:latin typeface="메이플스토리" panose="02000300000000000000" pitchFamily="2" charset="-127"/>
              <a:ea typeface="메이플스토리" panose="02000300000000000000" pitchFamily="2" charset="-127"/>
            </a:endParaRPr>
          </a:p>
          <a:p>
            <a:pPr defTabSz="180000"/>
            <a:r>
              <a:rPr lang="en-US" altLang="ko-KR" sz="1200" b="1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public class </a:t>
            </a:r>
            <a:r>
              <a:rPr lang="en-US" altLang="ko-KR" sz="1200" b="1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RadioButtonEx</a:t>
            </a:r>
            <a:r>
              <a:rPr lang="en-US" altLang="ko-KR" sz="1200" b="1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 extends </a:t>
            </a:r>
            <a:r>
              <a:rPr lang="en-US" altLang="ko-KR" sz="1200" b="1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JFrame</a:t>
            </a:r>
            <a:r>
              <a:rPr lang="en-US" altLang="ko-KR" sz="1200" b="1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 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{</a:t>
            </a:r>
          </a:p>
          <a:p>
            <a:pPr defTabSz="180000"/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public </a:t>
            </a:r>
            <a:r>
              <a:rPr lang="en-US" altLang="ko-KR" sz="12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RadioButtonEx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() {</a:t>
            </a:r>
          </a:p>
          <a:p>
            <a:pPr defTabSz="180000"/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	</a:t>
            </a:r>
            <a:r>
              <a:rPr lang="en-US" altLang="ko-KR" sz="12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setTitle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("</a:t>
            </a:r>
            <a:r>
              <a:rPr lang="ko-KR" altLang="en-US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라디오버튼 만들기 예제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");</a:t>
            </a:r>
          </a:p>
          <a:p>
            <a:pPr defTabSz="180000"/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	</a:t>
            </a:r>
            <a:r>
              <a:rPr lang="en-US" altLang="ko-KR" sz="12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setDefaultCloseOperation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</a:t>
            </a:r>
            <a:r>
              <a:rPr lang="en-US" altLang="ko-KR" sz="12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JFrame.EXIT_ON_CLOSE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);</a:t>
            </a:r>
          </a:p>
          <a:p>
            <a:pPr defTabSz="180000"/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	Container c = </a:t>
            </a:r>
            <a:r>
              <a:rPr lang="en-US" altLang="ko-KR" sz="12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getContentPane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();</a:t>
            </a:r>
          </a:p>
          <a:p>
            <a:pPr defTabSz="180000"/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	</a:t>
            </a:r>
            <a:r>
              <a:rPr lang="en-US" altLang="ko-KR" sz="12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c.setLayout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(new </a:t>
            </a:r>
            <a:r>
              <a:rPr lang="en-US" altLang="ko-KR" sz="12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FlowLayout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());</a:t>
            </a:r>
          </a:p>
          <a:p>
            <a:pPr defTabSz="180000"/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	</a:t>
            </a:r>
          </a:p>
          <a:p>
            <a:pPr defTabSz="180000"/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	</a:t>
            </a:r>
            <a:r>
              <a:rPr lang="en-US" altLang="ko-KR" sz="12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ImageIcon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 </a:t>
            </a:r>
            <a:r>
              <a:rPr lang="en-US" altLang="ko-KR" sz="12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cherryIcon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 = new </a:t>
            </a:r>
            <a:r>
              <a:rPr lang="en-US" altLang="ko-KR" sz="12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ImageIcon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("images/</a:t>
            </a:r>
            <a:r>
              <a:rPr lang="en-US" altLang="ko-KR" sz="12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cherry.j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 </a:t>
            </a:r>
            <a:r>
              <a:rPr lang="en-US" altLang="ko-KR" sz="12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pg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" );</a:t>
            </a:r>
          </a:p>
          <a:p>
            <a:pPr defTabSz="180000"/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	</a:t>
            </a:r>
            <a:r>
              <a:rPr lang="en-US" altLang="ko-KR" sz="12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ImageIcon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 </a:t>
            </a:r>
            <a:r>
              <a:rPr lang="en-US" altLang="ko-KR" sz="12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selectedCherryIcon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 = </a:t>
            </a:r>
          </a:p>
          <a:p>
            <a:pPr defTabSz="180000"/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								new </a:t>
            </a:r>
            <a:r>
              <a:rPr lang="en-US" altLang="ko-KR" sz="12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ImageIcon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("images/selectedCherry.jpg"); </a:t>
            </a:r>
            <a:endParaRPr lang="ko-KR" altLang="en-US" sz="1200" dirty="0">
              <a:latin typeface="메이플스토리" panose="02000300000000000000" pitchFamily="2" charset="-127"/>
              <a:ea typeface="메이플스토리" panose="02000300000000000000" pitchFamily="2" charset="-127"/>
            </a:endParaRPr>
          </a:p>
          <a:p>
            <a:pPr defTabSz="180000"/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	</a:t>
            </a:r>
          </a:p>
          <a:p>
            <a:pPr defTabSz="180000"/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	</a:t>
            </a:r>
            <a:r>
              <a:rPr lang="en-US" altLang="ko-KR" sz="1200" b="1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ButtonGroup</a:t>
            </a:r>
            <a:r>
              <a:rPr lang="en-US" altLang="ko-KR" sz="1200" b="1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 g = new </a:t>
            </a:r>
            <a:r>
              <a:rPr lang="en-US" altLang="ko-KR" sz="1200" b="1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ButtonGroup</a:t>
            </a:r>
            <a:r>
              <a:rPr lang="en-US" altLang="ko-KR" sz="1200" b="1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();</a:t>
            </a:r>
          </a:p>
          <a:p>
            <a:pPr defTabSz="180000"/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	</a:t>
            </a:r>
            <a:r>
              <a:rPr lang="en-US" altLang="ko-KR" sz="12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JRadioButton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 apple = </a:t>
            </a:r>
            <a:r>
              <a:rPr lang="en-US" altLang="ko-KR" sz="1200" b="1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new </a:t>
            </a:r>
            <a:r>
              <a:rPr lang="en-US" altLang="ko-KR" sz="1200" b="1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JRadioButton</a:t>
            </a:r>
            <a:r>
              <a:rPr lang="en-US" altLang="ko-KR" sz="1200" b="1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("</a:t>
            </a:r>
            <a:r>
              <a:rPr lang="ko-KR" altLang="en-US" sz="1200" b="1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사과</a:t>
            </a:r>
            <a:r>
              <a:rPr lang="en-US" altLang="ko-KR" sz="1200" b="1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");</a:t>
            </a:r>
          </a:p>
          <a:p>
            <a:pPr defTabSz="180000"/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	</a:t>
            </a:r>
            <a:r>
              <a:rPr lang="en-US" altLang="ko-KR" sz="12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JRadioButton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 pear = </a:t>
            </a:r>
            <a:r>
              <a:rPr lang="en-US" altLang="ko-KR" sz="1200" b="1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new </a:t>
            </a:r>
            <a:r>
              <a:rPr lang="en-US" altLang="ko-KR" sz="1200" b="1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JRadioButton</a:t>
            </a:r>
            <a:r>
              <a:rPr lang="en-US" altLang="ko-KR" sz="1200" b="1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("</a:t>
            </a:r>
            <a:r>
              <a:rPr lang="ko-KR" altLang="en-US" sz="1200" b="1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배</a:t>
            </a:r>
            <a:r>
              <a:rPr lang="en-US" altLang="ko-KR" sz="1200" b="1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", true);</a:t>
            </a:r>
          </a:p>
          <a:p>
            <a:pPr defTabSz="180000"/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	</a:t>
            </a:r>
            <a:r>
              <a:rPr lang="en-US" altLang="ko-KR" sz="12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JRadioButton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 cherry = </a:t>
            </a:r>
            <a:r>
              <a:rPr lang="en-US" altLang="ko-KR" sz="1200" b="1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new </a:t>
            </a:r>
            <a:r>
              <a:rPr lang="en-US" altLang="ko-KR" sz="1200" b="1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JRadioButton</a:t>
            </a:r>
            <a:r>
              <a:rPr lang="en-US" altLang="ko-KR" sz="1200" b="1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("</a:t>
            </a:r>
            <a:r>
              <a:rPr lang="ko-KR" altLang="en-US" sz="1200" b="1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체리</a:t>
            </a:r>
            <a:r>
              <a:rPr lang="en-US" altLang="ko-KR" sz="1200" b="1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", </a:t>
            </a:r>
            <a:r>
              <a:rPr lang="en-US" altLang="ko-KR" sz="1200" b="1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cherryIcon</a:t>
            </a:r>
            <a:r>
              <a:rPr lang="en-US" altLang="ko-KR" sz="1200" b="1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);</a:t>
            </a:r>
            <a:endParaRPr lang="ko-KR" altLang="en-US" sz="1200" b="1" dirty="0">
              <a:latin typeface="메이플스토리" panose="02000300000000000000" pitchFamily="2" charset="-127"/>
              <a:ea typeface="메이플스토리" panose="02000300000000000000" pitchFamily="2" charset="-127"/>
            </a:endParaRPr>
          </a:p>
          <a:p>
            <a:pPr defTabSz="180000"/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	</a:t>
            </a:r>
            <a:r>
              <a:rPr lang="en-US" altLang="ko-KR" sz="12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cherry.setBorderPainted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(true);</a:t>
            </a:r>
            <a:endParaRPr lang="ko-KR" altLang="en-US" sz="1200" dirty="0">
              <a:latin typeface="메이플스토리" panose="02000300000000000000" pitchFamily="2" charset="-127"/>
              <a:ea typeface="메이플스토리" panose="02000300000000000000" pitchFamily="2" charset="-127"/>
            </a:endParaRPr>
          </a:p>
          <a:p>
            <a:pPr defTabSz="180000"/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	</a:t>
            </a:r>
            <a:r>
              <a:rPr lang="en-US" altLang="ko-KR" sz="12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cherry.setSelectedIcon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</a:t>
            </a:r>
            <a:r>
              <a:rPr lang="en-US" altLang="ko-KR" sz="12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selectedCherryIcon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);</a:t>
            </a:r>
            <a:endParaRPr lang="ko-KR" altLang="en-US" sz="1200" dirty="0">
              <a:latin typeface="메이플스토리" panose="02000300000000000000" pitchFamily="2" charset="-127"/>
              <a:ea typeface="메이플스토리" panose="02000300000000000000" pitchFamily="2" charset="-127"/>
            </a:endParaRPr>
          </a:p>
          <a:p>
            <a:pPr defTabSz="180000"/>
            <a:endParaRPr lang="en-US" altLang="ko-KR" sz="1200" dirty="0">
              <a:latin typeface="메이플스토리" panose="02000300000000000000" pitchFamily="2" charset="-127"/>
              <a:ea typeface="메이플스토리" panose="02000300000000000000" pitchFamily="2" charset="-127"/>
            </a:endParaRPr>
          </a:p>
          <a:p>
            <a:pPr defTabSz="180000"/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	</a:t>
            </a:r>
            <a:r>
              <a:rPr lang="en-US" altLang="ko-KR" sz="12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g.add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(apple);</a:t>
            </a:r>
          </a:p>
          <a:p>
            <a:pPr defTabSz="180000"/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	</a:t>
            </a:r>
            <a:r>
              <a:rPr lang="en-US" altLang="ko-KR" sz="12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g.add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(pear);</a:t>
            </a:r>
          </a:p>
          <a:p>
            <a:pPr defTabSz="180000"/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	</a:t>
            </a:r>
            <a:r>
              <a:rPr lang="en-US" altLang="ko-KR" sz="12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g.add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(cherry);</a:t>
            </a:r>
          </a:p>
          <a:p>
            <a:pPr defTabSz="180000"/>
            <a:endParaRPr lang="en-US" altLang="ko-KR" sz="1200" dirty="0">
              <a:latin typeface="메이플스토리" panose="02000300000000000000" pitchFamily="2" charset="-127"/>
              <a:ea typeface="메이플스토리" panose="02000300000000000000" pitchFamily="2" charset="-127"/>
            </a:endParaRPr>
          </a:p>
          <a:p>
            <a:pPr defTabSz="180000"/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	</a:t>
            </a:r>
            <a:r>
              <a:rPr lang="en-US" altLang="ko-KR" sz="12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c.add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(apple);</a:t>
            </a:r>
          </a:p>
          <a:p>
            <a:pPr defTabSz="180000"/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	</a:t>
            </a:r>
            <a:r>
              <a:rPr lang="en-US" altLang="ko-KR" sz="12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c.add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(pear);</a:t>
            </a:r>
          </a:p>
          <a:p>
            <a:pPr defTabSz="180000"/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	</a:t>
            </a:r>
            <a:r>
              <a:rPr lang="en-US" altLang="ko-KR" sz="12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c.add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(cherry);</a:t>
            </a:r>
          </a:p>
          <a:p>
            <a:pPr defTabSz="180000"/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	</a:t>
            </a:r>
            <a:r>
              <a:rPr lang="en-US" altLang="ko-KR" sz="12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setSize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(250,150);</a:t>
            </a:r>
          </a:p>
          <a:p>
            <a:pPr defTabSz="180000"/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	</a:t>
            </a:r>
            <a:r>
              <a:rPr lang="en-US" altLang="ko-KR" sz="12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setVisible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(true);</a:t>
            </a:r>
          </a:p>
          <a:p>
            <a:pPr defTabSz="180000"/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}</a:t>
            </a:r>
          </a:p>
          <a:p>
            <a:pPr defTabSz="180000"/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public static void main(String [] </a:t>
            </a:r>
            <a:r>
              <a:rPr lang="en-US" altLang="ko-KR" sz="12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args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) {</a:t>
            </a:r>
          </a:p>
          <a:p>
            <a:pPr defTabSz="180000"/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	new </a:t>
            </a:r>
            <a:r>
              <a:rPr lang="en-US" altLang="ko-KR" sz="12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RadioButtonEx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();</a:t>
            </a:r>
          </a:p>
          <a:p>
            <a:pPr defTabSz="180000"/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}</a:t>
            </a:r>
          </a:p>
          <a:p>
            <a:pPr defTabSz="180000"/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}</a:t>
            </a:r>
          </a:p>
        </p:txBody>
      </p:sp>
      <p:sp>
        <p:nvSpPr>
          <p:cNvPr id="12" name="직사각형 11"/>
          <p:cNvSpPr/>
          <p:nvPr/>
        </p:nvSpPr>
        <p:spPr>
          <a:xfrm>
            <a:off x="714348" y="1954029"/>
            <a:ext cx="2000264" cy="246221"/>
          </a:xfrm>
          <a:prstGeom prst="rect">
            <a:avLst/>
          </a:prstGeom>
          <a:noFill/>
          <a:ln>
            <a:solidFill>
              <a:schemeClr val="accent2">
                <a:lumMod val="75000"/>
              </a:schemeClr>
            </a:solidFill>
          </a:ln>
        </p:spPr>
        <p:txBody>
          <a:bodyPr wrap="square" rtlCol="0" anchor="ctr">
            <a:spAutoFit/>
          </a:bodyPr>
          <a:lstStyle/>
          <a:p>
            <a:pPr algn="ctr"/>
            <a:endParaRPr lang="ko-KR" altLang="en-US" sz="1000" b="1" dirty="0">
              <a:latin typeface="메이플스토리" panose="02000300000000000000" pitchFamily="2" charset="-127"/>
              <a:ea typeface="메이플스토리" panose="02000300000000000000" pitchFamily="2" charset="-127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071802" y="1571612"/>
            <a:ext cx="72808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버튼 그룹</a:t>
            </a:r>
            <a:endParaRPr lang="en-US" altLang="ko-KR" sz="1200" dirty="0">
              <a:latin typeface="메이플스토리" panose="02000300000000000000" pitchFamily="2" charset="-127"/>
              <a:ea typeface="메이플스토리" panose="02000300000000000000" pitchFamily="2" charset="-127"/>
            </a:endParaRPr>
          </a:p>
          <a:p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g</a:t>
            </a:r>
            <a:r>
              <a:rPr lang="ko-KR" altLang="en-US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에 속한</a:t>
            </a:r>
            <a:endParaRPr lang="en-US" altLang="ko-KR" sz="1200" dirty="0">
              <a:latin typeface="메이플스토리" panose="02000300000000000000" pitchFamily="2" charset="-127"/>
              <a:ea typeface="메이플스토리" panose="02000300000000000000" pitchFamily="2" charset="-127"/>
            </a:endParaRPr>
          </a:p>
          <a:p>
            <a:r>
              <a:rPr lang="ko-KR" altLang="en-US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라디오</a:t>
            </a:r>
            <a:endParaRPr lang="en-US" altLang="ko-KR" sz="1200" dirty="0">
              <a:latin typeface="메이플스토리" panose="02000300000000000000" pitchFamily="2" charset="-127"/>
              <a:ea typeface="메이플스토리" panose="02000300000000000000" pitchFamily="2" charset="-127"/>
            </a:endParaRPr>
          </a:p>
          <a:p>
            <a:r>
              <a:rPr lang="ko-KR" altLang="en-US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버튼들</a:t>
            </a:r>
          </a:p>
        </p:txBody>
      </p:sp>
      <p:sp>
        <p:nvSpPr>
          <p:cNvPr id="14" name="자유형 13"/>
          <p:cNvSpPr/>
          <p:nvPr/>
        </p:nvSpPr>
        <p:spPr>
          <a:xfrm>
            <a:off x="2704289" y="1870953"/>
            <a:ext cx="418290" cy="113490"/>
          </a:xfrm>
          <a:custGeom>
            <a:avLst/>
            <a:gdLst>
              <a:gd name="connsiteX0" fmla="*/ 418290 w 418290"/>
              <a:gd name="connsiteY0" fmla="*/ 16213 h 113490"/>
              <a:gd name="connsiteX1" fmla="*/ 136188 w 418290"/>
              <a:gd name="connsiteY1" fmla="*/ 16213 h 113490"/>
              <a:gd name="connsiteX2" fmla="*/ 0 w 418290"/>
              <a:gd name="connsiteY2" fmla="*/ 113490 h 1134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18290" h="113490">
                <a:moveTo>
                  <a:pt x="418290" y="16213"/>
                </a:moveTo>
                <a:cubicBezTo>
                  <a:pt x="312096" y="8106"/>
                  <a:pt x="205903" y="0"/>
                  <a:pt x="136188" y="16213"/>
                </a:cubicBezTo>
                <a:cubicBezTo>
                  <a:pt x="66473" y="32426"/>
                  <a:pt x="33236" y="72958"/>
                  <a:pt x="0" y="113490"/>
                </a:cubicBezTo>
              </a:path>
            </a:pathLst>
          </a:custGeom>
          <a:ln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메이플스토리" panose="02000300000000000000" pitchFamily="2" charset="-127"/>
              <a:ea typeface="메이플스토리" panose="02000300000000000000" pitchFamily="2" charset="-127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47521" y="2913234"/>
            <a:ext cx="188064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초기 상태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</a:t>
            </a:r>
            <a:r>
              <a:rPr lang="ko-KR" altLang="en-US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배가 선택된 상태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)</a:t>
            </a:r>
            <a:endParaRPr lang="ko-KR" altLang="en-US" sz="1200" dirty="0">
              <a:latin typeface="메이플스토리" panose="02000300000000000000" pitchFamily="2" charset="-127"/>
              <a:ea typeface="메이플스토리" panose="02000300000000000000" pitchFamily="2" charset="-127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952092" y="5072074"/>
            <a:ext cx="135005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체리가 선택된 상태</a:t>
            </a:r>
          </a:p>
        </p:txBody>
      </p:sp>
      <p:pic>
        <p:nvPicPr>
          <p:cNvPr id="17" name="그림 1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8521" y="3584150"/>
            <a:ext cx="2363930" cy="1433661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189822964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슬라이드 번호 개체 틀 38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1A6BD2C2-3D3B-4E94-BD92-61B02C5F4DEE}" type="slidenum">
              <a:rPr lang="ko-KR" altLang="en-US" smtClean="0"/>
              <a:pPr/>
              <a:t>21</a:t>
            </a:fld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title" idx="4294967295"/>
          </p:nvPr>
        </p:nvSpPr>
        <p:spPr>
          <a:xfrm>
            <a:off x="266700" y="-27384"/>
            <a:ext cx="8820472" cy="679450"/>
          </a:xfrm>
        </p:spPr>
        <p:txBody>
          <a:bodyPr>
            <a:noAutofit/>
          </a:bodyPr>
          <a:lstStyle/>
          <a:p>
            <a:r>
              <a:rPr lang="ko-KR" altLang="en-US" sz="2000" dirty="0">
                <a:solidFill>
                  <a:srgbClr val="FF0000"/>
                </a:solidFill>
              </a:rPr>
              <a:t>예제 </a:t>
            </a:r>
            <a:r>
              <a:rPr lang="en-US" altLang="ko-KR" sz="2000" dirty="0">
                <a:solidFill>
                  <a:srgbClr val="FF0000"/>
                </a:solidFill>
              </a:rPr>
              <a:t>11-7 : </a:t>
            </a:r>
            <a:r>
              <a:rPr lang="en-US" altLang="ko-KR" sz="2000" dirty="0" err="1">
                <a:solidFill>
                  <a:srgbClr val="FF0000"/>
                </a:solidFill>
              </a:rPr>
              <a:t>JRadioButton</a:t>
            </a:r>
            <a:r>
              <a:rPr lang="ko-KR" altLang="en-US" sz="2000" dirty="0">
                <a:solidFill>
                  <a:srgbClr val="FF0000"/>
                </a:solidFill>
              </a:rPr>
              <a:t>과 </a:t>
            </a:r>
            <a:r>
              <a:rPr lang="en-US" altLang="ko-KR" sz="2000" dirty="0">
                <a:solidFill>
                  <a:srgbClr val="FF0000"/>
                </a:solidFill>
              </a:rPr>
              <a:t>Item </a:t>
            </a:r>
            <a:r>
              <a:rPr lang="ko-KR" altLang="en-US" sz="2000" dirty="0">
                <a:solidFill>
                  <a:srgbClr val="FF0000"/>
                </a:solidFill>
              </a:rPr>
              <a:t>이벤트를 이용하여 과일 사진 보여주기</a:t>
            </a:r>
          </a:p>
        </p:txBody>
      </p:sp>
      <p:sp>
        <p:nvSpPr>
          <p:cNvPr id="4" name="직사각형 3"/>
          <p:cNvSpPr/>
          <p:nvPr/>
        </p:nvSpPr>
        <p:spPr>
          <a:xfrm>
            <a:off x="5004048" y="1124744"/>
            <a:ext cx="3888432" cy="283923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defTabSz="180000"/>
            <a:r>
              <a:rPr lang="en-US" altLang="ko-KR" sz="105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</a:t>
            </a:r>
            <a:r>
              <a:rPr lang="en-US" altLang="ko-KR" sz="1050" b="1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class </a:t>
            </a:r>
            <a:r>
              <a:rPr lang="en-US" altLang="ko-KR" sz="1050" b="1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MyItemListener</a:t>
            </a:r>
            <a:r>
              <a:rPr lang="en-US" altLang="ko-KR" sz="1050" b="1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 implements </a:t>
            </a:r>
            <a:r>
              <a:rPr lang="en-US" altLang="ko-KR" sz="1050" b="1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ItemListener</a:t>
            </a:r>
            <a:r>
              <a:rPr lang="en-US" altLang="ko-KR" sz="1050" b="1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 </a:t>
            </a:r>
            <a:r>
              <a:rPr lang="en-US" altLang="ko-KR" sz="105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{</a:t>
            </a:r>
          </a:p>
          <a:p>
            <a:pPr defTabSz="180000"/>
            <a:r>
              <a:rPr lang="en-US" altLang="ko-KR" sz="105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	public void </a:t>
            </a:r>
            <a:r>
              <a:rPr lang="en-US" altLang="ko-KR" sz="105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itemStateChanged</a:t>
            </a:r>
            <a:r>
              <a:rPr lang="en-US" altLang="ko-KR" sz="105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</a:t>
            </a:r>
            <a:r>
              <a:rPr lang="en-US" altLang="ko-KR" sz="105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ItemEvent</a:t>
            </a:r>
            <a:r>
              <a:rPr lang="en-US" altLang="ko-KR" sz="105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 e) {</a:t>
            </a:r>
          </a:p>
          <a:p>
            <a:pPr defTabSz="180000"/>
            <a:r>
              <a:rPr lang="en-US" altLang="ko-KR" sz="105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		</a:t>
            </a:r>
            <a:r>
              <a:rPr lang="en-US" altLang="ko-KR" sz="1050" b="1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if(</a:t>
            </a:r>
            <a:r>
              <a:rPr lang="en-US" altLang="ko-KR" sz="1050" b="1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e.getStateChange</a:t>
            </a:r>
            <a:r>
              <a:rPr lang="en-US" altLang="ko-KR" sz="1050" b="1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() == </a:t>
            </a:r>
            <a:r>
              <a:rPr lang="en-US" altLang="ko-KR" sz="1050" b="1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ItemEvent.DESELECTED</a:t>
            </a:r>
            <a:r>
              <a:rPr lang="en-US" altLang="ko-KR" sz="105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)</a:t>
            </a:r>
          </a:p>
          <a:p>
            <a:pPr defTabSz="180000"/>
            <a:r>
              <a:rPr lang="en-US" altLang="ko-KR" sz="105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			return; </a:t>
            </a:r>
          </a:p>
          <a:p>
            <a:pPr defTabSz="180000"/>
            <a:r>
              <a:rPr lang="en-US" altLang="ko-KR" sz="105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		if(radio[0].</a:t>
            </a:r>
            <a:r>
              <a:rPr lang="en-US" altLang="ko-KR" sz="105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isSelected</a:t>
            </a:r>
            <a:r>
              <a:rPr lang="en-US" altLang="ko-KR" sz="105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())</a:t>
            </a:r>
            <a:endParaRPr lang="ko-KR" altLang="en-US" sz="1050" dirty="0">
              <a:latin typeface="메이플스토리" panose="02000300000000000000" pitchFamily="2" charset="-127"/>
              <a:ea typeface="메이플스토리" panose="02000300000000000000" pitchFamily="2" charset="-127"/>
            </a:endParaRPr>
          </a:p>
          <a:p>
            <a:pPr defTabSz="180000"/>
            <a:r>
              <a:rPr lang="en-US" altLang="ko-KR" sz="105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			</a:t>
            </a:r>
            <a:r>
              <a:rPr lang="en-US" altLang="ko-KR" sz="105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imageLabel.setIcon</a:t>
            </a:r>
            <a:r>
              <a:rPr lang="en-US" altLang="ko-KR" sz="105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(image[0]);</a:t>
            </a:r>
          </a:p>
          <a:p>
            <a:pPr defTabSz="180000"/>
            <a:r>
              <a:rPr lang="en-US" altLang="ko-KR" sz="105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		else if(radio[1].</a:t>
            </a:r>
            <a:r>
              <a:rPr lang="en-US" altLang="ko-KR" sz="105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isSelected</a:t>
            </a:r>
            <a:r>
              <a:rPr lang="en-US" altLang="ko-KR" sz="105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())</a:t>
            </a:r>
            <a:endParaRPr lang="ko-KR" altLang="en-US" sz="1050" dirty="0">
              <a:latin typeface="메이플스토리" panose="02000300000000000000" pitchFamily="2" charset="-127"/>
              <a:ea typeface="메이플스토리" panose="02000300000000000000" pitchFamily="2" charset="-127"/>
            </a:endParaRPr>
          </a:p>
          <a:p>
            <a:pPr defTabSz="180000"/>
            <a:r>
              <a:rPr lang="en-US" altLang="ko-KR" sz="105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			</a:t>
            </a:r>
            <a:r>
              <a:rPr lang="en-US" altLang="ko-KR" sz="105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imageLabel.setIcon</a:t>
            </a:r>
            <a:r>
              <a:rPr lang="en-US" altLang="ko-KR" sz="105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(image[1]);</a:t>
            </a:r>
          </a:p>
          <a:p>
            <a:pPr defTabSz="180000"/>
            <a:r>
              <a:rPr lang="en-US" altLang="ko-KR" sz="105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		else</a:t>
            </a:r>
            <a:endParaRPr lang="ko-KR" altLang="en-US" sz="1050" dirty="0">
              <a:latin typeface="메이플스토리" panose="02000300000000000000" pitchFamily="2" charset="-127"/>
              <a:ea typeface="메이플스토리" panose="02000300000000000000" pitchFamily="2" charset="-127"/>
            </a:endParaRPr>
          </a:p>
          <a:p>
            <a:pPr defTabSz="180000"/>
            <a:r>
              <a:rPr lang="en-US" altLang="ko-KR" sz="105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			</a:t>
            </a:r>
            <a:r>
              <a:rPr lang="en-US" altLang="ko-KR" sz="105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imageLabel.setIcon</a:t>
            </a:r>
            <a:r>
              <a:rPr lang="en-US" altLang="ko-KR" sz="105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(image[2]);</a:t>
            </a:r>
          </a:p>
          <a:p>
            <a:pPr defTabSz="180000"/>
            <a:r>
              <a:rPr lang="en-US" altLang="ko-KR" sz="105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	}</a:t>
            </a:r>
          </a:p>
          <a:p>
            <a:pPr defTabSz="180000"/>
            <a:r>
              <a:rPr lang="en-US" altLang="ko-KR" sz="105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}</a:t>
            </a:r>
          </a:p>
          <a:p>
            <a:pPr defTabSz="180000"/>
            <a:r>
              <a:rPr lang="en-US" altLang="ko-KR" sz="105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public static void main(String [] </a:t>
            </a:r>
            <a:r>
              <a:rPr lang="en-US" altLang="ko-KR" sz="105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args</a:t>
            </a:r>
            <a:r>
              <a:rPr lang="en-US" altLang="ko-KR" sz="105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) {</a:t>
            </a:r>
          </a:p>
          <a:p>
            <a:pPr defTabSz="180000"/>
            <a:r>
              <a:rPr lang="en-US" altLang="ko-KR" sz="105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	new </a:t>
            </a:r>
            <a:r>
              <a:rPr lang="en-US" altLang="ko-KR" sz="105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RadioButtonItemEventEx</a:t>
            </a:r>
            <a:r>
              <a:rPr lang="en-US" altLang="ko-KR" sz="105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();</a:t>
            </a:r>
          </a:p>
          <a:p>
            <a:pPr defTabSz="180000"/>
            <a:r>
              <a:rPr lang="en-US" altLang="ko-KR" sz="105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}</a:t>
            </a:r>
          </a:p>
          <a:p>
            <a:pPr defTabSz="180000"/>
            <a:r>
              <a:rPr lang="en-US" altLang="ko-KR" sz="105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}</a:t>
            </a:r>
            <a:endParaRPr lang="ko-KR" altLang="en-US" sz="1050" dirty="0">
              <a:latin typeface="메이플스토리" panose="02000300000000000000" pitchFamily="2" charset="-127"/>
              <a:ea typeface="메이플스토리" panose="02000300000000000000" pitchFamily="2" charset="-127"/>
            </a:endParaRPr>
          </a:p>
        </p:txBody>
      </p:sp>
      <p:sp>
        <p:nvSpPr>
          <p:cNvPr id="5" name="직사각형 4"/>
          <p:cNvSpPr/>
          <p:nvPr/>
        </p:nvSpPr>
        <p:spPr>
          <a:xfrm>
            <a:off x="467544" y="476672"/>
            <a:ext cx="4464496" cy="6355586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defTabSz="180000"/>
            <a:r>
              <a:rPr lang="en-US" altLang="ko-KR" sz="11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import </a:t>
            </a:r>
            <a:r>
              <a:rPr lang="en-US" altLang="ko-KR" sz="11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javax.swing</a:t>
            </a:r>
            <a:r>
              <a:rPr lang="en-US" altLang="ko-KR" sz="11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.*;</a:t>
            </a:r>
          </a:p>
          <a:p>
            <a:pPr defTabSz="180000"/>
            <a:r>
              <a:rPr lang="en-US" altLang="ko-KR" sz="11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import </a:t>
            </a:r>
            <a:r>
              <a:rPr lang="en-US" altLang="ko-KR" sz="11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java.awt.event</a:t>
            </a:r>
            <a:r>
              <a:rPr lang="en-US" altLang="ko-KR" sz="11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.*;</a:t>
            </a:r>
          </a:p>
          <a:p>
            <a:pPr defTabSz="180000"/>
            <a:r>
              <a:rPr lang="en-US" altLang="ko-KR" sz="11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import </a:t>
            </a:r>
            <a:r>
              <a:rPr lang="en-US" altLang="ko-KR" sz="11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java.awt</a:t>
            </a:r>
            <a:r>
              <a:rPr lang="en-US" altLang="ko-KR" sz="11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.*;</a:t>
            </a:r>
          </a:p>
          <a:p>
            <a:pPr defTabSz="180000"/>
            <a:endParaRPr lang="en-US" altLang="ko-KR" sz="1100" dirty="0">
              <a:latin typeface="메이플스토리" panose="02000300000000000000" pitchFamily="2" charset="-127"/>
              <a:ea typeface="메이플스토리" panose="02000300000000000000" pitchFamily="2" charset="-127"/>
            </a:endParaRPr>
          </a:p>
          <a:p>
            <a:pPr defTabSz="180000"/>
            <a:r>
              <a:rPr lang="en-US" altLang="ko-KR" sz="1100" b="1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public class </a:t>
            </a:r>
            <a:r>
              <a:rPr lang="en-US" altLang="ko-KR" sz="1100" b="1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RadioButtonItemEventEx</a:t>
            </a:r>
            <a:r>
              <a:rPr lang="en-US" altLang="ko-KR" sz="1100" b="1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 extends </a:t>
            </a:r>
            <a:r>
              <a:rPr lang="en-US" altLang="ko-KR" sz="1100" b="1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JFrame</a:t>
            </a:r>
            <a:r>
              <a:rPr lang="en-US" altLang="ko-KR" sz="1100" b="1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 </a:t>
            </a:r>
            <a:r>
              <a:rPr lang="en-US" altLang="ko-KR" sz="11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{</a:t>
            </a:r>
          </a:p>
          <a:p>
            <a:pPr defTabSz="180000"/>
            <a:r>
              <a:rPr lang="en-US" altLang="ko-KR" sz="11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</a:t>
            </a:r>
            <a:r>
              <a:rPr lang="en-US" altLang="ko-KR" sz="1100" b="1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private </a:t>
            </a:r>
            <a:r>
              <a:rPr lang="en-US" altLang="ko-KR" sz="1100" b="1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JRadioButton</a:t>
            </a:r>
            <a:r>
              <a:rPr lang="en-US" altLang="ko-KR" sz="1100" b="1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 [] radio = new </a:t>
            </a:r>
            <a:r>
              <a:rPr lang="en-US" altLang="ko-KR" sz="1100" b="1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JRadioButton</a:t>
            </a:r>
            <a:r>
              <a:rPr lang="en-US" altLang="ko-KR" sz="1100" b="1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 [3];</a:t>
            </a:r>
            <a:endParaRPr lang="ko-KR" altLang="en-US" sz="1100" b="1" dirty="0">
              <a:latin typeface="메이플스토리" panose="02000300000000000000" pitchFamily="2" charset="-127"/>
              <a:ea typeface="메이플스토리" panose="02000300000000000000" pitchFamily="2" charset="-127"/>
            </a:endParaRPr>
          </a:p>
          <a:p>
            <a:pPr defTabSz="180000"/>
            <a:r>
              <a:rPr lang="en-US" altLang="ko-KR" sz="11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private String [] text = {"</a:t>
            </a:r>
            <a:r>
              <a:rPr lang="ko-KR" altLang="en-US" sz="11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사과</a:t>
            </a:r>
            <a:r>
              <a:rPr lang="en-US" altLang="ko-KR" sz="11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", "</a:t>
            </a:r>
            <a:r>
              <a:rPr lang="ko-KR" altLang="en-US" sz="11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배</a:t>
            </a:r>
            <a:r>
              <a:rPr lang="en-US" altLang="ko-KR" sz="11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", "</a:t>
            </a:r>
            <a:r>
              <a:rPr lang="ko-KR" altLang="en-US" sz="11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체리</a:t>
            </a:r>
            <a:r>
              <a:rPr lang="en-US" altLang="ko-KR" sz="11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"};</a:t>
            </a:r>
            <a:endParaRPr lang="ko-KR" altLang="en-US" sz="1100" dirty="0">
              <a:latin typeface="메이플스토리" panose="02000300000000000000" pitchFamily="2" charset="-127"/>
              <a:ea typeface="메이플스토리" panose="02000300000000000000" pitchFamily="2" charset="-127"/>
            </a:endParaRPr>
          </a:p>
          <a:p>
            <a:pPr defTabSz="180000"/>
            <a:r>
              <a:rPr lang="en-US" altLang="ko-KR" sz="11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private </a:t>
            </a:r>
            <a:r>
              <a:rPr lang="en-US" altLang="ko-KR" sz="11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ImageIcon</a:t>
            </a:r>
            <a:r>
              <a:rPr lang="en-US" altLang="ko-KR" sz="11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 [] image = {</a:t>
            </a:r>
            <a:endParaRPr lang="ko-KR" altLang="en-US" sz="1100" dirty="0">
              <a:latin typeface="메이플스토리" panose="02000300000000000000" pitchFamily="2" charset="-127"/>
              <a:ea typeface="메이플스토리" panose="02000300000000000000" pitchFamily="2" charset="-127"/>
            </a:endParaRPr>
          </a:p>
          <a:p>
            <a:pPr defTabSz="180000"/>
            <a:r>
              <a:rPr lang="en-US" altLang="ko-KR" sz="11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						new </a:t>
            </a:r>
            <a:r>
              <a:rPr lang="en-US" altLang="ko-KR" sz="11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ImageIcon</a:t>
            </a:r>
            <a:r>
              <a:rPr lang="en-US" altLang="ko-KR" sz="11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("images/apple.jpg"),</a:t>
            </a:r>
          </a:p>
          <a:p>
            <a:pPr defTabSz="180000"/>
            <a:r>
              <a:rPr lang="en-US" altLang="ko-KR" sz="11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						new </a:t>
            </a:r>
            <a:r>
              <a:rPr lang="en-US" altLang="ko-KR" sz="11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ImageIcon</a:t>
            </a:r>
            <a:r>
              <a:rPr lang="en-US" altLang="ko-KR" sz="11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("images/pear.jpg"),</a:t>
            </a:r>
          </a:p>
          <a:p>
            <a:pPr defTabSz="180000"/>
            <a:r>
              <a:rPr lang="en-US" altLang="ko-KR" sz="11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						new </a:t>
            </a:r>
            <a:r>
              <a:rPr lang="en-US" altLang="ko-KR" sz="11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ImageIcon</a:t>
            </a:r>
            <a:r>
              <a:rPr lang="en-US" altLang="ko-KR" sz="11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("images/cherry.jpg")};</a:t>
            </a:r>
          </a:p>
          <a:p>
            <a:pPr defTabSz="180000"/>
            <a:r>
              <a:rPr lang="en-US" altLang="ko-KR" sz="11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private</a:t>
            </a:r>
            <a:r>
              <a:rPr lang="ko-KR" altLang="en-US" sz="11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 </a:t>
            </a:r>
            <a:r>
              <a:rPr lang="en-US" altLang="ko-KR" sz="11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JLabel</a:t>
            </a:r>
            <a:r>
              <a:rPr lang="en-US" altLang="ko-KR" sz="11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 </a:t>
            </a:r>
            <a:r>
              <a:rPr lang="en-US" altLang="ko-KR" sz="11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imageLabel</a:t>
            </a:r>
            <a:r>
              <a:rPr lang="en-US" altLang="ko-KR" sz="11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 = new </a:t>
            </a:r>
            <a:r>
              <a:rPr lang="en-US" altLang="ko-KR" sz="11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JLabel</a:t>
            </a:r>
            <a:r>
              <a:rPr lang="en-US" altLang="ko-KR" sz="11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();</a:t>
            </a:r>
          </a:p>
          <a:p>
            <a:pPr defTabSz="180000"/>
            <a:endParaRPr lang="ko-KR" altLang="en-US" sz="1100" dirty="0">
              <a:latin typeface="메이플스토리" panose="02000300000000000000" pitchFamily="2" charset="-127"/>
              <a:ea typeface="메이플스토리" panose="02000300000000000000" pitchFamily="2" charset="-127"/>
            </a:endParaRPr>
          </a:p>
          <a:p>
            <a:pPr defTabSz="180000"/>
            <a:r>
              <a:rPr lang="en-US" altLang="ko-KR" sz="11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public </a:t>
            </a:r>
            <a:r>
              <a:rPr lang="en-US" altLang="ko-KR" sz="11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RadioButtonItemEventEx</a:t>
            </a:r>
            <a:r>
              <a:rPr lang="en-US" altLang="ko-KR" sz="11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() {</a:t>
            </a:r>
          </a:p>
          <a:p>
            <a:pPr defTabSz="180000"/>
            <a:r>
              <a:rPr lang="en-US" altLang="ko-KR" sz="11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	</a:t>
            </a:r>
            <a:r>
              <a:rPr lang="en-US" altLang="ko-KR" sz="11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setTitle</a:t>
            </a:r>
            <a:r>
              <a:rPr lang="en-US" altLang="ko-KR" sz="11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("</a:t>
            </a:r>
            <a:r>
              <a:rPr lang="ko-KR" altLang="en-US" sz="11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라디오버튼 </a:t>
            </a:r>
            <a:r>
              <a:rPr lang="en-US" altLang="ko-KR" sz="11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Item Event </a:t>
            </a:r>
            <a:r>
              <a:rPr lang="ko-KR" altLang="en-US" sz="11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예제</a:t>
            </a:r>
            <a:r>
              <a:rPr lang="en-US" altLang="ko-KR" sz="11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");</a:t>
            </a:r>
          </a:p>
          <a:p>
            <a:pPr defTabSz="180000"/>
            <a:r>
              <a:rPr lang="en-US" altLang="ko-KR" sz="11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	</a:t>
            </a:r>
            <a:r>
              <a:rPr lang="en-US" altLang="ko-KR" sz="11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setDefaultCloseOperation</a:t>
            </a:r>
            <a:r>
              <a:rPr lang="en-US" altLang="ko-KR" sz="11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</a:t>
            </a:r>
            <a:r>
              <a:rPr lang="en-US" altLang="ko-KR" sz="11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JFrame.EXIT_ON_CLOSE</a:t>
            </a:r>
            <a:r>
              <a:rPr lang="en-US" altLang="ko-KR" sz="11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);</a:t>
            </a:r>
          </a:p>
          <a:p>
            <a:pPr defTabSz="180000"/>
            <a:r>
              <a:rPr lang="en-US" altLang="ko-KR" sz="11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	Container c = </a:t>
            </a:r>
            <a:r>
              <a:rPr lang="en-US" altLang="ko-KR" sz="11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getContentPane</a:t>
            </a:r>
            <a:r>
              <a:rPr lang="en-US" altLang="ko-KR" sz="11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();</a:t>
            </a:r>
          </a:p>
          <a:p>
            <a:pPr defTabSz="180000"/>
            <a:r>
              <a:rPr lang="en-US" altLang="ko-KR" sz="11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	</a:t>
            </a:r>
            <a:r>
              <a:rPr lang="en-US" altLang="ko-KR" sz="11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c.setLayout</a:t>
            </a:r>
            <a:r>
              <a:rPr lang="en-US" altLang="ko-KR" sz="11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(new </a:t>
            </a:r>
            <a:r>
              <a:rPr lang="en-US" altLang="ko-KR" sz="11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BorderLayout</a:t>
            </a:r>
            <a:r>
              <a:rPr lang="en-US" altLang="ko-KR" sz="11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());</a:t>
            </a:r>
          </a:p>
          <a:p>
            <a:pPr defTabSz="180000"/>
            <a:r>
              <a:rPr lang="en-US" altLang="ko-KR" sz="11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	</a:t>
            </a:r>
            <a:r>
              <a:rPr lang="en-US" altLang="ko-KR" sz="11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JPanel</a:t>
            </a:r>
            <a:r>
              <a:rPr lang="en-US" altLang="ko-KR" sz="11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 </a:t>
            </a:r>
            <a:r>
              <a:rPr lang="en-US" altLang="ko-KR" sz="11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radioPanel</a:t>
            </a:r>
            <a:r>
              <a:rPr lang="en-US" altLang="ko-KR" sz="11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 = new </a:t>
            </a:r>
            <a:r>
              <a:rPr lang="en-US" altLang="ko-KR" sz="11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JPanel</a:t>
            </a:r>
            <a:r>
              <a:rPr lang="en-US" altLang="ko-KR" sz="11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(); </a:t>
            </a:r>
            <a:endParaRPr lang="ko-KR" altLang="en-US" sz="1100" dirty="0">
              <a:latin typeface="메이플스토리" panose="02000300000000000000" pitchFamily="2" charset="-127"/>
              <a:ea typeface="메이플스토리" panose="02000300000000000000" pitchFamily="2" charset="-127"/>
            </a:endParaRPr>
          </a:p>
          <a:p>
            <a:pPr defTabSz="180000"/>
            <a:r>
              <a:rPr lang="en-US" altLang="ko-KR" sz="11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	</a:t>
            </a:r>
            <a:r>
              <a:rPr lang="en-US" altLang="ko-KR" sz="11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radioPanel.setBackground</a:t>
            </a:r>
            <a:r>
              <a:rPr lang="en-US" altLang="ko-KR" sz="11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</a:t>
            </a:r>
            <a:r>
              <a:rPr lang="en-US" altLang="ko-KR" sz="11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Color.GRAY</a:t>
            </a:r>
            <a:r>
              <a:rPr lang="en-US" altLang="ko-KR" sz="11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);</a:t>
            </a:r>
          </a:p>
          <a:p>
            <a:pPr defTabSz="180000"/>
            <a:r>
              <a:rPr lang="en-US" altLang="ko-KR" sz="11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	</a:t>
            </a:r>
            <a:r>
              <a:rPr lang="en-US" altLang="ko-KR" sz="11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ButtonGroup</a:t>
            </a:r>
            <a:r>
              <a:rPr lang="en-US" altLang="ko-KR" sz="11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 g = new </a:t>
            </a:r>
            <a:r>
              <a:rPr lang="en-US" altLang="ko-KR" sz="11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ButtonGroup</a:t>
            </a:r>
            <a:r>
              <a:rPr lang="en-US" altLang="ko-KR" sz="11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(); </a:t>
            </a:r>
            <a:endParaRPr lang="ko-KR" altLang="en-US" sz="1100" dirty="0">
              <a:latin typeface="메이플스토리" panose="02000300000000000000" pitchFamily="2" charset="-127"/>
              <a:ea typeface="메이플스토리" panose="02000300000000000000" pitchFamily="2" charset="-127"/>
            </a:endParaRPr>
          </a:p>
          <a:p>
            <a:pPr defTabSz="180000"/>
            <a:endParaRPr lang="en-US" altLang="ko-KR" sz="1100" dirty="0">
              <a:latin typeface="메이플스토리" panose="02000300000000000000" pitchFamily="2" charset="-127"/>
              <a:ea typeface="메이플스토리" panose="02000300000000000000" pitchFamily="2" charset="-127"/>
            </a:endParaRPr>
          </a:p>
          <a:p>
            <a:pPr defTabSz="180000"/>
            <a:r>
              <a:rPr lang="en-US" altLang="ko-KR" sz="11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	for(</a:t>
            </a:r>
            <a:r>
              <a:rPr lang="en-US" altLang="ko-KR" sz="11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int</a:t>
            </a:r>
            <a:r>
              <a:rPr lang="en-US" altLang="ko-KR" sz="11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 </a:t>
            </a:r>
            <a:r>
              <a:rPr lang="en-US" altLang="ko-KR" sz="11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i</a:t>
            </a:r>
            <a:r>
              <a:rPr lang="en-US" altLang="ko-KR" sz="11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=0; </a:t>
            </a:r>
            <a:r>
              <a:rPr lang="en-US" altLang="ko-KR" sz="11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i</a:t>
            </a:r>
            <a:r>
              <a:rPr lang="en-US" altLang="ko-KR" sz="11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&lt;</a:t>
            </a:r>
            <a:r>
              <a:rPr lang="en-US" altLang="ko-KR" sz="11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radio.length</a:t>
            </a:r>
            <a:r>
              <a:rPr lang="en-US" altLang="ko-KR" sz="11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; </a:t>
            </a:r>
            <a:r>
              <a:rPr lang="en-US" altLang="ko-KR" sz="11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i</a:t>
            </a:r>
            <a:r>
              <a:rPr lang="en-US" altLang="ko-KR" sz="11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++) {</a:t>
            </a:r>
            <a:endParaRPr lang="ko-KR" altLang="en-US" sz="1100" dirty="0">
              <a:latin typeface="메이플스토리" panose="02000300000000000000" pitchFamily="2" charset="-127"/>
              <a:ea typeface="메이플스토리" panose="02000300000000000000" pitchFamily="2" charset="-127"/>
            </a:endParaRPr>
          </a:p>
          <a:p>
            <a:pPr defTabSz="180000"/>
            <a:r>
              <a:rPr lang="en-US" altLang="ko-KR" sz="11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		</a:t>
            </a:r>
            <a:r>
              <a:rPr lang="en-US" altLang="ko-KR" sz="1100" b="1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radio[</a:t>
            </a:r>
            <a:r>
              <a:rPr lang="en-US" altLang="ko-KR" sz="1100" b="1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i</a:t>
            </a:r>
            <a:r>
              <a:rPr lang="en-US" altLang="ko-KR" sz="1100" b="1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] = new </a:t>
            </a:r>
            <a:r>
              <a:rPr lang="en-US" altLang="ko-KR" sz="1100" b="1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JRadioButton</a:t>
            </a:r>
            <a:r>
              <a:rPr lang="en-US" altLang="ko-KR" sz="1100" b="1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(text[</a:t>
            </a:r>
            <a:r>
              <a:rPr lang="en-US" altLang="ko-KR" sz="1100" b="1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i</a:t>
            </a:r>
            <a:r>
              <a:rPr lang="en-US" altLang="ko-KR" sz="1100" b="1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]);</a:t>
            </a:r>
            <a:endParaRPr lang="ko-KR" altLang="en-US" sz="1100" b="1" dirty="0">
              <a:latin typeface="메이플스토리" panose="02000300000000000000" pitchFamily="2" charset="-127"/>
              <a:ea typeface="메이플스토리" panose="02000300000000000000" pitchFamily="2" charset="-127"/>
            </a:endParaRPr>
          </a:p>
          <a:p>
            <a:pPr defTabSz="180000"/>
            <a:r>
              <a:rPr lang="en-US" altLang="ko-KR" sz="11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		</a:t>
            </a:r>
            <a:r>
              <a:rPr lang="en-US" altLang="ko-KR" sz="11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g.add</a:t>
            </a:r>
            <a:r>
              <a:rPr lang="en-US" altLang="ko-KR" sz="11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(radio[</a:t>
            </a:r>
            <a:r>
              <a:rPr lang="en-US" altLang="ko-KR" sz="11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i</a:t>
            </a:r>
            <a:r>
              <a:rPr lang="en-US" altLang="ko-KR" sz="11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]);</a:t>
            </a:r>
            <a:endParaRPr lang="ko-KR" altLang="en-US" sz="1100" dirty="0">
              <a:latin typeface="메이플스토리" panose="02000300000000000000" pitchFamily="2" charset="-127"/>
              <a:ea typeface="메이플스토리" panose="02000300000000000000" pitchFamily="2" charset="-127"/>
            </a:endParaRPr>
          </a:p>
          <a:p>
            <a:pPr defTabSz="180000"/>
            <a:r>
              <a:rPr lang="en-US" altLang="ko-KR" sz="11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		</a:t>
            </a:r>
            <a:r>
              <a:rPr lang="en-US" altLang="ko-KR" sz="11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radioPanel.add</a:t>
            </a:r>
            <a:r>
              <a:rPr lang="en-US" altLang="ko-KR" sz="11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(radio[</a:t>
            </a:r>
            <a:r>
              <a:rPr lang="en-US" altLang="ko-KR" sz="11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i</a:t>
            </a:r>
            <a:r>
              <a:rPr lang="en-US" altLang="ko-KR" sz="11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]);</a:t>
            </a:r>
            <a:endParaRPr lang="ko-KR" altLang="en-US" sz="1100" dirty="0">
              <a:latin typeface="메이플스토리" panose="02000300000000000000" pitchFamily="2" charset="-127"/>
              <a:ea typeface="메이플스토리" panose="02000300000000000000" pitchFamily="2" charset="-127"/>
            </a:endParaRPr>
          </a:p>
          <a:p>
            <a:pPr defTabSz="180000"/>
            <a:r>
              <a:rPr lang="en-US" altLang="ko-KR" sz="11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		</a:t>
            </a:r>
            <a:r>
              <a:rPr lang="en-US" altLang="ko-KR" sz="1100" b="1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radio[</a:t>
            </a:r>
            <a:r>
              <a:rPr lang="en-US" altLang="ko-KR" sz="1100" b="1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i</a:t>
            </a:r>
            <a:r>
              <a:rPr lang="en-US" altLang="ko-KR" sz="1100" b="1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].</a:t>
            </a:r>
            <a:r>
              <a:rPr lang="en-US" altLang="ko-KR" sz="1100" b="1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addItemListener</a:t>
            </a:r>
            <a:r>
              <a:rPr lang="en-US" altLang="ko-KR" sz="1100" b="1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(new </a:t>
            </a:r>
            <a:r>
              <a:rPr lang="en-US" altLang="ko-KR" sz="1100" b="1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MyItemListener</a:t>
            </a:r>
            <a:r>
              <a:rPr lang="en-US" altLang="ko-KR" sz="1100" b="1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());</a:t>
            </a:r>
            <a:endParaRPr lang="ko-KR" altLang="en-US" sz="1100" b="1" dirty="0">
              <a:latin typeface="메이플스토리" panose="02000300000000000000" pitchFamily="2" charset="-127"/>
              <a:ea typeface="메이플스토리" panose="02000300000000000000" pitchFamily="2" charset="-127"/>
            </a:endParaRPr>
          </a:p>
          <a:p>
            <a:pPr defTabSz="180000"/>
            <a:r>
              <a:rPr lang="en-US" altLang="ko-KR" sz="11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	}</a:t>
            </a:r>
          </a:p>
          <a:p>
            <a:pPr defTabSz="180000"/>
            <a:r>
              <a:rPr lang="en-US" altLang="ko-KR" sz="11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	</a:t>
            </a:r>
            <a:r>
              <a:rPr lang="en-US" altLang="ko-KR" sz="1100" b="1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radio[2].</a:t>
            </a:r>
            <a:r>
              <a:rPr lang="en-US" altLang="ko-KR" sz="1100" b="1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setSelected</a:t>
            </a:r>
            <a:r>
              <a:rPr lang="en-US" altLang="ko-KR" sz="1100" b="1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(true); </a:t>
            </a:r>
          </a:p>
          <a:p>
            <a:pPr defTabSz="180000"/>
            <a:r>
              <a:rPr lang="en-US" altLang="ko-KR" sz="11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	</a:t>
            </a:r>
            <a:r>
              <a:rPr lang="en-US" altLang="ko-KR" sz="11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c.add</a:t>
            </a:r>
            <a:r>
              <a:rPr lang="en-US" altLang="ko-KR" sz="11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</a:t>
            </a:r>
            <a:r>
              <a:rPr lang="en-US" altLang="ko-KR" sz="11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radioPanel</a:t>
            </a:r>
            <a:r>
              <a:rPr lang="en-US" altLang="ko-KR" sz="11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, </a:t>
            </a:r>
            <a:r>
              <a:rPr lang="en-US" altLang="ko-KR" sz="11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BorderLayout.NORTH</a:t>
            </a:r>
            <a:r>
              <a:rPr lang="en-US" altLang="ko-KR" sz="11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); </a:t>
            </a:r>
            <a:endParaRPr lang="ko-KR" altLang="en-US" sz="1100" dirty="0">
              <a:latin typeface="메이플스토리" panose="02000300000000000000" pitchFamily="2" charset="-127"/>
              <a:ea typeface="메이플스토리" panose="02000300000000000000" pitchFamily="2" charset="-127"/>
            </a:endParaRPr>
          </a:p>
          <a:p>
            <a:pPr defTabSz="180000"/>
            <a:r>
              <a:rPr lang="en-US" altLang="ko-KR" sz="11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	</a:t>
            </a:r>
            <a:r>
              <a:rPr lang="en-US" altLang="ko-KR" sz="11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c.add</a:t>
            </a:r>
            <a:r>
              <a:rPr lang="en-US" altLang="ko-KR" sz="11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</a:t>
            </a:r>
            <a:r>
              <a:rPr lang="en-US" altLang="ko-KR" sz="11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imageLabel</a:t>
            </a:r>
            <a:r>
              <a:rPr lang="en-US" altLang="ko-KR" sz="11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, </a:t>
            </a:r>
            <a:r>
              <a:rPr lang="en-US" altLang="ko-KR" sz="11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BorderLayout.CENTER</a:t>
            </a:r>
            <a:r>
              <a:rPr lang="en-US" altLang="ko-KR" sz="11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);</a:t>
            </a:r>
            <a:endParaRPr lang="ko-KR" altLang="en-US" sz="1100" dirty="0">
              <a:latin typeface="메이플스토리" panose="02000300000000000000" pitchFamily="2" charset="-127"/>
              <a:ea typeface="메이플스토리" panose="02000300000000000000" pitchFamily="2" charset="-127"/>
            </a:endParaRPr>
          </a:p>
          <a:p>
            <a:pPr defTabSz="180000"/>
            <a:r>
              <a:rPr lang="en-US" altLang="ko-KR" sz="11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	</a:t>
            </a:r>
            <a:r>
              <a:rPr lang="en-US" altLang="ko-KR" sz="11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imageLabel.setHorizontalAlignment</a:t>
            </a:r>
            <a:r>
              <a:rPr lang="en-US" altLang="ko-KR" sz="11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</a:t>
            </a:r>
            <a:r>
              <a:rPr lang="en-US" altLang="ko-KR" sz="11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SwingConstants.CENTER</a:t>
            </a:r>
            <a:r>
              <a:rPr lang="en-US" altLang="ko-KR" sz="11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); </a:t>
            </a:r>
            <a:endParaRPr lang="ko-KR" altLang="en-US" sz="1100" dirty="0">
              <a:latin typeface="메이플스토리" panose="02000300000000000000" pitchFamily="2" charset="-127"/>
              <a:ea typeface="메이플스토리" panose="02000300000000000000" pitchFamily="2" charset="-127"/>
            </a:endParaRPr>
          </a:p>
          <a:p>
            <a:pPr defTabSz="180000"/>
            <a:r>
              <a:rPr lang="en-US" altLang="ko-KR" sz="11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	</a:t>
            </a:r>
            <a:r>
              <a:rPr lang="en-US" altLang="ko-KR" sz="11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setSize</a:t>
            </a:r>
            <a:r>
              <a:rPr lang="en-US" altLang="ko-KR" sz="11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(250,200);</a:t>
            </a:r>
          </a:p>
          <a:p>
            <a:pPr defTabSz="180000"/>
            <a:r>
              <a:rPr lang="en-US" altLang="ko-KR" sz="11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	</a:t>
            </a:r>
            <a:r>
              <a:rPr lang="en-US" altLang="ko-KR" sz="11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setVisible</a:t>
            </a:r>
            <a:r>
              <a:rPr lang="en-US" altLang="ko-KR" sz="11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(true);</a:t>
            </a:r>
          </a:p>
          <a:p>
            <a:pPr defTabSz="180000"/>
            <a:r>
              <a:rPr lang="en-US" altLang="ko-KR" sz="11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}</a:t>
            </a:r>
          </a:p>
        </p:txBody>
      </p:sp>
      <p:sp>
        <p:nvSpPr>
          <p:cNvPr id="38" name="모서리가 둥근 사각형 설명선 37"/>
          <p:cNvSpPr/>
          <p:nvPr/>
        </p:nvSpPr>
        <p:spPr>
          <a:xfrm>
            <a:off x="5508104" y="5085184"/>
            <a:ext cx="1605053" cy="783193"/>
          </a:xfrm>
          <a:prstGeom prst="wedgeRoundRectCallout">
            <a:avLst>
              <a:gd name="adj1" fmla="val -216438"/>
              <a:gd name="adj2" fmla="val -21111"/>
              <a:gd name="adj3" fmla="val 16667"/>
            </a:avLst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10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setSelected</a:t>
            </a:r>
            <a:r>
              <a:rPr lang="en-US" altLang="ko-KR" sz="10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(true) </a:t>
            </a:r>
            <a:r>
              <a:rPr lang="ko-KR" altLang="en-US" sz="10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호출로 인해 </a:t>
            </a:r>
            <a:r>
              <a:rPr lang="en-US" altLang="ko-KR" sz="10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Item </a:t>
            </a:r>
            <a:r>
              <a:rPr lang="ko-KR" altLang="en-US" sz="10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이벤트가</a:t>
            </a:r>
            <a:r>
              <a:rPr lang="en-US" altLang="ko-KR" sz="10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 </a:t>
            </a:r>
            <a:r>
              <a:rPr lang="ko-KR" altLang="en-US" sz="10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발생하며 해당하는 이미지 출력됨</a:t>
            </a:r>
            <a:endParaRPr lang="en-US" altLang="ko-KR" sz="1000" dirty="0">
              <a:latin typeface="메이플스토리" panose="02000300000000000000" pitchFamily="2" charset="-127"/>
              <a:ea typeface="메이플스토리" panose="020003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49331396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예제 </a:t>
            </a:r>
            <a:r>
              <a:rPr lang="en-US" altLang="ko-KR" dirty="0"/>
              <a:t>11-7 </a:t>
            </a:r>
            <a:r>
              <a:rPr lang="ko-KR" altLang="en-US" dirty="0"/>
              <a:t>실행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2464" y="3854301"/>
            <a:ext cx="79380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초기화면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54232" y="3854301"/>
            <a:ext cx="153439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"</a:t>
            </a:r>
            <a:r>
              <a:rPr lang="ko-KR" altLang="en-US" sz="14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배</a:t>
            </a:r>
            <a:r>
              <a:rPr lang="en-US" altLang="ko-KR" sz="14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"</a:t>
            </a:r>
            <a:r>
              <a:rPr lang="ko-KR" altLang="en-US" sz="14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를 선택한 경우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26000" y="3854301"/>
            <a:ext cx="168507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"</a:t>
            </a:r>
            <a:r>
              <a:rPr lang="ko-KR" altLang="en-US" sz="14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사과</a:t>
            </a:r>
            <a:r>
              <a:rPr lang="en-US" altLang="ko-KR" sz="14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"</a:t>
            </a:r>
            <a:r>
              <a:rPr lang="ko-KR" altLang="en-US" sz="14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를 선택한 경우</a:t>
            </a:r>
          </a:p>
        </p:txBody>
      </p:sp>
      <p:sp>
        <p:nvSpPr>
          <p:cNvPr id="10" name="슬라이드 번호 개체 틀 9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77500" lnSpcReduction="20000"/>
          </a:bodyPr>
          <a:lstStyle/>
          <a:p>
            <a:fld id="{1A6BD2C2-3D3B-4E94-BD92-61B02C5F4DEE}" type="slidenum">
              <a:rPr lang="ko-KR" altLang="en-US" smtClean="0"/>
              <a:pPr/>
              <a:t>22</a:t>
            </a:fld>
            <a:endParaRPr lang="ko-KR" altLang="en-US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82857" y="1844824"/>
            <a:ext cx="2363929" cy="1937052"/>
          </a:xfrm>
          <a:prstGeom prst="rect">
            <a:avLst/>
          </a:prstGeom>
          <a:ln>
            <a:solidFill>
              <a:schemeClr val="accent1">
                <a:lumMod val="75000"/>
              </a:schemeClr>
            </a:solidFill>
          </a:ln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7874" y="1844824"/>
            <a:ext cx="2363929" cy="1937052"/>
          </a:xfrm>
          <a:prstGeom prst="rect">
            <a:avLst/>
          </a:prstGeom>
          <a:ln>
            <a:solidFill>
              <a:schemeClr val="accent1">
                <a:lumMod val="75000"/>
              </a:schemeClr>
            </a:solidFill>
          </a:ln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90202" y="1844824"/>
            <a:ext cx="2363929" cy="1937052"/>
          </a:xfrm>
          <a:prstGeom prst="rect">
            <a:avLst/>
          </a:prstGeom>
          <a:ln>
            <a:solidFill>
              <a:schemeClr val="accent1">
                <a:lumMod val="7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86553156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JTextField, </a:t>
            </a:r>
            <a:r>
              <a:rPr lang="ko-KR" altLang="en-US"/>
              <a:t>텍스트필드 컴포넌트</a:t>
            </a:r>
            <a:r>
              <a:rPr lang="en-US" altLang="ko-KR"/>
              <a:t> 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altLang="ko-KR" dirty="0" err="1"/>
              <a:t>JTextField</a:t>
            </a:r>
            <a:endParaRPr lang="en-US" altLang="ko-KR" dirty="0"/>
          </a:p>
          <a:p>
            <a:pPr lvl="1"/>
            <a:r>
              <a:rPr lang="ko-KR" altLang="en-US" dirty="0"/>
              <a:t>텍스트필드란</a:t>
            </a:r>
            <a:r>
              <a:rPr lang="en-US" altLang="ko-KR" dirty="0"/>
              <a:t>?</a:t>
            </a:r>
          </a:p>
          <a:p>
            <a:pPr lvl="2"/>
            <a:r>
              <a:rPr lang="ko-KR" altLang="en-US" dirty="0"/>
              <a:t>한</a:t>
            </a:r>
            <a:r>
              <a:rPr lang="en-US" altLang="ko-KR" dirty="0"/>
              <a:t> </a:t>
            </a:r>
            <a:r>
              <a:rPr lang="ko-KR" altLang="en-US" dirty="0"/>
              <a:t>줄 짜리 텍스트</a:t>
            </a:r>
            <a:r>
              <a:rPr lang="en-US" altLang="ko-KR" dirty="0"/>
              <a:t>(</a:t>
            </a:r>
            <a:r>
              <a:rPr lang="ko-KR" altLang="en-US" dirty="0"/>
              <a:t>문자열</a:t>
            </a:r>
            <a:r>
              <a:rPr lang="en-US" altLang="ko-KR" dirty="0"/>
              <a:t>)</a:t>
            </a:r>
            <a:r>
              <a:rPr lang="ko-KR" altLang="en-US" dirty="0"/>
              <a:t> 입력 창을 구현한 컴포넌트</a:t>
            </a:r>
            <a:endParaRPr lang="en-US" altLang="ko-KR" dirty="0"/>
          </a:p>
          <a:p>
            <a:pPr lvl="2"/>
            <a:r>
              <a:rPr lang="ko-KR" altLang="en-US" dirty="0"/>
              <a:t>텍스트 입력 도중 </a:t>
            </a:r>
            <a:r>
              <a:rPr lang="en-US" altLang="ko-KR" dirty="0"/>
              <a:t>&lt;Enter&gt;</a:t>
            </a:r>
            <a:r>
              <a:rPr lang="ko-KR" altLang="en-US" dirty="0"/>
              <a:t>키가 입력되면 </a:t>
            </a:r>
            <a:r>
              <a:rPr lang="en-US" altLang="ko-KR" dirty="0"/>
              <a:t>Action </a:t>
            </a:r>
            <a:r>
              <a:rPr lang="ko-KR" altLang="en-US" dirty="0"/>
              <a:t>이벤트 발생</a:t>
            </a:r>
            <a:endParaRPr lang="en-US" altLang="ko-KR" dirty="0"/>
          </a:p>
          <a:p>
            <a:pPr lvl="2"/>
            <a:r>
              <a:rPr lang="ko-KR" altLang="en-US" dirty="0"/>
              <a:t>입력 가능한 문자 개수와 입력 창의 크기는 서로 다름</a:t>
            </a:r>
            <a:endParaRPr lang="en-US" altLang="ko-KR" dirty="0"/>
          </a:p>
          <a:p>
            <a:r>
              <a:rPr lang="ko-KR" altLang="en-US" dirty="0" err="1"/>
              <a:t>생성자</a:t>
            </a:r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77500" lnSpcReduction="20000"/>
          </a:bodyPr>
          <a:lstStyle/>
          <a:p>
            <a:fld id="{1A6BD2C2-3D3B-4E94-BD92-61B02C5F4DEE}" type="slidenum">
              <a:rPr lang="ko-KR" altLang="en-US" smtClean="0"/>
              <a:pPr/>
              <a:t>23</a:t>
            </a:fld>
            <a:endParaRPr lang="ko-KR" altLang="en-US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600" y="3645024"/>
            <a:ext cx="7022679" cy="15203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091905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예제 </a:t>
            </a:r>
            <a:r>
              <a:rPr lang="en-US" altLang="ko-KR" dirty="0"/>
              <a:t>11-8</a:t>
            </a:r>
            <a:r>
              <a:rPr lang="ko-KR" altLang="en-US" dirty="0"/>
              <a:t> </a:t>
            </a:r>
            <a:r>
              <a:rPr lang="en-US" altLang="ko-KR" dirty="0"/>
              <a:t>: </a:t>
            </a:r>
            <a:r>
              <a:rPr lang="ko-KR" altLang="en-US" dirty="0"/>
              <a:t>간단한 텍스트 필드 만들기</a:t>
            </a:r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77500" lnSpcReduction="20000"/>
          </a:bodyPr>
          <a:lstStyle/>
          <a:p>
            <a:fld id="{1A6BD2C2-3D3B-4E94-BD92-61B02C5F4DEE}" type="slidenum">
              <a:rPr lang="ko-KR" altLang="en-US" smtClean="0"/>
              <a:pPr/>
              <a:t>24</a:t>
            </a:fld>
            <a:endParaRPr lang="ko-KR" altLang="en-US"/>
          </a:p>
        </p:txBody>
      </p:sp>
      <p:sp>
        <p:nvSpPr>
          <p:cNvPr id="6" name="직사각형 5"/>
          <p:cNvSpPr/>
          <p:nvPr/>
        </p:nvSpPr>
        <p:spPr>
          <a:xfrm>
            <a:off x="323528" y="1507378"/>
            <a:ext cx="4676530" cy="415498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defTabSz="180000"/>
            <a:r>
              <a:rPr lang="en-US" altLang="ko-KR" sz="11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import </a:t>
            </a:r>
            <a:r>
              <a:rPr lang="en-US" altLang="ko-KR" sz="11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javax.swing</a:t>
            </a:r>
            <a:r>
              <a:rPr lang="en-US" altLang="ko-KR" sz="11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.*;</a:t>
            </a:r>
          </a:p>
          <a:p>
            <a:pPr defTabSz="180000"/>
            <a:r>
              <a:rPr lang="en-US" altLang="ko-KR" sz="11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import </a:t>
            </a:r>
            <a:r>
              <a:rPr lang="en-US" altLang="ko-KR" sz="11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java.awt</a:t>
            </a:r>
            <a:r>
              <a:rPr lang="en-US" altLang="ko-KR" sz="11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.*;</a:t>
            </a:r>
          </a:p>
          <a:p>
            <a:pPr defTabSz="180000"/>
            <a:endParaRPr lang="en-US" altLang="ko-KR" sz="1100" dirty="0">
              <a:latin typeface="메이플스토리" panose="02000300000000000000" pitchFamily="2" charset="-127"/>
              <a:ea typeface="메이플스토리" panose="02000300000000000000" pitchFamily="2" charset="-127"/>
            </a:endParaRPr>
          </a:p>
          <a:p>
            <a:pPr defTabSz="180000"/>
            <a:r>
              <a:rPr lang="en-US" altLang="ko-KR" sz="1100" b="1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public class </a:t>
            </a:r>
            <a:r>
              <a:rPr lang="en-US" altLang="ko-KR" sz="1100" b="1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TextFieldEx</a:t>
            </a:r>
            <a:r>
              <a:rPr lang="en-US" altLang="ko-KR" sz="1100" b="1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 extends </a:t>
            </a:r>
            <a:r>
              <a:rPr lang="en-US" altLang="ko-KR" sz="1100" b="1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JFrame</a:t>
            </a:r>
            <a:r>
              <a:rPr lang="en-US" altLang="ko-KR" sz="1100" b="1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 </a:t>
            </a:r>
            <a:r>
              <a:rPr lang="en-US" altLang="ko-KR" sz="11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{</a:t>
            </a:r>
          </a:p>
          <a:p>
            <a:pPr defTabSz="180000"/>
            <a:r>
              <a:rPr lang="en-US" altLang="ko-KR" sz="11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public </a:t>
            </a:r>
            <a:r>
              <a:rPr lang="en-US" altLang="ko-KR" sz="11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TextFieldEx</a:t>
            </a:r>
            <a:r>
              <a:rPr lang="en-US" altLang="ko-KR" sz="11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() {</a:t>
            </a:r>
          </a:p>
          <a:p>
            <a:pPr defTabSz="180000"/>
            <a:r>
              <a:rPr lang="en-US" altLang="ko-KR" sz="11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	</a:t>
            </a:r>
            <a:r>
              <a:rPr lang="en-US" altLang="ko-KR" sz="11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setTitle</a:t>
            </a:r>
            <a:r>
              <a:rPr lang="en-US" altLang="ko-KR" sz="11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("</a:t>
            </a:r>
            <a:r>
              <a:rPr lang="ko-KR" altLang="en-US" sz="11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텍스트필드 만들기 예제</a:t>
            </a:r>
            <a:r>
              <a:rPr lang="en-US" altLang="ko-KR" sz="11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");</a:t>
            </a:r>
          </a:p>
          <a:p>
            <a:pPr defTabSz="180000"/>
            <a:r>
              <a:rPr lang="en-US" altLang="ko-KR" sz="11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	</a:t>
            </a:r>
            <a:r>
              <a:rPr lang="en-US" altLang="ko-KR" sz="11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setDefaultCloseOperation</a:t>
            </a:r>
            <a:r>
              <a:rPr lang="en-US" altLang="ko-KR" sz="11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</a:t>
            </a:r>
            <a:r>
              <a:rPr lang="en-US" altLang="ko-KR" sz="11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JFrame.EXIT_ON_CLOSE</a:t>
            </a:r>
            <a:r>
              <a:rPr lang="en-US" altLang="ko-KR" sz="11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);</a:t>
            </a:r>
          </a:p>
          <a:p>
            <a:pPr defTabSz="180000"/>
            <a:r>
              <a:rPr lang="en-US" altLang="ko-KR" sz="11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	Container c = </a:t>
            </a:r>
            <a:r>
              <a:rPr lang="en-US" altLang="ko-KR" sz="11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getContentPane</a:t>
            </a:r>
            <a:r>
              <a:rPr lang="en-US" altLang="ko-KR" sz="11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();</a:t>
            </a:r>
          </a:p>
          <a:p>
            <a:pPr defTabSz="180000"/>
            <a:r>
              <a:rPr lang="en-US" altLang="ko-KR" sz="11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	</a:t>
            </a:r>
            <a:r>
              <a:rPr lang="en-US" altLang="ko-KR" sz="11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c.setLayout</a:t>
            </a:r>
            <a:r>
              <a:rPr lang="en-US" altLang="ko-KR" sz="11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(new </a:t>
            </a:r>
            <a:r>
              <a:rPr lang="en-US" altLang="ko-KR" sz="11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FlowLayout</a:t>
            </a:r>
            <a:r>
              <a:rPr lang="en-US" altLang="ko-KR" sz="11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());</a:t>
            </a:r>
          </a:p>
          <a:p>
            <a:pPr defTabSz="180000"/>
            <a:r>
              <a:rPr lang="en-US" altLang="ko-KR" sz="11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	</a:t>
            </a:r>
          </a:p>
          <a:p>
            <a:pPr defTabSz="180000"/>
            <a:r>
              <a:rPr lang="en-US" altLang="ko-KR" sz="11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	</a:t>
            </a:r>
            <a:r>
              <a:rPr lang="en-US" altLang="ko-KR" sz="11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c.add</a:t>
            </a:r>
            <a:r>
              <a:rPr lang="en-US" altLang="ko-KR" sz="11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(new </a:t>
            </a:r>
            <a:r>
              <a:rPr lang="en-US" altLang="ko-KR" sz="11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JLabel</a:t>
            </a:r>
            <a:r>
              <a:rPr lang="en-US" altLang="ko-KR" sz="11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("</a:t>
            </a:r>
            <a:r>
              <a:rPr lang="ko-KR" altLang="en-US" sz="11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이름 </a:t>
            </a:r>
            <a:r>
              <a:rPr lang="en-US" altLang="ko-KR" sz="11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"));</a:t>
            </a:r>
          </a:p>
          <a:p>
            <a:pPr defTabSz="180000"/>
            <a:r>
              <a:rPr lang="en-US" altLang="ko-KR" sz="11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	</a:t>
            </a:r>
            <a:r>
              <a:rPr lang="en-US" altLang="ko-KR" sz="11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c.add</a:t>
            </a:r>
            <a:r>
              <a:rPr lang="en-US" altLang="ko-KR" sz="11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</a:t>
            </a:r>
            <a:r>
              <a:rPr lang="en-US" altLang="ko-KR" sz="1100" b="1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new </a:t>
            </a:r>
            <a:r>
              <a:rPr lang="en-US" altLang="ko-KR" sz="1100" b="1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JTextField</a:t>
            </a:r>
            <a:r>
              <a:rPr lang="en-US" altLang="ko-KR" sz="1100" b="1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(20)</a:t>
            </a:r>
            <a:r>
              <a:rPr lang="en-US" altLang="ko-KR" sz="11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);</a:t>
            </a:r>
          </a:p>
          <a:p>
            <a:pPr defTabSz="180000"/>
            <a:r>
              <a:rPr lang="en-US" altLang="ko-KR" sz="11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	</a:t>
            </a:r>
            <a:r>
              <a:rPr lang="en-US" altLang="ko-KR" sz="11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c.add</a:t>
            </a:r>
            <a:r>
              <a:rPr lang="en-US" altLang="ko-KR" sz="11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(new </a:t>
            </a:r>
            <a:r>
              <a:rPr lang="en-US" altLang="ko-KR" sz="11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JLabel</a:t>
            </a:r>
            <a:r>
              <a:rPr lang="en-US" altLang="ko-KR" sz="11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("</a:t>
            </a:r>
            <a:r>
              <a:rPr lang="ko-KR" altLang="en-US" sz="11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학과 </a:t>
            </a:r>
            <a:r>
              <a:rPr lang="en-US" altLang="ko-KR" sz="11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"));</a:t>
            </a:r>
          </a:p>
          <a:p>
            <a:pPr defTabSz="180000"/>
            <a:r>
              <a:rPr lang="en-US" altLang="ko-KR" sz="11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	</a:t>
            </a:r>
            <a:r>
              <a:rPr lang="en-US" altLang="ko-KR" sz="11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c.add</a:t>
            </a:r>
            <a:r>
              <a:rPr lang="en-US" altLang="ko-KR" sz="11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</a:t>
            </a:r>
            <a:r>
              <a:rPr lang="en-US" altLang="ko-KR" sz="1100" b="1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new </a:t>
            </a:r>
            <a:r>
              <a:rPr lang="en-US" altLang="ko-KR" sz="1100" b="1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JTextField</a:t>
            </a:r>
            <a:r>
              <a:rPr lang="en-US" altLang="ko-KR" sz="1100" b="1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("</a:t>
            </a:r>
            <a:r>
              <a:rPr lang="ko-KR" altLang="en-US" sz="1100" b="1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컴퓨터공학과 </a:t>
            </a:r>
            <a:r>
              <a:rPr lang="en-US" altLang="ko-KR" sz="1100" b="1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", 20)</a:t>
            </a:r>
            <a:r>
              <a:rPr lang="en-US" altLang="ko-KR" sz="11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);</a:t>
            </a:r>
          </a:p>
          <a:p>
            <a:pPr defTabSz="180000"/>
            <a:r>
              <a:rPr lang="en-US" altLang="ko-KR" sz="11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	</a:t>
            </a:r>
            <a:r>
              <a:rPr lang="en-US" altLang="ko-KR" sz="11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c.add</a:t>
            </a:r>
            <a:r>
              <a:rPr lang="en-US" altLang="ko-KR" sz="11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(new </a:t>
            </a:r>
            <a:r>
              <a:rPr lang="en-US" altLang="ko-KR" sz="11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JLabel</a:t>
            </a:r>
            <a:r>
              <a:rPr lang="en-US" altLang="ko-KR" sz="11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("</a:t>
            </a:r>
            <a:r>
              <a:rPr lang="ko-KR" altLang="en-US" sz="11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주소 </a:t>
            </a:r>
            <a:r>
              <a:rPr lang="en-US" altLang="ko-KR" sz="11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"));</a:t>
            </a:r>
          </a:p>
          <a:p>
            <a:pPr defTabSz="180000"/>
            <a:r>
              <a:rPr lang="en-US" altLang="ko-KR" sz="11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	</a:t>
            </a:r>
            <a:r>
              <a:rPr lang="en-US" altLang="ko-KR" sz="11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c.add</a:t>
            </a:r>
            <a:r>
              <a:rPr lang="en-US" altLang="ko-KR" sz="11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</a:t>
            </a:r>
            <a:r>
              <a:rPr lang="en-US" altLang="ko-KR" sz="1100" b="1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new </a:t>
            </a:r>
            <a:r>
              <a:rPr lang="en-US" altLang="ko-KR" sz="1100" b="1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JTextField</a:t>
            </a:r>
            <a:r>
              <a:rPr lang="en-US" altLang="ko-KR" sz="1100" b="1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("</a:t>
            </a:r>
            <a:r>
              <a:rPr lang="ko-KR" altLang="en-US" sz="1100" b="1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서울시 </a:t>
            </a:r>
            <a:r>
              <a:rPr lang="en-US" altLang="ko-KR" sz="1100" b="1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...", 20)</a:t>
            </a:r>
            <a:r>
              <a:rPr lang="en-US" altLang="ko-KR" sz="11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);</a:t>
            </a:r>
          </a:p>
          <a:p>
            <a:pPr defTabSz="180000"/>
            <a:endParaRPr lang="en-US" altLang="ko-KR" sz="1100" dirty="0">
              <a:latin typeface="메이플스토리" panose="02000300000000000000" pitchFamily="2" charset="-127"/>
              <a:ea typeface="메이플스토리" panose="02000300000000000000" pitchFamily="2" charset="-127"/>
            </a:endParaRPr>
          </a:p>
          <a:p>
            <a:pPr defTabSz="180000"/>
            <a:r>
              <a:rPr lang="en-US" altLang="ko-KR" sz="11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	</a:t>
            </a:r>
            <a:r>
              <a:rPr lang="en-US" altLang="ko-KR" sz="11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setSize</a:t>
            </a:r>
            <a:r>
              <a:rPr lang="en-US" altLang="ko-KR" sz="11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(300,150);</a:t>
            </a:r>
          </a:p>
          <a:p>
            <a:pPr defTabSz="180000"/>
            <a:r>
              <a:rPr lang="en-US" altLang="ko-KR" sz="11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	</a:t>
            </a:r>
            <a:r>
              <a:rPr lang="en-US" altLang="ko-KR" sz="11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setVisible</a:t>
            </a:r>
            <a:r>
              <a:rPr lang="en-US" altLang="ko-KR" sz="11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(true);</a:t>
            </a:r>
          </a:p>
          <a:p>
            <a:pPr defTabSz="180000"/>
            <a:r>
              <a:rPr lang="en-US" altLang="ko-KR" sz="11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}</a:t>
            </a:r>
          </a:p>
          <a:p>
            <a:pPr defTabSz="180000"/>
            <a:r>
              <a:rPr lang="en-US" altLang="ko-KR" sz="11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public static void main(String [] </a:t>
            </a:r>
            <a:r>
              <a:rPr lang="en-US" altLang="ko-KR" sz="11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args</a:t>
            </a:r>
            <a:r>
              <a:rPr lang="en-US" altLang="ko-KR" sz="11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) {</a:t>
            </a:r>
          </a:p>
          <a:p>
            <a:pPr defTabSz="180000"/>
            <a:r>
              <a:rPr lang="en-US" altLang="ko-KR" sz="11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	new </a:t>
            </a:r>
            <a:r>
              <a:rPr lang="en-US" altLang="ko-KR" sz="11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TextFieldEx</a:t>
            </a:r>
            <a:r>
              <a:rPr lang="en-US" altLang="ko-KR" sz="11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();</a:t>
            </a:r>
          </a:p>
          <a:p>
            <a:pPr defTabSz="180000"/>
            <a:r>
              <a:rPr lang="en-US" altLang="ko-KR" sz="11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}</a:t>
            </a:r>
          </a:p>
          <a:p>
            <a:pPr defTabSz="180000"/>
            <a:r>
              <a:rPr lang="en-US" altLang="ko-KR" sz="11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12792" y="3330954"/>
            <a:ext cx="116596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초기화면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04191" y="5389964"/>
            <a:ext cx="231467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사용자가 입력한 경우</a:t>
            </a: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70702" y="1790119"/>
            <a:ext cx="2996728" cy="1498363"/>
          </a:xfrm>
          <a:prstGeom prst="rect">
            <a:avLst/>
          </a:prstGeom>
          <a:ln>
            <a:solidFill>
              <a:schemeClr val="accent1">
                <a:lumMod val="75000"/>
              </a:schemeClr>
            </a:solidFill>
          </a:ln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70701" y="3879806"/>
            <a:ext cx="2996728" cy="1498363"/>
          </a:xfrm>
          <a:prstGeom prst="rect">
            <a:avLst/>
          </a:prstGeom>
          <a:ln>
            <a:solidFill>
              <a:schemeClr val="accent1">
                <a:lumMod val="7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04209894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JTextField</a:t>
            </a:r>
            <a:r>
              <a:rPr lang="ko-KR" altLang="en-US" dirty="0"/>
              <a:t>의</a:t>
            </a:r>
            <a:r>
              <a:rPr lang="en-US" altLang="ko-KR" dirty="0"/>
              <a:t> </a:t>
            </a:r>
            <a:r>
              <a:rPr lang="ko-KR" altLang="en-US" dirty="0"/>
              <a:t>주요 </a:t>
            </a:r>
            <a:r>
              <a:rPr lang="ko-KR" altLang="en-US" dirty="0" err="1"/>
              <a:t>메소드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ko-KR" altLang="en-US" dirty="0"/>
              <a:t>문자열 편집 불가능하게 하기</a:t>
            </a:r>
            <a:endParaRPr lang="en-US" altLang="ko-KR" dirty="0"/>
          </a:p>
          <a:p>
            <a:pPr lvl="1"/>
            <a:r>
              <a:rPr lang="en-US" altLang="ko-KR" dirty="0" err="1"/>
              <a:t>JTextField.setEditable</a:t>
            </a:r>
            <a:r>
              <a:rPr lang="en-US" altLang="ko-KR" dirty="0"/>
              <a:t>(false);</a:t>
            </a:r>
          </a:p>
          <a:p>
            <a:r>
              <a:rPr lang="ko-KR" altLang="en-US" dirty="0"/>
              <a:t>입력 창에 문자열 출력</a:t>
            </a:r>
            <a:endParaRPr lang="en-US" altLang="ko-KR" dirty="0"/>
          </a:p>
          <a:p>
            <a:pPr lvl="1"/>
            <a:r>
              <a:rPr lang="en-US" altLang="ko-KR" dirty="0" err="1"/>
              <a:t>JTextField.setText</a:t>
            </a:r>
            <a:r>
              <a:rPr lang="en-US" altLang="ko-KR" dirty="0"/>
              <a:t>("hello");</a:t>
            </a:r>
          </a:p>
          <a:p>
            <a:r>
              <a:rPr lang="ko-KR" altLang="en-US" dirty="0"/>
              <a:t>문자열의 폰트 지정</a:t>
            </a:r>
            <a:endParaRPr lang="en-US" altLang="ko-KR" dirty="0"/>
          </a:p>
          <a:p>
            <a:pPr lvl="1"/>
            <a:r>
              <a:rPr lang="en-US" altLang="ko-KR" dirty="0" err="1"/>
              <a:t>JTextField.setFont</a:t>
            </a:r>
            <a:r>
              <a:rPr lang="en-US" altLang="ko-KR" dirty="0"/>
              <a:t>(new Font("</a:t>
            </a:r>
            <a:r>
              <a:rPr lang="ko-KR" altLang="en-US" dirty="0"/>
              <a:t>고딕체</a:t>
            </a:r>
            <a:r>
              <a:rPr lang="en-US" altLang="ko-KR" dirty="0"/>
              <a:t>", </a:t>
            </a:r>
            <a:r>
              <a:rPr lang="en-US" altLang="ko-KR" dirty="0" err="1"/>
              <a:t>Font.ITALIC</a:t>
            </a:r>
            <a:r>
              <a:rPr lang="en-US" altLang="ko-KR" dirty="0"/>
              <a:t>, 20);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77500" lnSpcReduction="20000"/>
          </a:bodyPr>
          <a:lstStyle/>
          <a:p>
            <a:fld id="{1A6BD2C2-3D3B-4E94-BD92-61B02C5F4DEE}" type="slidenum">
              <a:rPr lang="ko-KR" altLang="en-US" smtClean="0"/>
              <a:pPr/>
              <a:t>25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6915674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TextArea, </a:t>
            </a:r>
            <a:r>
              <a:rPr lang="ko-KR" altLang="en-US"/>
              <a:t>텍스트영역</a:t>
            </a:r>
            <a:r>
              <a:rPr lang="en-US" altLang="ko-KR"/>
              <a:t> </a:t>
            </a:r>
            <a:r>
              <a:rPr lang="ko-KR" altLang="en-US"/>
              <a:t>컴포넌트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altLang="ko-KR" dirty="0" err="1"/>
              <a:t>JTextArea</a:t>
            </a:r>
            <a:endParaRPr lang="en-US" altLang="ko-KR" dirty="0"/>
          </a:p>
          <a:p>
            <a:pPr lvl="1"/>
            <a:r>
              <a:rPr lang="ko-KR" altLang="en-US" dirty="0"/>
              <a:t>텍스트영역이란</a:t>
            </a:r>
            <a:r>
              <a:rPr lang="en-US" altLang="ko-KR" dirty="0"/>
              <a:t>?</a:t>
            </a:r>
          </a:p>
          <a:p>
            <a:pPr lvl="2"/>
            <a:r>
              <a:rPr lang="ko-KR" altLang="en-US" dirty="0"/>
              <a:t>여러 줄을 입력할 수 있는 텍스트 입력 창</a:t>
            </a:r>
            <a:endParaRPr lang="en-US" altLang="ko-KR" dirty="0"/>
          </a:p>
          <a:p>
            <a:pPr lvl="2"/>
            <a:r>
              <a:rPr lang="en-US" altLang="ko-KR" dirty="0" err="1"/>
              <a:t>JScrollPane</a:t>
            </a:r>
            <a:r>
              <a:rPr lang="en-US" altLang="ko-KR" dirty="0"/>
              <a:t> </a:t>
            </a:r>
            <a:r>
              <a:rPr lang="ko-KR" altLang="en-US" dirty="0"/>
              <a:t>컴포넌트에 삽입하면 </a:t>
            </a:r>
            <a:r>
              <a:rPr lang="ko-KR" altLang="en-US" dirty="0" err="1"/>
              <a:t>스크롤바</a:t>
            </a:r>
            <a:r>
              <a:rPr lang="ko-KR" altLang="en-US" dirty="0"/>
              <a:t> 지원됨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 err="1"/>
              <a:t>생성자</a:t>
            </a:r>
            <a:endParaRPr lang="en-US" altLang="ko-KR" dirty="0"/>
          </a:p>
          <a:p>
            <a:pPr lvl="1"/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77500" lnSpcReduction="20000"/>
          </a:bodyPr>
          <a:lstStyle/>
          <a:p>
            <a:fld id="{1A6BD2C2-3D3B-4E94-BD92-61B02C5F4DEE}" type="slidenum">
              <a:rPr lang="ko-KR" altLang="en-US" smtClean="0"/>
              <a:pPr/>
              <a:t>26</a:t>
            </a:fld>
            <a:endParaRPr lang="ko-KR" altLang="en-US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3608" y="3809904"/>
            <a:ext cx="6758977" cy="14913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808080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스크롤 가능한 텍스트영역 만들기</a:t>
            </a:r>
          </a:p>
        </p:txBody>
      </p:sp>
      <p:grpSp>
        <p:nvGrpSpPr>
          <p:cNvPr id="6" name="그룹 5"/>
          <p:cNvGrpSpPr/>
          <p:nvPr/>
        </p:nvGrpSpPr>
        <p:grpSpPr>
          <a:xfrm>
            <a:off x="1393511" y="1601299"/>
            <a:ext cx="7400691" cy="2567526"/>
            <a:chOff x="1393511" y="1601299"/>
            <a:chExt cx="7400691" cy="2567526"/>
          </a:xfrm>
        </p:grpSpPr>
        <p:pic>
          <p:nvPicPr>
            <p:cNvPr id="5" name="그림 4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817111" y="1601299"/>
              <a:ext cx="2623961" cy="1772648"/>
            </a:xfrm>
            <a:prstGeom prst="rect">
              <a:avLst/>
            </a:prstGeom>
            <a:ln>
              <a:solidFill>
                <a:schemeClr val="accent1">
                  <a:lumMod val="75000"/>
                </a:schemeClr>
              </a:solidFill>
            </a:ln>
          </p:spPr>
        </p:pic>
        <p:pic>
          <p:nvPicPr>
            <p:cNvPr id="4" name="그림 3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93511" y="1601299"/>
              <a:ext cx="2623961" cy="1772648"/>
            </a:xfrm>
            <a:prstGeom prst="rect">
              <a:avLst/>
            </a:prstGeom>
            <a:ln>
              <a:solidFill>
                <a:schemeClr val="accent1">
                  <a:lumMod val="75000"/>
                </a:schemeClr>
              </a:solidFill>
            </a:ln>
          </p:spPr>
        </p:pic>
        <p:sp>
          <p:nvSpPr>
            <p:cNvPr id="8" name="오른쪽 중괄호 7"/>
            <p:cNvSpPr/>
            <p:nvPr/>
          </p:nvSpPr>
          <p:spPr>
            <a:xfrm>
              <a:off x="3802873" y="1834412"/>
              <a:ext cx="285752" cy="1222857"/>
            </a:xfrm>
            <a:prstGeom prst="rightBrace">
              <a:avLst>
                <a:gd name="adj1" fmla="val 58333"/>
                <a:gd name="adj2" fmla="val 50000"/>
              </a:avLst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메이플스토리" panose="02000300000000000000" pitchFamily="2" charset="-127"/>
                <a:ea typeface="메이플스토리" panose="02000300000000000000" pitchFamily="2" charset="-127"/>
              </a:endParaRP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4095928" y="2291951"/>
              <a:ext cx="47320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400" dirty="0">
                  <a:solidFill>
                    <a:srgbClr val="C00000"/>
                  </a:solidFill>
                  <a:latin typeface="메이플스토리" panose="02000300000000000000" pitchFamily="2" charset="-127"/>
                  <a:ea typeface="메이플스토리" panose="02000300000000000000" pitchFamily="2" charset="-127"/>
                </a:rPr>
                <a:t>7 </a:t>
              </a:r>
              <a:r>
                <a:rPr lang="ko-KR" altLang="en-US" sz="1400" dirty="0">
                  <a:solidFill>
                    <a:srgbClr val="C00000"/>
                  </a:solidFill>
                  <a:latin typeface="메이플스토리" panose="02000300000000000000" pitchFamily="2" charset="-127"/>
                  <a:ea typeface="메이플스토리" panose="02000300000000000000" pitchFamily="2" charset="-127"/>
                </a:rPr>
                <a:t>줄</a:t>
              </a:r>
            </a:p>
          </p:txBody>
        </p:sp>
        <p:sp>
          <p:nvSpPr>
            <p:cNvPr id="10" name="오른쪽 중괄호 9"/>
            <p:cNvSpPr/>
            <p:nvPr/>
          </p:nvSpPr>
          <p:spPr>
            <a:xfrm rot="5400000">
              <a:off x="2562616" y="2200014"/>
              <a:ext cx="285752" cy="2000264"/>
            </a:xfrm>
            <a:prstGeom prst="rightBrace">
              <a:avLst>
                <a:gd name="adj1" fmla="val 58333"/>
                <a:gd name="adj2" fmla="val 50000"/>
              </a:avLst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메이플스토리" panose="02000300000000000000" pitchFamily="2" charset="-127"/>
                <a:ea typeface="메이플스토리" panose="02000300000000000000" pitchFamily="2" charset="-127"/>
              </a:endParaRP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2339752" y="3343023"/>
              <a:ext cx="766557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400" dirty="0">
                  <a:solidFill>
                    <a:srgbClr val="C00000"/>
                  </a:solidFill>
                  <a:latin typeface="메이플스토리" panose="02000300000000000000" pitchFamily="2" charset="-127"/>
                  <a:ea typeface="메이플스토리" panose="02000300000000000000" pitchFamily="2" charset="-127"/>
                </a:rPr>
                <a:t>20 </a:t>
              </a:r>
              <a:r>
                <a:rPr lang="ko-KR" altLang="en-US" sz="1400" dirty="0">
                  <a:solidFill>
                    <a:srgbClr val="C00000"/>
                  </a:solidFill>
                  <a:latin typeface="메이플스토리" panose="02000300000000000000" pitchFamily="2" charset="-127"/>
                  <a:ea typeface="메이플스토리" panose="02000300000000000000" pitchFamily="2" charset="-127"/>
                </a:rPr>
                <a:t>문자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1579110" y="3861048"/>
              <a:ext cx="274010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400" dirty="0">
                  <a:latin typeface="메이플스토리" panose="02000300000000000000" pitchFamily="2" charset="-127"/>
                  <a:ea typeface="메이플스토리" panose="02000300000000000000" pitchFamily="2" charset="-127"/>
                </a:rPr>
                <a:t>new </a:t>
              </a:r>
              <a:r>
                <a:rPr lang="en-US" altLang="ko-KR" sz="1400" dirty="0" err="1">
                  <a:latin typeface="메이플스토리" panose="02000300000000000000" pitchFamily="2" charset="-127"/>
                  <a:ea typeface="메이플스토리" panose="02000300000000000000" pitchFamily="2" charset="-127"/>
                </a:rPr>
                <a:t>JTextArea</a:t>
              </a:r>
              <a:r>
                <a:rPr lang="en-US" altLang="ko-KR" sz="1400" dirty="0">
                  <a:latin typeface="메이플스토리" panose="02000300000000000000" pitchFamily="2" charset="-127"/>
                  <a:ea typeface="메이플스토리" panose="02000300000000000000" pitchFamily="2" charset="-127"/>
                </a:rPr>
                <a:t>(“hello”, 7, 20);</a:t>
              </a:r>
              <a:endParaRPr lang="ko-KR" altLang="en-US" sz="1400" dirty="0">
                <a:latin typeface="메이플스토리" panose="02000300000000000000" pitchFamily="2" charset="-127"/>
                <a:ea typeface="메이플스토리" panose="02000300000000000000" pitchFamily="2" charset="-127"/>
              </a:endParaRPr>
            </a:p>
          </p:txBody>
        </p:sp>
        <p:sp>
          <p:nvSpPr>
            <p:cNvPr id="15" name="자유형 14"/>
            <p:cNvSpPr/>
            <p:nvPr/>
          </p:nvSpPr>
          <p:spPr>
            <a:xfrm>
              <a:off x="3236690" y="2834544"/>
              <a:ext cx="259080" cy="1098511"/>
            </a:xfrm>
            <a:custGeom>
              <a:avLst/>
              <a:gdLst>
                <a:gd name="connsiteX0" fmla="*/ 91440 w 259080"/>
                <a:gd name="connsiteY0" fmla="*/ 762000 h 762000"/>
                <a:gd name="connsiteX1" fmla="*/ 243840 w 259080"/>
                <a:gd name="connsiteY1" fmla="*/ 508000 h 762000"/>
                <a:gd name="connsiteX2" fmla="*/ 0 w 259080"/>
                <a:gd name="connsiteY2" fmla="*/ 0 h 762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59080" h="762000">
                  <a:moveTo>
                    <a:pt x="91440" y="762000"/>
                  </a:moveTo>
                  <a:cubicBezTo>
                    <a:pt x="175260" y="698500"/>
                    <a:pt x="259080" y="635000"/>
                    <a:pt x="243840" y="508000"/>
                  </a:cubicBezTo>
                  <a:cubicBezTo>
                    <a:pt x="228600" y="381000"/>
                    <a:pt x="114300" y="190500"/>
                    <a:pt x="0" y="0"/>
                  </a:cubicBezTo>
                </a:path>
              </a:pathLst>
            </a:custGeom>
            <a:ln>
              <a:solidFill>
                <a:srgbClr val="FF0000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메이플스토리" panose="02000300000000000000" pitchFamily="2" charset="-127"/>
                <a:ea typeface="메이플스토리" panose="02000300000000000000" pitchFamily="2" charset="-127"/>
              </a:endParaRP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4503412" y="3861048"/>
              <a:ext cx="429079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400" dirty="0">
                  <a:latin typeface="메이플스토리" panose="02000300000000000000" pitchFamily="2" charset="-127"/>
                  <a:ea typeface="메이플스토리" panose="02000300000000000000" pitchFamily="2" charset="-127"/>
                </a:rPr>
                <a:t>new </a:t>
              </a:r>
              <a:r>
                <a:rPr lang="en-US" altLang="ko-KR" sz="1400" dirty="0" err="1">
                  <a:latin typeface="메이플스토리" panose="02000300000000000000" pitchFamily="2" charset="-127"/>
                  <a:ea typeface="메이플스토리" panose="02000300000000000000" pitchFamily="2" charset="-127"/>
                </a:rPr>
                <a:t>JScrollPane</a:t>
              </a:r>
              <a:r>
                <a:rPr lang="en-US" altLang="ko-KR" sz="1400" dirty="0">
                  <a:latin typeface="메이플스토리" panose="02000300000000000000" pitchFamily="2" charset="-127"/>
                  <a:ea typeface="메이플스토리" panose="02000300000000000000" pitchFamily="2" charset="-127"/>
                </a:rPr>
                <a:t>(new </a:t>
              </a:r>
              <a:r>
                <a:rPr lang="en-US" altLang="ko-KR" sz="1400" dirty="0" err="1">
                  <a:latin typeface="메이플스토리" panose="02000300000000000000" pitchFamily="2" charset="-127"/>
                  <a:ea typeface="메이플스토리" panose="02000300000000000000" pitchFamily="2" charset="-127"/>
                </a:rPr>
                <a:t>JTextArea</a:t>
              </a:r>
              <a:r>
                <a:rPr lang="en-US" altLang="ko-KR" sz="1400" dirty="0">
                  <a:latin typeface="메이플스토리" panose="02000300000000000000" pitchFamily="2" charset="-127"/>
                  <a:ea typeface="메이플스토리" panose="02000300000000000000" pitchFamily="2" charset="-127"/>
                </a:rPr>
                <a:t>(“hello”, 7, 20));</a:t>
              </a:r>
              <a:endParaRPr lang="ko-KR" altLang="en-US" sz="1400" dirty="0">
                <a:latin typeface="메이플스토리" panose="02000300000000000000" pitchFamily="2" charset="-127"/>
                <a:ea typeface="메이플스토리" panose="02000300000000000000" pitchFamily="2" charset="-127"/>
              </a:endParaRPr>
            </a:p>
          </p:txBody>
        </p:sp>
        <p:sp>
          <p:nvSpPr>
            <p:cNvPr id="19" name="자유형 18"/>
            <p:cNvSpPr/>
            <p:nvPr/>
          </p:nvSpPr>
          <p:spPr>
            <a:xfrm flipH="1">
              <a:off x="4932040" y="2466912"/>
              <a:ext cx="576064" cy="1548024"/>
            </a:xfrm>
            <a:custGeom>
              <a:avLst/>
              <a:gdLst>
                <a:gd name="connsiteX0" fmla="*/ 91440 w 259080"/>
                <a:gd name="connsiteY0" fmla="*/ 762000 h 762000"/>
                <a:gd name="connsiteX1" fmla="*/ 243840 w 259080"/>
                <a:gd name="connsiteY1" fmla="*/ 508000 h 762000"/>
                <a:gd name="connsiteX2" fmla="*/ 0 w 259080"/>
                <a:gd name="connsiteY2" fmla="*/ 0 h 762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59080" h="762000">
                  <a:moveTo>
                    <a:pt x="91440" y="762000"/>
                  </a:moveTo>
                  <a:cubicBezTo>
                    <a:pt x="175260" y="698500"/>
                    <a:pt x="259080" y="635000"/>
                    <a:pt x="243840" y="508000"/>
                  </a:cubicBezTo>
                  <a:cubicBezTo>
                    <a:pt x="228600" y="381000"/>
                    <a:pt x="114300" y="190500"/>
                    <a:pt x="0" y="0"/>
                  </a:cubicBezTo>
                </a:path>
              </a:pathLst>
            </a:custGeom>
            <a:ln>
              <a:solidFill>
                <a:srgbClr val="FF0000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메이플스토리" panose="02000300000000000000" pitchFamily="2" charset="-127"/>
                <a:ea typeface="메이플스토리" panose="02000300000000000000" pitchFamily="2" charset="-127"/>
              </a:endParaRPr>
            </a:p>
          </p:txBody>
        </p:sp>
      </p:grpSp>
      <p:sp>
        <p:nvSpPr>
          <p:cNvPr id="13" name="슬라이드 번호 개체 틀 1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77500" lnSpcReduction="20000"/>
          </a:bodyPr>
          <a:lstStyle/>
          <a:p>
            <a:fld id="{1A6BD2C2-3D3B-4E94-BD92-61B02C5F4DEE}" type="slidenum">
              <a:rPr lang="ko-KR" altLang="en-US" smtClean="0"/>
              <a:pPr/>
              <a:t>27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2138001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슬라이드 번호 개체 틀 1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1A6BD2C2-3D3B-4E94-BD92-61B02C5F4DEE}" type="slidenum">
              <a:rPr lang="ko-KR" altLang="en-US" smtClean="0"/>
              <a:pPr/>
              <a:t>28</a:t>
            </a:fld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title" idx="4294967295"/>
          </p:nvPr>
        </p:nvSpPr>
        <p:spPr>
          <a:xfrm>
            <a:off x="180235" y="348542"/>
            <a:ext cx="3867152" cy="679450"/>
          </a:xfrm>
        </p:spPr>
        <p:txBody>
          <a:bodyPr>
            <a:normAutofit fontScale="90000"/>
          </a:bodyPr>
          <a:lstStyle/>
          <a:p>
            <a:r>
              <a:rPr lang="ko-KR" altLang="en-US" dirty="0">
                <a:solidFill>
                  <a:srgbClr val="FF0000"/>
                </a:solidFill>
              </a:rPr>
              <a:t>예제 </a:t>
            </a:r>
            <a:r>
              <a:rPr lang="en-US" altLang="ko-KR" dirty="0">
                <a:solidFill>
                  <a:srgbClr val="FF0000"/>
                </a:solidFill>
              </a:rPr>
              <a:t>11-9 : </a:t>
            </a:r>
            <a:r>
              <a:rPr lang="en-US" altLang="ko-KR" dirty="0" err="1">
                <a:solidFill>
                  <a:srgbClr val="FF0000"/>
                </a:solidFill>
              </a:rPr>
              <a:t>JTextArea</a:t>
            </a:r>
            <a:r>
              <a:rPr lang="en-US" altLang="ko-KR" dirty="0">
                <a:solidFill>
                  <a:srgbClr val="FF0000"/>
                </a:solidFill>
              </a:rPr>
              <a:t> </a:t>
            </a:r>
            <a:br>
              <a:rPr lang="en-US" altLang="ko-KR" dirty="0">
                <a:solidFill>
                  <a:srgbClr val="FF0000"/>
                </a:solidFill>
              </a:rPr>
            </a:br>
            <a:r>
              <a:rPr lang="ko-KR" altLang="en-US" dirty="0">
                <a:solidFill>
                  <a:srgbClr val="FF0000"/>
                </a:solidFill>
              </a:rPr>
              <a:t>컴포넌트 생성</a:t>
            </a:r>
          </a:p>
        </p:txBody>
      </p:sp>
      <p:sp>
        <p:nvSpPr>
          <p:cNvPr id="4" name="직사각형 3"/>
          <p:cNvSpPr/>
          <p:nvPr/>
        </p:nvSpPr>
        <p:spPr>
          <a:xfrm>
            <a:off x="4034593" y="627757"/>
            <a:ext cx="4392488" cy="618630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defTabSz="180000"/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import </a:t>
            </a:r>
            <a:r>
              <a:rPr lang="en-US" altLang="ko-KR" sz="12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javax.swing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.*;</a:t>
            </a:r>
          </a:p>
          <a:p>
            <a:pPr defTabSz="180000"/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import </a:t>
            </a:r>
            <a:r>
              <a:rPr lang="en-US" altLang="ko-KR" sz="12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java.awt.event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.*;</a:t>
            </a:r>
          </a:p>
          <a:p>
            <a:pPr defTabSz="180000"/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import </a:t>
            </a:r>
            <a:r>
              <a:rPr lang="en-US" altLang="ko-KR" sz="12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java.awt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.*;</a:t>
            </a:r>
          </a:p>
          <a:p>
            <a:pPr defTabSz="180000"/>
            <a:endParaRPr lang="en-US" altLang="ko-KR" sz="1200" dirty="0">
              <a:latin typeface="메이플스토리" panose="02000300000000000000" pitchFamily="2" charset="-127"/>
              <a:ea typeface="메이플스토리" panose="02000300000000000000" pitchFamily="2" charset="-127"/>
            </a:endParaRPr>
          </a:p>
          <a:p>
            <a:pPr defTabSz="180000"/>
            <a:r>
              <a:rPr lang="en-US" altLang="ko-KR" sz="1200" b="1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public class </a:t>
            </a:r>
            <a:r>
              <a:rPr lang="en-US" altLang="ko-KR" sz="1200" b="1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TextAreaEx</a:t>
            </a:r>
            <a:r>
              <a:rPr lang="en-US" altLang="ko-KR" sz="1200" b="1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 extends </a:t>
            </a:r>
            <a:r>
              <a:rPr lang="en-US" altLang="ko-KR" sz="1200" b="1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JFrame</a:t>
            </a:r>
            <a:r>
              <a:rPr lang="en-US" altLang="ko-KR" sz="1200" b="1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 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{</a:t>
            </a:r>
          </a:p>
          <a:p>
            <a:pPr defTabSz="180000"/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</a:t>
            </a:r>
            <a:r>
              <a:rPr lang="en-US" altLang="ko-KR" sz="1200" b="1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private </a:t>
            </a:r>
            <a:r>
              <a:rPr lang="en-US" altLang="ko-KR" sz="1200" b="1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JTextField</a:t>
            </a:r>
            <a:r>
              <a:rPr lang="en-US" altLang="ko-KR" sz="1200" b="1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 </a:t>
            </a:r>
            <a:r>
              <a:rPr lang="en-US" altLang="ko-KR" sz="1200" b="1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tf</a:t>
            </a:r>
            <a:r>
              <a:rPr lang="en-US" altLang="ko-KR" sz="1200" b="1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 = new </a:t>
            </a:r>
            <a:r>
              <a:rPr lang="en-US" altLang="ko-KR" sz="1200" b="1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JTextField</a:t>
            </a:r>
            <a:r>
              <a:rPr lang="en-US" altLang="ko-KR" sz="1200" b="1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(20);</a:t>
            </a:r>
          </a:p>
          <a:p>
            <a:pPr defTabSz="180000"/>
            <a:r>
              <a:rPr lang="en-US" altLang="ko-KR" sz="1200" b="1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private </a:t>
            </a:r>
            <a:r>
              <a:rPr lang="en-US" altLang="ko-KR" sz="1200" b="1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JTextArea</a:t>
            </a:r>
            <a:r>
              <a:rPr lang="en-US" altLang="ko-KR" sz="1200" b="1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 ta = new </a:t>
            </a:r>
            <a:r>
              <a:rPr lang="en-US" altLang="ko-KR" sz="1200" b="1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JTextArea</a:t>
            </a:r>
            <a:r>
              <a:rPr lang="en-US" altLang="ko-KR" sz="1200" b="1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(7, 20);</a:t>
            </a:r>
          </a:p>
          <a:p>
            <a:pPr defTabSz="180000"/>
            <a:endParaRPr lang="en-US" altLang="ko-KR" sz="1200" dirty="0">
              <a:latin typeface="메이플스토리" panose="02000300000000000000" pitchFamily="2" charset="-127"/>
              <a:ea typeface="메이플스토리" panose="02000300000000000000" pitchFamily="2" charset="-127"/>
            </a:endParaRPr>
          </a:p>
          <a:p>
            <a:pPr defTabSz="180000"/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public </a:t>
            </a:r>
            <a:r>
              <a:rPr lang="en-US" altLang="ko-KR" sz="12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TextAreaEx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() {</a:t>
            </a:r>
          </a:p>
          <a:p>
            <a:pPr defTabSz="180000"/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	</a:t>
            </a:r>
            <a:r>
              <a:rPr lang="en-US" altLang="ko-KR" sz="12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setTitle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("</a:t>
            </a:r>
            <a:r>
              <a:rPr lang="ko-KR" altLang="en-US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텍스트영역 만들기 예제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");</a:t>
            </a:r>
          </a:p>
          <a:p>
            <a:pPr defTabSz="180000"/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	</a:t>
            </a:r>
            <a:r>
              <a:rPr lang="en-US" altLang="ko-KR" sz="12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setDefaultCloseOperation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</a:t>
            </a:r>
            <a:r>
              <a:rPr lang="en-US" altLang="ko-KR" sz="12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JFrame.EXIT_ON_CLOSE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);</a:t>
            </a:r>
          </a:p>
          <a:p>
            <a:pPr defTabSz="180000"/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	Container c = </a:t>
            </a:r>
            <a:r>
              <a:rPr lang="en-US" altLang="ko-KR" sz="12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getContentPane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();</a:t>
            </a:r>
          </a:p>
          <a:p>
            <a:pPr defTabSz="180000"/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	</a:t>
            </a:r>
            <a:r>
              <a:rPr lang="en-US" altLang="ko-KR" sz="12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c.setLayout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(new </a:t>
            </a:r>
            <a:r>
              <a:rPr lang="en-US" altLang="ko-KR" sz="12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FlowLayout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());</a:t>
            </a:r>
          </a:p>
          <a:p>
            <a:pPr defTabSz="180000"/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	</a:t>
            </a:r>
          </a:p>
          <a:p>
            <a:pPr defTabSz="180000"/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	</a:t>
            </a:r>
            <a:r>
              <a:rPr lang="en-US" altLang="ko-KR" sz="12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c.add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(new </a:t>
            </a:r>
            <a:r>
              <a:rPr lang="en-US" altLang="ko-KR" sz="12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JLabel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("</a:t>
            </a:r>
            <a:r>
              <a:rPr lang="ko-KR" altLang="en-US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입력 후 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&lt;Enter&gt; </a:t>
            </a:r>
            <a:r>
              <a:rPr lang="ko-KR" altLang="en-US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키를 입력하세요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"));</a:t>
            </a:r>
          </a:p>
          <a:p>
            <a:pPr defTabSz="180000"/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	</a:t>
            </a:r>
            <a:r>
              <a:rPr lang="en-US" altLang="ko-KR" sz="12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c.add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</a:t>
            </a:r>
            <a:r>
              <a:rPr lang="en-US" altLang="ko-KR" sz="12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tf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);</a:t>
            </a:r>
          </a:p>
          <a:p>
            <a:pPr defTabSz="180000"/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</a:t>
            </a:r>
            <a:r>
              <a:rPr lang="en-US" altLang="ko-KR" sz="1200" b="1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</a:t>
            </a:r>
            <a:r>
              <a:rPr lang="en-US" altLang="ko-KR" sz="1200" b="1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c.add</a:t>
            </a:r>
            <a:r>
              <a:rPr lang="en-US" altLang="ko-KR" sz="1200" b="1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(new </a:t>
            </a:r>
            <a:r>
              <a:rPr lang="en-US" altLang="ko-KR" sz="1200" b="1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JScrollPane</a:t>
            </a:r>
            <a:r>
              <a:rPr lang="en-US" altLang="ko-KR" sz="1200" b="1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(ta));</a:t>
            </a:r>
          </a:p>
          <a:p>
            <a:pPr defTabSz="180000"/>
            <a:endParaRPr lang="en-US" altLang="ko-KR" sz="1200" dirty="0">
              <a:latin typeface="메이플스토리" panose="02000300000000000000" pitchFamily="2" charset="-127"/>
              <a:ea typeface="메이플스토리" panose="02000300000000000000" pitchFamily="2" charset="-127"/>
            </a:endParaRPr>
          </a:p>
          <a:p>
            <a:pPr defTabSz="180000"/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	</a:t>
            </a:r>
            <a:r>
              <a:rPr lang="en-US" altLang="ko-KR" sz="1200" b="1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tf.addActionListener</a:t>
            </a:r>
            <a:r>
              <a:rPr lang="en-US" altLang="ko-KR" sz="1200" b="1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(new </a:t>
            </a:r>
            <a:r>
              <a:rPr lang="en-US" altLang="ko-KR" sz="1200" b="1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ActionListener</a:t>
            </a:r>
            <a:r>
              <a:rPr lang="en-US" altLang="ko-KR" sz="1200" b="1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() {</a:t>
            </a:r>
          </a:p>
          <a:p>
            <a:pPr defTabSz="180000"/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		public void </a:t>
            </a:r>
            <a:r>
              <a:rPr lang="en-US" altLang="ko-KR" sz="12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actionPerformed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</a:t>
            </a:r>
            <a:r>
              <a:rPr lang="en-US" altLang="ko-KR" sz="12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ActionEvent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 e) {</a:t>
            </a:r>
          </a:p>
          <a:p>
            <a:pPr defTabSz="180000"/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			</a:t>
            </a:r>
            <a:r>
              <a:rPr lang="en-US" altLang="ko-KR" sz="12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JTextField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 t = (</a:t>
            </a:r>
            <a:r>
              <a:rPr lang="en-US" altLang="ko-KR" sz="12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JTextField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)</a:t>
            </a:r>
            <a:r>
              <a:rPr lang="en-US" altLang="ko-KR" sz="12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e.getSource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();</a:t>
            </a:r>
          </a:p>
          <a:p>
            <a:pPr defTabSz="180000"/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			</a:t>
            </a:r>
            <a:r>
              <a:rPr lang="en-US" altLang="ko-KR" sz="1200" b="1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ta.append</a:t>
            </a:r>
            <a:r>
              <a:rPr lang="en-US" altLang="ko-KR" sz="1200" b="1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</a:t>
            </a:r>
            <a:r>
              <a:rPr lang="en-US" altLang="ko-KR" sz="1200" b="1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t.getText</a:t>
            </a:r>
            <a:r>
              <a:rPr lang="en-US" altLang="ko-KR" sz="1200" b="1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() + "\n");</a:t>
            </a:r>
          </a:p>
          <a:p>
            <a:pPr defTabSz="180000"/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			</a:t>
            </a:r>
            <a:r>
              <a:rPr lang="en-US" altLang="ko-KR" sz="12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t.setText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("");</a:t>
            </a:r>
            <a:endParaRPr lang="ko-KR" altLang="en-US" sz="1200" dirty="0">
              <a:latin typeface="메이플스토리" panose="02000300000000000000" pitchFamily="2" charset="-127"/>
              <a:ea typeface="메이플스토리" panose="02000300000000000000" pitchFamily="2" charset="-127"/>
            </a:endParaRPr>
          </a:p>
          <a:p>
            <a:pPr defTabSz="180000"/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		}</a:t>
            </a:r>
          </a:p>
          <a:p>
            <a:pPr defTabSz="180000"/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	});</a:t>
            </a:r>
          </a:p>
          <a:p>
            <a:pPr defTabSz="180000"/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	</a:t>
            </a:r>
            <a:r>
              <a:rPr lang="en-US" altLang="ko-KR" sz="12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setSize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(300,300);</a:t>
            </a:r>
          </a:p>
          <a:p>
            <a:pPr defTabSz="180000"/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	</a:t>
            </a:r>
            <a:r>
              <a:rPr lang="en-US" altLang="ko-KR" sz="12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setVisible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(true);</a:t>
            </a:r>
          </a:p>
          <a:p>
            <a:pPr defTabSz="180000"/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}</a:t>
            </a:r>
          </a:p>
          <a:p>
            <a:pPr defTabSz="180000"/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public static void main(String [] </a:t>
            </a:r>
            <a:r>
              <a:rPr lang="en-US" altLang="ko-KR" sz="12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args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) {</a:t>
            </a:r>
          </a:p>
          <a:p>
            <a:pPr defTabSz="180000"/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	new </a:t>
            </a:r>
            <a:r>
              <a:rPr lang="en-US" altLang="ko-KR" sz="12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TextAreaEx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();</a:t>
            </a:r>
          </a:p>
          <a:p>
            <a:pPr defTabSz="180000"/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}</a:t>
            </a:r>
          </a:p>
          <a:p>
            <a:pPr defTabSz="180000"/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31178" y="2780928"/>
            <a:ext cx="70564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초기화면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3609" y="5457812"/>
            <a:ext cx="244329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텍스트필드에 입력하고</a:t>
            </a:r>
          </a:p>
          <a:p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&lt;Enter&gt; </a:t>
            </a:r>
            <a:r>
              <a:rPr lang="ko-KR" altLang="en-US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키를 누르면 텍스트필드에</a:t>
            </a:r>
            <a:endParaRPr lang="en-US" altLang="ko-KR" sz="1200" dirty="0">
              <a:latin typeface="메이플스토리" panose="02000300000000000000" pitchFamily="2" charset="-127"/>
              <a:ea typeface="메이플스토리" panose="02000300000000000000" pitchFamily="2" charset="-127"/>
            </a:endParaRPr>
          </a:p>
          <a:p>
            <a:r>
              <a:rPr lang="ko-KR" altLang="en-US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입력한 문자열을 텍스트 </a:t>
            </a:r>
            <a:r>
              <a:rPr lang="ko-KR" altLang="en-US" sz="12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영역창에</a:t>
            </a:r>
            <a:r>
              <a:rPr lang="ko-KR" altLang="en-US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 추가</a:t>
            </a:r>
            <a:endParaRPr lang="en-US" altLang="ko-KR" sz="1200" dirty="0">
              <a:latin typeface="메이플스토리" panose="02000300000000000000" pitchFamily="2" charset="-127"/>
              <a:ea typeface="메이플스토리" panose="02000300000000000000" pitchFamily="2" charset="-127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828057" y="4797152"/>
            <a:ext cx="1560367" cy="612934"/>
          </a:xfrm>
          <a:prstGeom prst="wedgeRoundRectCallout">
            <a:avLst>
              <a:gd name="adj1" fmla="val -80374"/>
              <a:gd name="adj2" fmla="val -66642"/>
              <a:gd name="adj3" fmla="val 16667"/>
            </a:avLst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&lt;Enter&gt;</a:t>
            </a:r>
            <a:r>
              <a:rPr lang="ko-KR" altLang="en-US" sz="10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키가 입력되면 </a:t>
            </a:r>
            <a:r>
              <a:rPr lang="en-US" altLang="ko-KR" sz="10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tf</a:t>
            </a:r>
            <a:r>
              <a:rPr lang="ko-KR" altLang="en-US" sz="10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에 입력된 문자열을</a:t>
            </a:r>
            <a:endParaRPr lang="en-US" altLang="ko-KR" sz="1000" dirty="0">
              <a:latin typeface="메이플스토리" panose="02000300000000000000" pitchFamily="2" charset="-127"/>
              <a:ea typeface="메이플스토리" panose="02000300000000000000" pitchFamily="2" charset="-127"/>
            </a:endParaRPr>
          </a:p>
          <a:p>
            <a:r>
              <a:rPr lang="en-US" altLang="ko-KR" sz="10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ta</a:t>
            </a:r>
            <a:r>
              <a:rPr lang="ko-KR" altLang="en-US" sz="10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 끝에 추가</a:t>
            </a:r>
            <a:endParaRPr lang="en-US" altLang="ko-KR" sz="1000" dirty="0">
              <a:latin typeface="메이플스토리" panose="02000300000000000000" pitchFamily="2" charset="-127"/>
              <a:ea typeface="메이플스토리" panose="02000300000000000000" pitchFamily="2" charset="-127"/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5715" y="1247064"/>
            <a:ext cx="1945463" cy="1997378"/>
          </a:xfrm>
          <a:prstGeom prst="rect">
            <a:avLst/>
          </a:prstGeom>
          <a:ln>
            <a:solidFill>
              <a:schemeClr val="accent1">
                <a:lumMod val="75000"/>
              </a:schemeClr>
            </a:solidFill>
          </a:ln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1510" y="3429000"/>
            <a:ext cx="1945463" cy="1997378"/>
          </a:xfrm>
          <a:prstGeom prst="rect">
            <a:avLst/>
          </a:prstGeom>
          <a:ln>
            <a:solidFill>
              <a:schemeClr val="accent1">
                <a:lumMod val="75000"/>
              </a:schemeClr>
            </a:solidFill>
          </a:ln>
        </p:spPr>
      </p:pic>
      <p:sp>
        <p:nvSpPr>
          <p:cNvPr id="15" name="TextBox 14"/>
          <p:cNvSpPr txBox="1"/>
          <p:nvPr/>
        </p:nvSpPr>
        <p:spPr>
          <a:xfrm>
            <a:off x="2069559" y="3837056"/>
            <a:ext cx="1599024" cy="442674"/>
          </a:xfrm>
          <a:prstGeom prst="wedgeRoundRectCallout">
            <a:avLst>
              <a:gd name="adj1" fmla="val -102481"/>
              <a:gd name="adj2" fmla="val -45347"/>
              <a:gd name="adj3" fmla="val 16667"/>
            </a:avLst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&lt;Enter&gt; </a:t>
            </a:r>
            <a:r>
              <a:rPr lang="ko-KR" altLang="en-US" sz="10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키를 입력하면</a:t>
            </a:r>
            <a:endParaRPr lang="en-US" altLang="ko-KR" sz="1000" dirty="0">
              <a:latin typeface="메이플스토리" panose="02000300000000000000" pitchFamily="2" charset="-127"/>
              <a:ea typeface="메이플스토리" panose="02000300000000000000" pitchFamily="2" charset="-127"/>
            </a:endParaRPr>
          </a:p>
          <a:p>
            <a:r>
              <a:rPr lang="en-US" altLang="ko-KR" sz="10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Action </a:t>
            </a:r>
            <a:r>
              <a:rPr lang="ko-KR" altLang="en-US" sz="10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이벤트 발생</a:t>
            </a:r>
            <a:endParaRPr lang="en-US" altLang="ko-KR" sz="1000" dirty="0">
              <a:latin typeface="메이플스토리" panose="02000300000000000000" pitchFamily="2" charset="-127"/>
              <a:ea typeface="메이플스토리" panose="02000300000000000000" pitchFamily="2" charset="-127"/>
            </a:endParaRPr>
          </a:p>
        </p:txBody>
      </p:sp>
      <p:sp>
        <p:nvSpPr>
          <p:cNvPr id="10" name="자유형 9"/>
          <p:cNvSpPr/>
          <p:nvPr/>
        </p:nvSpPr>
        <p:spPr>
          <a:xfrm>
            <a:off x="3635896" y="3963970"/>
            <a:ext cx="822983" cy="113102"/>
          </a:xfrm>
          <a:custGeom>
            <a:avLst/>
            <a:gdLst>
              <a:gd name="connsiteX0" fmla="*/ 0 w 1187778"/>
              <a:gd name="connsiteY0" fmla="*/ 0 h 95850"/>
              <a:gd name="connsiteX1" fmla="*/ 1187777 w 1187778"/>
              <a:gd name="connsiteY1" fmla="*/ 89555 h 95850"/>
              <a:gd name="connsiteX2" fmla="*/ 9427 w 1187778"/>
              <a:gd name="connsiteY2" fmla="*/ 70701 h 958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187778" h="95850">
                <a:moveTo>
                  <a:pt x="0" y="0"/>
                </a:moveTo>
                <a:lnTo>
                  <a:pt x="1187777" y="89555"/>
                </a:lnTo>
                <a:cubicBezTo>
                  <a:pt x="1189348" y="101339"/>
                  <a:pt x="134332" y="97410"/>
                  <a:pt x="9427" y="70701"/>
                </a:cubicBezTo>
              </a:path>
            </a:pathLst>
          </a:custGeom>
          <a:solidFill>
            <a:schemeClr val="accent4">
              <a:lumMod val="20000"/>
              <a:lumOff val="80000"/>
            </a:schemeClr>
          </a:solidFill>
          <a:ln w="95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메이플스토리" panose="02000300000000000000" pitchFamily="2" charset="-127"/>
              <a:ea typeface="메이플스토리" panose="020003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41744001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JList</a:t>
            </a:r>
            <a:r>
              <a:rPr lang="en-US" altLang="ko-KR" dirty="0"/>
              <a:t>&lt;E&gt;,</a:t>
            </a:r>
            <a:r>
              <a:rPr lang="ko-KR" altLang="en-US" dirty="0"/>
              <a:t> 리스트 컴포넌트</a:t>
            </a:r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altLang="ko-KR" dirty="0" err="1"/>
              <a:t>JList</a:t>
            </a:r>
            <a:r>
              <a:rPr lang="en-US" altLang="ko-KR" dirty="0"/>
              <a:t>&lt;E&gt; </a:t>
            </a:r>
          </a:p>
          <a:p>
            <a:pPr lvl="1"/>
            <a:r>
              <a:rPr lang="ko-KR" altLang="en-US" dirty="0"/>
              <a:t>리스트 컴포넌트란</a:t>
            </a:r>
            <a:r>
              <a:rPr lang="en-US" altLang="ko-KR" dirty="0"/>
              <a:t>?</a:t>
            </a:r>
          </a:p>
          <a:p>
            <a:pPr lvl="2"/>
            <a:r>
              <a:rPr lang="ko-KR" altLang="en-US" dirty="0"/>
              <a:t>여러 개의 아이템을 리스트 형식으로 </a:t>
            </a:r>
            <a:endParaRPr lang="en-US" altLang="ko-KR" dirty="0"/>
          </a:p>
          <a:p>
            <a:pPr marL="685800" lvl="2" indent="0">
              <a:buNone/>
            </a:pPr>
            <a:r>
              <a:rPr lang="en-US" altLang="ko-KR" dirty="0"/>
              <a:t>   </a:t>
            </a:r>
            <a:r>
              <a:rPr lang="ko-KR" altLang="en-US" dirty="0"/>
              <a:t>보여주고 선택하는 컴포넌트</a:t>
            </a:r>
            <a:endParaRPr lang="en-US" altLang="ko-KR" dirty="0"/>
          </a:p>
          <a:p>
            <a:pPr lvl="2"/>
            <a:r>
              <a:rPr lang="en-US" altLang="ko-KR" dirty="0" err="1"/>
              <a:t>JComboBox</a:t>
            </a:r>
            <a:r>
              <a:rPr lang="en-US" altLang="ko-KR" dirty="0"/>
              <a:t>&lt;E&gt;</a:t>
            </a:r>
            <a:r>
              <a:rPr lang="ko-KR" altLang="en-US" dirty="0"/>
              <a:t>와 기본적으로 같은 기능</a:t>
            </a:r>
            <a:endParaRPr lang="en-US" altLang="ko-KR" dirty="0"/>
          </a:p>
          <a:p>
            <a:pPr lvl="2"/>
            <a:r>
              <a:rPr lang="en-US" altLang="ko-KR" dirty="0" err="1"/>
              <a:t>JScrollPane</a:t>
            </a:r>
            <a:r>
              <a:rPr lang="ko-KR" altLang="en-US" dirty="0"/>
              <a:t>에 </a:t>
            </a:r>
            <a:r>
              <a:rPr lang="en-US" altLang="ko-KR" dirty="0"/>
              <a:t>JList&lt;E&gt;</a:t>
            </a:r>
            <a:r>
              <a:rPr lang="ko-KR" altLang="en-US" dirty="0"/>
              <a:t>를 삽입하여 스크롤 가능</a:t>
            </a:r>
            <a:endParaRPr lang="en-US" altLang="ko-KR" dirty="0"/>
          </a:p>
          <a:p>
            <a:pPr lvl="1"/>
            <a:r>
              <a:rPr lang="en-US" altLang="ko-KR" dirty="0" err="1"/>
              <a:t>JList</a:t>
            </a:r>
            <a:r>
              <a:rPr lang="en-US" altLang="ko-KR" dirty="0"/>
              <a:t>&lt;E&gt;</a:t>
            </a:r>
          </a:p>
          <a:p>
            <a:pPr lvl="2"/>
            <a:r>
              <a:rPr lang="en-US" altLang="ko-KR" dirty="0"/>
              <a:t>JDK7</a:t>
            </a:r>
            <a:r>
              <a:rPr lang="ko-KR" altLang="en-US" dirty="0"/>
              <a:t>부터 </a:t>
            </a:r>
            <a:r>
              <a:rPr lang="ko-KR" altLang="en-US" dirty="0" err="1"/>
              <a:t>제네릭</a:t>
            </a:r>
            <a:r>
              <a:rPr lang="ko-KR" altLang="en-US" dirty="0"/>
              <a:t> 리스트로 바뀜</a:t>
            </a:r>
            <a:endParaRPr lang="en-US" altLang="ko-KR" dirty="0"/>
          </a:p>
          <a:p>
            <a:pPr lvl="2"/>
            <a:r>
              <a:rPr lang="en-US" altLang="ko-KR" dirty="0"/>
              <a:t>&lt;E&gt;</a:t>
            </a:r>
            <a:r>
              <a:rPr lang="ko-KR" altLang="en-US" dirty="0"/>
              <a:t>에 지정된 타입의 객체만 저장하는 리스트</a:t>
            </a:r>
            <a:endParaRPr lang="en-US" altLang="ko-KR" dirty="0"/>
          </a:p>
          <a:p>
            <a:r>
              <a:rPr lang="ko-KR" altLang="en-US" dirty="0" err="1"/>
              <a:t>생성자</a:t>
            </a:r>
            <a:endParaRPr lang="en-US" altLang="ko-KR" dirty="0"/>
          </a:p>
          <a:p>
            <a:pPr lvl="2"/>
            <a:endParaRPr lang="ko-KR" altLang="en-US" dirty="0"/>
          </a:p>
          <a:p>
            <a:pPr lvl="1"/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77500" lnSpcReduction="20000"/>
          </a:bodyPr>
          <a:lstStyle/>
          <a:p>
            <a:fld id="{1A6BD2C2-3D3B-4E94-BD92-61B02C5F4DEE}" type="slidenum">
              <a:rPr lang="ko-KR" altLang="en-US" smtClean="0"/>
              <a:pPr/>
              <a:t>29</a:t>
            </a:fld>
            <a:endParaRPr lang="ko-KR" altLang="en-US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3608" y="5156249"/>
            <a:ext cx="6930480" cy="1009055"/>
          </a:xfrm>
          <a:prstGeom prst="rect">
            <a:avLst/>
          </a:prstGeom>
        </p:spPr>
      </p:pic>
      <p:grpSp>
        <p:nvGrpSpPr>
          <p:cNvPr id="9" name="그룹 8"/>
          <p:cNvGrpSpPr/>
          <p:nvPr/>
        </p:nvGrpSpPr>
        <p:grpSpPr>
          <a:xfrm>
            <a:off x="5897334" y="1389947"/>
            <a:ext cx="2453236" cy="2961274"/>
            <a:chOff x="5897334" y="1389947"/>
            <a:chExt cx="2453236" cy="2961274"/>
          </a:xfrm>
        </p:grpSpPr>
        <p:pic>
          <p:nvPicPr>
            <p:cNvPr id="7" name="그림 6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588224" y="1746903"/>
              <a:ext cx="1246057" cy="2604318"/>
            </a:xfrm>
            <a:prstGeom prst="rect">
              <a:avLst/>
            </a:prstGeom>
            <a:ln>
              <a:solidFill>
                <a:schemeClr val="accent1"/>
              </a:solidFill>
            </a:ln>
          </p:spPr>
        </p:pic>
        <p:sp>
          <p:nvSpPr>
            <p:cNvPr id="8" name="직사각형 7"/>
            <p:cNvSpPr/>
            <p:nvPr/>
          </p:nvSpPr>
          <p:spPr>
            <a:xfrm>
              <a:off x="5897334" y="1389947"/>
              <a:ext cx="2453236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sz="1400" dirty="0" err="1">
                  <a:latin typeface="메이플스토리" panose="02000300000000000000" pitchFamily="2" charset="-127"/>
                  <a:ea typeface="메이플스토리" panose="02000300000000000000" pitchFamily="2" charset="-127"/>
                </a:rPr>
                <a:t>JList</a:t>
              </a:r>
              <a:r>
                <a:rPr lang="en-US" altLang="ko-KR" sz="1400" dirty="0">
                  <a:latin typeface="메이플스토리" panose="02000300000000000000" pitchFamily="2" charset="-127"/>
                  <a:ea typeface="메이플스토리" panose="02000300000000000000" pitchFamily="2" charset="-127"/>
                </a:rPr>
                <a:t>&lt;String&gt;</a:t>
              </a:r>
              <a:r>
                <a:rPr lang="ko-KR" altLang="en-US" sz="1400" dirty="0">
                  <a:latin typeface="메이플스토리" panose="02000300000000000000" pitchFamily="2" charset="-127"/>
                  <a:ea typeface="메이플스토리" panose="02000300000000000000" pitchFamily="2" charset="-127"/>
                </a:rPr>
                <a:t>의 문자열 리스트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7047849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슬라이드 번호 개체 틀 1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1A6BD2C2-3D3B-4E94-BD92-61B02C5F4DEE}" type="slidenum">
              <a:rPr lang="ko-KR" altLang="en-US" smtClean="0"/>
              <a:pPr/>
              <a:t>30</a:t>
            </a:fld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title" idx="4294967295"/>
          </p:nvPr>
        </p:nvSpPr>
        <p:spPr>
          <a:xfrm>
            <a:off x="990600" y="228600"/>
            <a:ext cx="8153400" cy="679450"/>
          </a:xfrm>
        </p:spPr>
        <p:txBody>
          <a:bodyPr/>
          <a:lstStyle/>
          <a:p>
            <a:r>
              <a:rPr lang="ko-KR" altLang="en-US" dirty="0"/>
              <a:t>리스트를 생성하는 방법</a:t>
            </a:r>
          </a:p>
        </p:txBody>
      </p:sp>
      <p:sp>
        <p:nvSpPr>
          <p:cNvPr id="4" name="직사각형 3"/>
          <p:cNvSpPr/>
          <p:nvPr/>
        </p:nvSpPr>
        <p:spPr>
          <a:xfrm>
            <a:off x="1242924" y="1271574"/>
            <a:ext cx="5401094" cy="646331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wrap="none">
            <a:spAutoFit/>
          </a:bodyPr>
          <a:lstStyle/>
          <a:p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String [] fruits= {"apple", "banana", "kiwi", "mango", "pear", "peach", </a:t>
            </a:r>
          </a:p>
          <a:p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"berry", "strawberry", "blackberry"};</a:t>
            </a:r>
          </a:p>
          <a:p>
            <a:r>
              <a:rPr lang="en-US" altLang="ko-KR" sz="1200" b="1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JList</a:t>
            </a:r>
            <a:r>
              <a:rPr lang="en-US" altLang="ko-KR" sz="1200" b="1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&lt;String&gt; </a:t>
            </a:r>
            <a:r>
              <a:rPr lang="en-US" altLang="ko-KR" sz="12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strList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 = </a:t>
            </a:r>
            <a:r>
              <a:rPr lang="en-US" altLang="ko-KR" sz="1200" b="1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new </a:t>
            </a:r>
            <a:r>
              <a:rPr lang="en-US" altLang="ko-KR" sz="1200" b="1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JList</a:t>
            </a:r>
            <a:r>
              <a:rPr lang="en-US" altLang="ko-KR" sz="1200" b="1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&lt;String&gt;(fruits);</a:t>
            </a:r>
            <a:endParaRPr lang="ko-KR" altLang="en-US" sz="1200" dirty="0">
              <a:latin typeface="메이플스토리" panose="02000300000000000000" pitchFamily="2" charset="-127"/>
              <a:ea typeface="메이플스토리" panose="02000300000000000000" pitchFamily="2" charset="-127"/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1314362" y="2486020"/>
            <a:ext cx="3329646" cy="101566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Vector v = new Vector();</a:t>
            </a:r>
          </a:p>
          <a:p>
            <a:r>
              <a:rPr lang="en-US" altLang="ko-KR" sz="12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v.add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("apple");</a:t>
            </a:r>
          </a:p>
          <a:p>
            <a:r>
              <a:rPr lang="en-US" altLang="ko-KR" sz="12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v.add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("banana");</a:t>
            </a:r>
          </a:p>
          <a:p>
            <a:r>
              <a:rPr lang="en-US" altLang="ko-KR" sz="12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v.add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("kiwi"); </a:t>
            </a:r>
          </a:p>
          <a:p>
            <a:r>
              <a:rPr lang="en-US" altLang="ko-KR" sz="1200" b="1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JList</a:t>
            </a:r>
            <a:r>
              <a:rPr lang="en-US" altLang="ko-KR" sz="1200" b="1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&lt;String&gt; </a:t>
            </a:r>
            <a:r>
              <a:rPr lang="en-US" altLang="ko-KR" sz="12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vList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 = </a:t>
            </a:r>
            <a:r>
              <a:rPr lang="en-US" altLang="ko-KR" sz="1200" b="1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new </a:t>
            </a:r>
            <a:r>
              <a:rPr lang="en-US" altLang="ko-KR" sz="1200" b="1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JList</a:t>
            </a:r>
            <a:r>
              <a:rPr lang="en-US" altLang="ko-KR" sz="1200" b="1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&lt;String&gt;(v);</a:t>
            </a:r>
            <a:endParaRPr lang="ko-KR" altLang="en-US" sz="1200" dirty="0">
              <a:latin typeface="메이플스토리" panose="02000300000000000000" pitchFamily="2" charset="-127"/>
              <a:ea typeface="메이플스토리" panose="02000300000000000000" pitchFamily="2" charset="-127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1314362" y="4129094"/>
            <a:ext cx="4831490" cy="138499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2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ImageIcon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 [] images = {</a:t>
            </a:r>
            <a:r>
              <a:rPr lang="en-US" altLang="ko-KR" sz="1200" b="1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new </a:t>
            </a:r>
            <a:r>
              <a:rPr lang="en-US" altLang="ko-KR" sz="1200" b="1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ImageIcon</a:t>
            </a:r>
            <a:r>
              <a:rPr lang="en-US" altLang="ko-KR" sz="1200" b="1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("images/icon1.png"), 	</a:t>
            </a:r>
          </a:p>
          <a:p>
            <a:r>
              <a:rPr lang="en-US" altLang="ko-KR" sz="1200" b="1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new </a:t>
            </a:r>
            <a:r>
              <a:rPr lang="en-US" altLang="ko-KR" sz="1200" b="1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ImageIcon</a:t>
            </a:r>
            <a:r>
              <a:rPr lang="en-US" altLang="ko-KR" sz="1200" b="1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("images/icon2.png"),  </a:t>
            </a:r>
          </a:p>
          <a:p>
            <a:r>
              <a:rPr lang="en-US" altLang="ko-KR" sz="1200" b="1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new </a:t>
            </a:r>
            <a:r>
              <a:rPr lang="en-US" altLang="ko-KR" sz="1200" b="1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ImageIcon</a:t>
            </a:r>
            <a:r>
              <a:rPr lang="en-US" altLang="ko-KR" sz="1200" b="1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("images/icon3.png"),  </a:t>
            </a:r>
          </a:p>
          <a:p>
            <a:r>
              <a:rPr lang="en-US" altLang="ko-KR" sz="1200" b="1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new </a:t>
            </a:r>
            <a:r>
              <a:rPr lang="en-US" altLang="ko-KR" sz="1200" b="1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ImageIcon</a:t>
            </a:r>
            <a:r>
              <a:rPr lang="en-US" altLang="ko-KR" sz="1200" b="1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("images/icon4.png")</a:t>
            </a:r>
          </a:p>
          <a:p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};</a:t>
            </a:r>
          </a:p>
          <a:p>
            <a:r>
              <a:rPr lang="en-US" altLang="ko-KR" sz="1200" b="1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JList</a:t>
            </a:r>
            <a:r>
              <a:rPr lang="en-US" altLang="ko-KR" sz="1200" b="1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&lt;</a:t>
            </a:r>
            <a:r>
              <a:rPr lang="en-US" altLang="ko-KR" sz="1200" b="1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ImageIcon</a:t>
            </a:r>
            <a:r>
              <a:rPr lang="en-US" altLang="ko-KR" sz="1200" b="1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&gt;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 </a:t>
            </a:r>
            <a:r>
              <a:rPr lang="en-US" altLang="ko-KR" sz="12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imageList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 = </a:t>
            </a:r>
            <a:r>
              <a:rPr lang="en-US" altLang="ko-KR" sz="1200" b="1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new </a:t>
            </a:r>
            <a:r>
              <a:rPr lang="en-US" altLang="ko-KR" sz="1200" b="1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JList</a:t>
            </a:r>
            <a:r>
              <a:rPr lang="en-US" altLang="ko-KR" sz="1200" b="1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&lt;</a:t>
            </a:r>
            <a:r>
              <a:rPr lang="en-US" altLang="ko-KR" sz="1200" b="1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ImageIcon</a:t>
            </a:r>
            <a:r>
              <a:rPr lang="en-US" altLang="ko-KR" sz="1200" b="1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&gt;();</a:t>
            </a:r>
          </a:p>
          <a:p>
            <a:r>
              <a:rPr lang="en-US" altLang="ko-KR" sz="1200" b="1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imageList.setListData</a:t>
            </a:r>
            <a:r>
              <a:rPr lang="en-US" altLang="ko-KR" sz="1200" b="1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(images);</a:t>
            </a:r>
            <a:endParaRPr lang="ko-KR" altLang="en-US" sz="1200" b="1" dirty="0">
              <a:latin typeface="메이플스토리" panose="02000300000000000000" pitchFamily="2" charset="-127"/>
              <a:ea typeface="메이플스토리" panose="02000300000000000000" pitchFamily="2" charset="-127"/>
            </a:endParaRPr>
          </a:p>
        </p:txBody>
      </p:sp>
      <p:sp>
        <p:nvSpPr>
          <p:cNvPr id="18" name="직사각형 17"/>
          <p:cNvSpPr/>
          <p:nvPr/>
        </p:nvSpPr>
        <p:spPr>
          <a:xfrm>
            <a:off x="1314362" y="6000768"/>
            <a:ext cx="3905710" cy="46166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200" b="1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JList</a:t>
            </a:r>
            <a:r>
              <a:rPr lang="en-US" altLang="ko-KR" sz="1200" b="1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&lt;String&gt;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 </a:t>
            </a:r>
            <a:r>
              <a:rPr lang="en-US" altLang="ko-KR" sz="12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scrollList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 = </a:t>
            </a:r>
            <a:r>
              <a:rPr lang="en-US" altLang="ko-KR" sz="1200" b="1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new </a:t>
            </a:r>
            <a:r>
              <a:rPr lang="en-US" altLang="ko-KR" sz="1200" b="1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JList</a:t>
            </a:r>
            <a:r>
              <a:rPr lang="en-US" altLang="ko-KR" sz="1200" b="1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&lt;String&gt;(fruits);</a:t>
            </a:r>
          </a:p>
          <a:p>
            <a:r>
              <a:rPr lang="en-US" altLang="ko-KR" sz="1200" b="1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new </a:t>
            </a:r>
            <a:r>
              <a:rPr lang="en-US" altLang="ko-KR" sz="1200" b="1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JScrollPane</a:t>
            </a:r>
            <a:r>
              <a:rPr lang="en-US" altLang="ko-KR" sz="1200" b="1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</a:t>
            </a:r>
            <a:r>
              <a:rPr lang="en-US" altLang="ko-KR" sz="1200" b="1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scrollList</a:t>
            </a:r>
            <a:r>
              <a:rPr lang="en-US" altLang="ko-KR" sz="1200" b="1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);</a:t>
            </a:r>
            <a:endParaRPr lang="ko-KR" altLang="en-US" sz="1200" dirty="0">
              <a:latin typeface="메이플스토리" panose="02000300000000000000" pitchFamily="2" charset="-127"/>
              <a:ea typeface="메이플스토리" panose="02000300000000000000" pitchFamily="2" charset="-127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957172" y="985822"/>
            <a:ext cx="206979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1. </a:t>
            </a:r>
            <a:r>
              <a:rPr lang="ko-KR" altLang="en-US" sz="14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객체 배열로 아이템 제공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7172" y="2128830"/>
            <a:ext cx="201055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2. Vector</a:t>
            </a:r>
            <a:r>
              <a:rPr lang="ko-KR" altLang="en-US" sz="14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로 아이템 제공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57172" y="3771904"/>
            <a:ext cx="486851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3. </a:t>
            </a:r>
            <a:r>
              <a:rPr lang="ko-KR" altLang="en-US" sz="14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빈 </a:t>
            </a:r>
            <a:r>
              <a:rPr lang="en-US" altLang="ko-KR" sz="14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JList</a:t>
            </a:r>
            <a:r>
              <a:rPr lang="en-US" altLang="ko-KR" sz="14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 </a:t>
            </a:r>
            <a:r>
              <a:rPr lang="ko-KR" altLang="en-US" sz="14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컴포넌트를 생성하고 </a:t>
            </a:r>
            <a:r>
              <a:rPr lang="en-US" altLang="ko-KR" sz="14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setListData</a:t>
            </a:r>
            <a:r>
              <a:rPr lang="en-US" altLang="ko-KR" sz="14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()</a:t>
            </a:r>
            <a:r>
              <a:rPr lang="ko-KR" altLang="en-US" sz="14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로 아이템 제공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57172" y="5666756"/>
            <a:ext cx="118814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4. </a:t>
            </a:r>
            <a:r>
              <a:rPr lang="ko-KR" altLang="en-US" sz="14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스크롤 지원</a:t>
            </a:r>
          </a:p>
        </p:txBody>
      </p:sp>
      <p:pic>
        <p:nvPicPr>
          <p:cNvPr id="8" name="그림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4208" y="1172739"/>
            <a:ext cx="1142698" cy="2388294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9" name="그림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0192" y="3813382"/>
            <a:ext cx="1155485" cy="1606674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10" name="그림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53798" y="5291409"/>
            <a:ext cx="846394" cy="1418717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321855168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1A6BD2C2-3D3B-4E94-BD92-61B02C5F4DEE}" type="slidenum">
              <a:rPr lang="ko-KR" altLang="en-US" smtClean="0"/>
              <a:pPr/>
              <a:t>31</a:t>
            </a:fld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title" idx="4294967295"/>
          </p:nvPr>
        </p:nvSpPr>
        <p:spPr>
          <a:xfrm>
            <a:off x="179512" y="188640"/>
            <a:ext cx="3024336" cy="1296144"/>
          </a:xfrm>
        </p:spPr>
        <p:txBody>
          <a:bodyPr>
            <a:normAutofit/>
          </a:bodyPr>
          <a:lstStyle/>
          <a:p>
            <a:r>
              <a:rPr lang="ko-KR" altLang="en-US" dirty="0"/>
              <a:t>예제 </a:t>
            </a:r>
            <a:r>
              <a:rPr lang="en-US" altLang="ko-KR" dirty="0"/>
              <a:t>11-10 : </a:t>
            </a:r>
            <a:r>
              <a:rPr lang="ko-KR" altLang="en-US" dirty="0"/>
              <a:t> </a:t>
            </a:r>
            <a:br>
              <a:rPr lang="en-US" altLang="ko-KR" dirty="0"/>
            </a:br>
            <a:r>
              <a:rPr lang="ko-KR" altLang="en-US" dirty="0"/>
              <a:t>리스트 만들기</a:t>
            </a:r>
          </a:p>
        </p:txBody>
      </p:sp>
      <p:sp>
        <p:nvSpPr>
          <p:cNvPr id="4" name="직사각형 3"/>
          <p:cNvSpPr/>
          <p:nvPr/>
        </p:nvSpPr>
        <p:spPr>
          <a:xfrm>
            <a:off x="3491880" y="332656"/>
            <a:ext cx="5040560" cy="6555641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defTabSz="180000"/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import </a:t>
            </a:r>
            <a:r>
              <a:rPr lang="en-US" altLang="ko-KR" sz="12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javax.swing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.*;</a:t>
            </a:r>
          </a:p>
          <a:p>
            <a:pPr defTabSz="180000"/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import </a:t>
            </a:r>
            <a:r>
              <a:rPr lang="en-US" altLang="ko-KR" sz="12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java.awt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.*;</a:t>
            </a:r>
          </a:p>
          <a:p>
            <a:pPr defTabSz="180000"/>
            <a:endParaRPr lang="en-US" altLang="ko-KR" sz="1200" dirty="0">
              <a:latin typeface="메이플스토리" panose="02000300000000000000" pitchFamily="2" charset="-127"/>
              <a:ea typeface="메이플스토리" panose="02000300000000000000" pitchFamily="2" charset="-127"/>
            </a:endParaRPr>
          </a:p>
          <a:p>
            <a:pPr defTabSz="180000"/>
            <a:r>
              <a:rPr lang="en-US" altLang="ko-KR" sz="1200" b="1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public class </a:t>
            </a:r>
            <a:r>
              <a:rPr lang="en-US" altLang="ko-KR" sz="1200" b="1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ListEx</a:t>
            </a:r>
            <a:r>
              <a:rPr lang="en-US" altLang="ko-KR" sz="1200" b="1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 extends </a:t>
            </a:r>
            <a:r>
              <a:rPr lang="en-US" altLang="ko-KR" sz="1200" b="1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JFrame</a:t>
            </a:r>
            <a:r>
              <a:rPr lang="en-US" altLang="ko-KR" sz="1200" b="1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 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{</a:t>
            </a:r>
          </a:p>
          <a:p>
            <a:pPr defTabSz="180000"/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private String [] fruits= {"apple", "banana", "kiwi", "mango", "pear",</a:t>
            </a:r>
          </a:p>
          <a:p>
            <a:pPr defTabSz="180000"/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								"peach", "berry", "strawberry", "blackberry"};</a:t>
            </a:r>
          </a:p>
          <a:p>
            <a:pPr defTabSz="180000"/>
            <a:r>
              <a:rPr lang="fr-FR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private ImageIcon [] images = { </a:t>
            </a:r>
          </a:p>
          <a:p>
            <a:pPr defTabSz="180000"/>
            <a:r>
              <a:rPr lang="fr-FR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								new ImageIcon("images/icon1.png"),</a:t>
            </a:r>
          </a:p>
          <a:p>
            <a:pPr defTabSz="180000"/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								new </a:t>
            </a:r>
            <a:r>
              <a:rPr lang="en-US" altLang="ko-KR" sz="12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ImageIcon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("images/icon2.png"),</a:t>
            </a:r>
          </a:p>
          <a:p>
            <a:pPr defTabSz="180000"/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								new </a:t>
            </a:r>
            <a:r>
              <a:rPr lang="en-US" altLang="ko-KR" sz="12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ImageIcon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("images/icon3.png"),</a:t>
            </a:r>
          </a:p>
          <a:p>
            <a:pPr defTabSz="180000"/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								new </a:t>
            </a:r>
            <a:r>
              <a:rPr lang="en-US" altLang="ko-KR" sz="12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ImageIcon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("images/icon4.png") };</a:t>
            </a:r>
          </a:p>
          <a:p>
            <a:pPr defTabSz="180000"/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public </a:t>
            </a:r>
            <a:r>
              <a:rPr lang="en-US" altLang="ko-KR" sz="12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ListEx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() {</a:t>
            </a:r>
          </a:p>
          <a:p>
            <a:pPr defTabSz="180000"/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	</a:t>
            </a:r>
            <a:r>
              <a:rPr lang="en-US" altLang="ko-KR" sz="12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setTitle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("</a:t>
            </a:r>
            <a:r>
              <a:rPr lang="ko-KR" altLang="en-US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리스트 만들기 예제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");</a:t>
            </a:r>
          </a:p>
          <a:p>
            <a:pPr defTabSz="180000"/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	</a:t>
            </a:r>
            <a:r>
              <a:rPr lang="en-US" altLang="ko-KR" sz="12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setDefaultCloseOperation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</a:t>
            </a:r>
            <a:r>
              <a:rPr lang="en-US" altLang="ko-KR" sz="12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JFrame.EXIT_ON_CLOSE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);</a:t>
            </a:r>
          </a:p>
          <a:p>
            <a:pPr defTabSz="180000"/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	Container c = </a:t>
            </a:r>
            <a:r>
              <a:rPr lang="en-US" altLang="ko-KR" sz="12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getContentPane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();</a:t>
            </a:r>
          </a:p>
          <a:p>
            <a:pPr defTabSz="180000"/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	</a:t>
            </a:r>
            <a:r>
              <a:rPr lang="en-US" altLang="ko-KR" sz="12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c.setLayout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(new </a:t>
            </a:r>
            <a:r>
              <a:rPr lang="en-US" altLang="ko-KR" sz="12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FlowLayout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());</a:t>
            </a:r>
          </a:p>
          <a:p>
            <a:pPr defTabSz="180000"/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	</a:t>
            </a:r>
            <a:r>
              <a:rPr lang="en-US" altLang="ko-KR" sz="1200" b="1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JList</a:t>
            </a:r>
            <a:r>
              <a:rPr lang="en-US" altLang="ko-KR" sz="1200" b="1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&lt;String&gt; </a:t>
            </a:r>
            <a:r>
              <a:rPr lang="en-US" altLang="ko-KR" sz="1200" b="1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strList</a:t>
            </a:r>
            <a:r>
              <a:rPr lang="en-US" altLang="ko-KR" sz="1200" b="1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 = new </a:t>
            </a:r>
            <a:r>
              <a:rPr lang="en-US" altLang="ko-KR" sz="1200" b="1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JList</a:t>
            </a:r>
            <a:r>
              <a:rPr lang="en-US" altLang="ko-KR" sz="1200" b="1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&lt;String&gt;(fruits);</a:t>
            </a:r>
            <a:endParaRPr lang="ko-KR" altLang="en-US" sz="1200" b="1" dirty="0">
              <a:latin typeface="메이플스토리" panose="02000300000000000000" pitchFamily="2" charset="-127"/>
              <a:ea typeface="메이플스토리" panose="02000300000000000000" pitchFamily="2" charset="-127"/>
            </a:endParaRPr>
          </a:p>
          <a:p>
            <a:pPr defTabSz="180000"/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	</a:t>
            </a:r>
            <a:r>
              <a:rPr lang="en-US" altLang="ko-KR" sz="12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c.add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</a:t>
            </a:r>
            <a:r>
              <a:rPr lang="en-US" altLang="ko-KR" sz="12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strList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);</a:t>
            </a:r>
          </a:p>
          <a:p>
            <a:pPr defTabSz="180000"/>
            <a:endParaRPr lang="en-US" altLang="ko-KR" sz="1200" dirty="0">
              <a:latin typeface="메이플스토리" panose="02000300000000000000" pitchFamily="2" charset="-127"/>
              <a:ea typeface="메이플스토리" panose="02000300000000000000" pitchFamily="2" charset="-127"/>
            </a:endParaRPr>
          </a:p>
          <a:p>
            <a:pPr defTabSz="180000"/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	</a:t>
            </a:r>
            <a:r>
              <a:rPr lang="en-US" altLang="ko-KR" sz="1200" b="1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JList</a:t>
            </a:r>
            <a:r>
              <a:rPr lang="en-US" altLang="ko-KR" sz="1200" b="1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&lt;</a:t>
            </a:r>
            <a:r>
              <a:rPr lang="en-US" altLang="ko-KR" sz="1200" b="1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ImageIcon</a:t>
            </a:r>
            <a:r>
              <a:rPr lang="en-US" altLang="ko-KR" sz="1200" b="1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&gt; </a:t>
            </a:r>
            <a:r>
              <a:rPr lang="en-US" altLang="ko-KR" sz="1200" b="1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imageList</a:t>
            </a:r>
            <a:r>
              <a:rPr lang="en-US" altLang="ko-KR" sz="1200" b="1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 = new </a:t>
            </a:r>
            <a:r>
              <a:rPr lang="en-US" altLang="ko-KR" sz="1200" b="1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JList</a:t>
            </a:r>
            <a:r>
              <a:rPr lang="en-US" altLang="ko-KR" sz="1200" b="1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&lt;</a:t>
            </a:r>
            <a:r>
              <a:rPr lang="en-US" altLang="ko-KR" sz="1200" b="1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ImageIcon</a:t>
            </a:r>
            <a:r>
              <a:rPr lang="en-US" altLang="ko-KR" sz="1200" b="1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&gt;(); </a:t>
            </a:r>
            <a:endParaRPr lang="ko-KR" altLang="en-US" sz="1200" b="1" dirty="0">
              <a:latin typeface="메이플스토리" panose="02000300000000000000" pitchFamily="2" charset="-127"/>
              <a:ea typeface="메이플스토리" panose="02000300000000000000" pitchFamily="2" charset="-127"/>
            </a:endParaRPr>
          </a:p>
          <a:p>
            <a:pPr defTabSz="180000"/>
            <a:r>
              <a:rPr lang="en-US" altLang="ko-KR" sz="1200" b="1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	</a:t>
            </a:r>
            <a:r>
              <a:rPr lang="en-US" altLang="ko-KR" sz="1200" b="1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imageList.setListData</a:t>
            </a:r>
            <a:r>
              <a:rPr lang="en-US" altLang="ko-KR" sz="1200" b="1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(images);</a:t>
            </a:r>
          </a:p>
          <a:p>
            <a:pPr defTabSz="180000"/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	</a:t>
            </a:r>
            <a:r>
              <a:rPr lang="en-US" altLang="ko-KR" sz="12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c.add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</a:t>
            </a:r>
            <a:r>
              <a:rPr lang="en-US" altLang="ko-KR" sz="12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imageList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);</a:t>
            </a:r>
          </a:p>
          <a:p>
            <a:pPr defTabSz="180000"/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	</a:t>
            </a:r>
          </a:p>
          <a:p>
            <a:pPr defTabSz="180000"/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	</a:t>
            </a:r>
            <a:r>
              <a:rPr lang="en-US" altLang="ko-KR" sz="1200" b="1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JList</a:t>
            </a:r>
            <a:r>
              <a:rPr lang="en-US" altLang="ko-KR" sz="1200" b="1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&lt;String&gt; </a:t>
            </a:r>
            <a:r>
              <a:rPr lang="en-US" altLang="ko-KR" sz="1200" b="1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scrollList</a:t>
            </a:r>
            <a:r>
              <a:rPr lang="en-US" altLang="ko-KR" sz="1200" b="1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 = new </a:t>
            </a:r>
            <a:r>
              <a:rPr lang="en-US" altLang="ko-KR" sz="1200" b="1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JList</a:t>
            </a:r>
            <a:r>
              <a:rPr lang="en-US" altLang="ko-KR" sz="1200" b="1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&lt;String&gt;(fruits); </a:t>
            </a:r>
            <a:endParaRPr lang="ko-KR" altLang="en-US" sz="1200" b="1" dirty="0">
              <a:latin typeface="메이플스토리" panose="02000300000000000000" pitchFamily="2" charset="-127"/>
              <a:ea typeface="메이플스토리" panose="02000300000000000000" pitchFamily="2" charset="-127"/>
            </a:endParaRPr>
          </a:p>
          <a:p>
            <a:pPr defTabSz="180000"/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	</a:t>
            </a:r>
            <a:r>
              <a:rPr lang="en-US" altLang="ko-KR" sz="12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c.add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</a:t>
            </a:r>
            <a:r>
              <a:rPr lang="en-US" altLang="ko-KR" sz="1200" b="1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new </a:t>
            </a:r>
            <a:r>
              <a:rPr lang="en-US" altLang="ko-KR" sz="1200" b="1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JScrollPane</a:t>
            </a:r>
            <a:r>
              <a:rPr lang="en-US" altLang="ko-KR" sz="1200" b="1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</a:t>
            </a:r>
            <a:r>
              <a:rPr lang="en-US" altLang="ko-KR" sz="1200" b="1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scrollList</a:t>
            </a:r>
            <a:r>
              <a:rPr lang="en-US" altLang="ko-KR" sz="1200" b="1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)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); </a:t>
            </a:r>
          </a:p>
          <a:p>
            <a:pPr defTabSz="180000"/>
            <a:endParaRPr lang="en-US" altLang="ko-KR" sz="1200" dirty="0">
              <a:latin typeface="메이플스토리" panose="02000300000000000000" pitchFamily="2" charset="-127"/>
              <a:ea typeface="메이플스토리" panose="02000300000000000000" pitchFamily="2" charset="-127"/>
            </a:endParaRPr>
          </a:p>
          <a:p>
            <a:pPr defTabSz="180000"/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	</a:t>
            </a:r>
            <a:r>
              <a:rPr lang="en-US" altLang="ko-KR" sz="12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setSize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(300,300);</a:t>
            </a:r>
          </a:p>
          <a:p>
            <a:pPr defTabSz="180000"/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	</a:t>
            </a:r>
            <a:r>
              <a:rPr lang="en-US" altLang="ko-KR" sz="12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setVisible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(true);</a:t>
            </a:r>
          </a:p>
          <a:p>
            <a:pPr defTabSz="180000"/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}</a:t>
            </a:r>
          </a:p>
          <a:p>
            <a:pPr defTabSz="180000"/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public static void main(String [] </a:t>
            </a:r>
            <a:r>
              <a:rPr lang="en-US" altLang="ko-KR" sz="12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args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) {</a:t>
            </a:r>
          </a:p>
          <a:p>
            <a:pPr defTabSz="180000"/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	new </a:t>
            </a:r>
            <a:r>
              <a:rPr lang="en-US" altLang="ko-KR" sz="12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ListEx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();</a:t>
            </a:r>
          </a:p>
          <a:p>
            <a:pPr defTabSz="180000"/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}</a:t>
            </a:r>
          </a:p>
          <a:p>
            <a:pPr defTabSz="180000"/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}</a:t>
            </a: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536" y="2060848"/>
            <a:ext cx="2357965" cy="2420888"/>
          </a:xfrm>
          <a:prstGeom prst="rect">
            <a:avLst/>
          </a:prstGeom>
          <a:ln>
            <a:solidFill>
              <a:schemeClr val="accent1">
                <a:lumMod val="75000"/>
              </a:schemeClr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249751" y="4293096"/>
            <a:ext cx="1080120" cy="272415"/>
          </a:xfrm>
          <a:prstGeom prst="wedgeRoundRectCallout">
            <a:avLst>
              <a:gd name="adj1" fmla="val 1235"/>
              <a:gd name="adj2" fmla="val -198241"/>
              <a:gd name="adj3" fmla="val 16667"/>
            </a:avLst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문자열</a:t>
            </a:r>
            <a:r>
              <a:rPr lang="en-US" altLang="ko-KR" sz="10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 </a:t>
            </a:r>
            <a:r>
              <a:rPr lang="ko-KR" altLang="en-US" sz="10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리스트</a:t>
            </a:r>
            <a:endParaRPr lang="en-US" altLang="ko-KR" sz="1000" dirty="0">
              <a:latin typeface="메이플스토리" panose="02000300000000000000" pitchFamily="2" charset="-127"/>
              <a:ea typeface="메이플스토리" panose="02000300000000000000" pitchFamily="2" charset="-127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32520" y="5022216"/>
            <a:ext cx="1080120" cy="272415"/>
          </a:xfrm>
          <a:prstGeom prst="wedgeRoundRectCallout">
            <a:avLst>
              <a:gd name="adj1" fmla="val 2121"/>
              <a:gd name="adj2" fmla="val -435491"/>
              <a:gd name="adj3" fmla="val 16667"/>
            </a:avLst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이미지</a:t>
            </a:r>
            <a:r>
              <a:rPr lang="en-US" altLang="ko-KR" sz="10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 </a:t>
            </a:r>
            <a:r>
              <a:rPr lang="ko-KR" altLang="en-US" sz="10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리스트</a:t>
            </a:r>
            <a:endParaRPr lang="en-US" altLang="ko-KR" sz="1000" dirty="0">
              <a:latin typeface="메이플스토리" panose="02000300000000000000" pitchFamily="2" charset="-127"/>
              <a:ea typeface="메이플스토리" panose="02000300000000000000" pitchFamily="2" charset="-127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267744" y="3982539"/>
            <a:ext cx="1080120" cy="442674"/>
          </a:xfrm>
          <a:prstGeom prst="wedgeRoundRectCallout">
            <a:avLst>
              <a:gd name="adj1" fmla="val -44862"/>
              <a:gd name="adj2" fmla="val -99150"/>
              <a:gd name="adj3" fmla="val 16667"/>
            </a:avLst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리스트에 </a:t>
            </a:r>
            <a:r>
              <a:rPr lang="ko-KR" altLang="en-US" sz="10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스크롤바</a:t>
            </a:r>
            <a:r>
              <a:rPr lang="ko-KR" altLang="en-US" sz="10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 달기</a:t>
            </a:r>
            <a:endParaRPr lang="en-US" altLang="ko-KR" sz="1000" dirty="0">
              <a:latin typeface="메이플스토리" panose="02000300000000000000" pitchFamily="2" charset="-127"/>
              <a:ea typeface="메이플스토리" panose="020003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37388867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리스트의 아이템 변경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ko-KR" dirty="0" err="1"/>
              <a:t>JList</a:t>
            </a:r>
            <a:r>
              <a:rPr lang="en-US" altLang="ko-KR" dirty="0"/>
              <a:t>&lt;E&gt;</a:t>
            </a:r>
            <a:r>
              <a:rPr lang="ko-KR" altLang="en-US" dirty="0"/>
              <a:t>의</a:t>
            </a:r>
            <a:r>
              <a:rPr lang="en-US" altLang="ko-KR" dirty="0"/>
              <a:t> </a:t>
            </a:r>
            <a:r>
              <a:rPr lang="ko-KR" altLang="en-US" dirty="0"/>
              <a:t>특징</a:t>
            </a:r>
            <a:endParaRPr lang="en-US" altLang="ko-KR" dirty="0"/>
          </a:p>
          <a:p>
            <a:pPr lvl="1"/>
            <a:r>
              <a:rPr lang="en-US" altLang="ko-KR" dirty="0" err="1"/>
              <a:t>JList</a:t>
            </a:r>
            <a:r>
              <a:rPr lang="en-US" altLang="ko-KR" dirty="0"/>
              <a:t>&lt;E&gt;(Vector </a:t>
            </a:r>
            <a:r>
              <a:rPr lang="en-US" altLang="ko-KR" dirty="0" err="1"/>
              <a:t>listData</a:t>
            </a:r>
            <a:r>
              <a:rPr lang="en-US" altLang="ko-KR" dirty="0"/>
              <a:t>)</a:t>
            </a:r>
            <a:r>
              <a:rPr lang="ko-KR" altLang="en-US" dirty="0"/>
              <a:t>나 </a:t>
            </a:r>
            <a:r>
              <a:rPr lang="en-US" altLang="ko-KR" dirty="0" err="1"/>
              <a:t>JList</a:t>
            </a:r>
            <a:r>
              <a:rPr lang="en-US" altLang="ko-KR" dirty="0"/>
              <a:t>&lt;E&gt;(Object [] </a:t>
            </a:r>
            <a:r>
              <a:rPr lang="en-US" altLang="ko-KR" dirty="0" err="1"/>
              <a:t>listData</a:t>
            </a:r>
            <a:r>
              <a:rPr lang="en-US" altLang="ko-KR" dirty="0"/>
              <a:t>)</a:t>
            </a:r>
            <a:r>
              <a:rPr lang="ko-KR" altLang="en-US" dirty="0"/>
              <a:t>로 리스트가 생성되고 나면 벡터나 배열을 수정해도 리스트 수정 안됨</a:t>
            </a:r>
            <a:endParaRPr lang="en-US" altLang="ko-KR" dirty="0"/>
          </a:p>
          <a:p>
            <a:r>
              <a:rPr lang="ko-KR" altLang="en-US" dirty="0"/>
              <a:t>리스트를 수정하는 간단한 방법</a:t>
            </a:r>
            <a:endParaRPr lang="en-US" altLang="ko-KR" dirty="0"/>
          </a:p>
          <a:p>
            <a:pPr lvl="1"/>
            <a:r>
              <a:rPr lang="en-US" altLang="ko-KR" dirty="0" err="1"/>
              <a:t>JList</a:t>
            </a:r>
            <a:r>
              <a:rPr lang="en-US" altLang="ko-KR" dirty="0"/>
              <a:t>&lt;E&gt;</a:t>
            </a:r>
            <a:r>
              <a:rPr lang="ko-KR" altLang="en-US" dirty="0"/>
              <a:t>의 </a:t>
            </a:r>
            <a:r>
              <a:rPr lang="en-US" altLang="ko-KR" dirty="0" err="1"/>
              <a:t>setListData</a:t>
            </a:r>
            <a:r>
              <a:rPr lang="en-US" altLang="ko-KR" dirty="0"/>
              <a:t>()</a:t>
            </a:r>
            <a:r>
              <a:rPr lang="ko-KR" altLang="en-US" dirty="0"/>
              <a:t>를 호출</a:t>
            </a:r>
            <a:endParaRPr lang="en-US" altLang="ko-KR" dirty="0"/>
          </a:p>
          <a:p>
            <a:pPr lvl="2"/>
            <a:r>
              <a:rPr lang="ko-KR" altLang="en-US" dirty="0"/>
              <a:t>리스트에 수정된 벡터나 배열을 새로 달아주는 방법</a:t>
            </a: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77500" lnSpcReduction="20000"/>
          </a:bodyPr>
          <a:lstStyle/>
          <a:p>
            <a:fld id="{01870596-DAFA-46D2-82A7-2B6B5F8E0EA4}" type="slidenum">
              <a:rPr lang="ko-KR" altLang="en-US" smtClean="0"/>
              <a:t>32</a:t>
            </a:fld>
            <a:endParaRPr lang="ko-KR" altLang="en-US"/>
          </a:p>
        </p:txBody>
      </p:sp>
      <p:sp>
        <p:nvSpPr>
          <p:cNvPr id="5" name="직사각형 4"/>
          <p:cNvSpPr/>
          <p:nvPr/>
        </p:nvSpPr>
        <p:spPr>
          <a:xfrm>
            <a:off x="1547664" y="3717032"/>
            <a:ext cx="5040560" cy="203132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defTabSz="180000"/>
            <a:r>
              <a:rPr lang="en-US" altLang="ko-KR" sz="14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Vector&lt;String&gt; v = new Vector&lt;String&gt;();</a:t>
            </a:r>
          </a:p>
          <a:p>
            <a:pPr defTabSz="180000"/>
            <a:r>
              <a:rPr lang="en-US" altLang="ko-KR" sz="14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v.add</a:t>
            </a:r>
            <a:r>
              <a:rPr lang="en-US" altLang="ko-KR" sz="14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("</a:t>
            </a:r>
            <a:r>
              <a:rPr lang="ko-KR" altLang="en-US" sz="14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황기태</a:t>
            </a:r>
            <a:r>
              <a:rPr lang="en-US" altLang="ko-KR" sz="14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");</a:t>
            </a:r>
          </a:p>
          <a:p>
            <a:pPr defTabSz="180000"/>
            <a:r>
              <a:rPr lang="en-US" altLang="ko-KR" sz="14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v.add</a:t>
            </a:r>
            <a:r>
              <a:rPr lang="en-US" altLang="ko-KR" sz="14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("</a:t>
            </a:r>
            <a:r>
              <a:rPr lang="ko-KR" altLang="en-US" sz="14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이재문</a:t>
            </a:r>
            <a:r>
              <a:rPr lang="en-US" altLang="ko-KR" sz="14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");</a:t>
            </a:r>
          </a:p>
          <a:p>
            <a:pPr defTabSz="180000"/>
            <a:r>
              <a:rPr lang="en-US" altLang="ko-KR" sz="14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JList</a:t>
            </a:r>
            <a:r>
              <a:rPr lang="en-US" altLang="ko-KR" sz="14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&lt;String&gt; </a:t>
            </a:r>
            <a:r>
              <a:rPr lang="en-US" altLang="ko-KR" sz="14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nameList</a:t>
            </a:r>
            <a:r>
              <a:rPr lang="en-US" altLang="ko-KR" sz="14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 = new </a:t>
            </a:r>
            <a:r>
              <a:rPr lang="en-US" altLang="ko-KR" sz="14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JList</a:t>
            </a:r>
            <a:r>
              <a:rPr lang="en-US" altLang="ko-KR" sz="14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&lt;String&gt;(v);</a:t>
            </a:r>
          </a:p>
          <a:p>
            <a:pPr defTabSz="180000"/>
            <a:endParaRPr lang="en-US" altLang="ko-KR" sz="1400" dirty="0">
              <a:latin typeface="메이플스토리" panose="02000300000000000000" pitchFamily="2" charset="-127"/>
              <a:ea typeface="메이플스토리" panose="02000300000000000000" pitchFamily="2" charset="-127"/>
            </a:endParaRPr>
          </a:p>
          <a:p>
            <a:pPr defTabSz="180000"/>
            <a:endParaRPr lang="en-US" altLang="ko-KR" sz="1400" dirty="0">
              <a:latin typeface="메이플스토리" panose="02000300000000000000" pitchFamily="2" charset="-127"/>
              <a:ea typeface="메이플스토리" panose="02000300000000000000" pitchFamily="2" charset="-127"/>
            </a:endParaRPr>
          </a:p>
          <a:p>
            <a:pPr defTabSz="180000"/>
            <a:r>
              <a:rPr lang="en-US" altLang="ko-KR" sz="14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// </a:t>
            </a:r>
            <a:r>
              <a:rPr lang="ko-KR" altLang="en-US" sz="14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벡터 </a:t>
            </a:r>
            <a:r>
              <a:rPr lang="en-US" altLang="ko-KR" sz="14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v</a:t>
            </a:r>
            <a:r>
              <a:rPr lang="ko-KR" altLang="en-US" sz="14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를 수정하고</a:t>
            </a:r>
            <a:r>
              <a:rPr lang="en-US" altLang="ko-KR" sz="14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, </a:t>
            </a:r>
            <a:r>
              <a:rPr lang="ko-KR" altLang="en-US" sz="14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벡터 </a:t>
            </a:r>
            <a:r>
              <a:rPr lang="en-US" altLang="ko-KR" sz="14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v</a:t>
            </a:r>
            <a:r>
              <a:rPr lang="ko-KR" altLang="en-US" sz="14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를 리스트에 다시 달기</a:t>
            </a:r>
            <a:endParaRPr lang="en-US" altLang="ko-KR" sz="1400" dirty="0">
              <a:latin typeface="메이플스토리" panose="02000300000000000000" pitchFamily="2" charset="-127"/>
              <a:ea typeface="메이플스토리" panose="02000300000000000000" pitchFamily="2" charset="-127"/>
            </a:endParaRPr>
          </a:p>
          <a:p>
            <a:r>
              <a:rPr lang="en-US" altLang="ko-KR" sz="14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v.add</a:t>
            </a:r>
            <a:r>
              <a:rPr lang="en-US" altLang="ko-KR" sz="14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("</a:t>
            </a:r>
            <a:r>
              <a:rPr lang="ko-KR" altLang="en-US" sz="14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김남윤</a:t>
            </a:r>
            <a:r>
              <a:rPr lang="en-US" altLang="ko-KR" sz="14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");</a:t>
            </a:r>
          </a:p>
          <a:p>
            <a:r>
              <a:rPr lang="en-US" altLang="ko-KR" sz="1400" dirty="0" err="1">
                <a:solidFill>
                  <a:srgbClr val="FF0000"/>
                </a:solidFill>
                <a:latin typeface="메이플스토리" panose="02000300000000000000" pitchFamily="2" charset="-127"/>
                <a:ea typeface="메이플스토리" panose="02000300000000000000" pitchFamily="2" charset="-127"/>
              </a:rPr>
              <a:t>nameList.setListData</a:t>
            </a:r>
            <a:r>
              <a:rPr lang="en-US" altLang="ko-KR" sz="1400" dirty="0">
                <a:solidFill>
                  <a:srgbClr val="FF0000"/>
                </a:solidFill>
                <a:latin typeface="메이플스토리" panose="02000300000000000000" pitchFamily="2" charset="-127"/>
                <a:ea typeface="메이플스토리" panose="02000300000000000000" pitchFamily="2" charset="-127"/>
              </a:rPr>
              <a:t>(v);</a:t>
            </a:r>
            <a:endParaRPr lang="ko-KR" altLang="en-US" sz="1400" dirty="0">
              <a:solidFill>
                <a:srgbClr val="FF0000"/>
              </a:solidFill>
              <a:latin typeface="메이플스토리" panose="02000300000000000000" pitchFamily="2" charset="-127"/>
              <a:ea typeface="메이플스토리" panose="020003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47196887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예제 </a:t>
            </a:r>
            <a:r>
              <a:rPr lang="en-US" altLang="ko-KR" dirty="0"/>
              <a:t>11-11 : </a:t>
            </a:r>
            <a:r>
              <a:rPr lang="ko-KR" altLang="en-US" dirty="0"/>
              <a:t>리스트의 아이템 변경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77500" lnSpcReduction="20000"/>
          </a:bodyPr>
          <a:lstStyle/>
          <a:p>
            <a:fld id="{01870596-DAFA-46D2-82A7-2B6B5F8E0EA4}" type="slidenum">
              <a:rPr lang="ko-KR" altLang="en-US" smtClean="0"/>
              <a:t>33</a:t>
            </a:fld>
            <a:endParaRPr lang="ko-KR" altLang="en-US" dirty="0"/>
          </a:p>
        </p:txBody>
      </p:sp>
      <p:sp>
        <p:nvSpPr>
          <p:cNvPr id="5" name="직사각형 4"/>
          <p:cNvSpPr/>
          <p:nvPr/>
        </p:nvSpPr>
        <p:spPr>
          <a:xfrm>
            <a:off x="179512" y="1340768"/>
            <a:ext cx="4248472" cy="5632311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defTabSz="180000"/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import </a:t>
            </a:r>
            <a:r>
              <a:rPr lang="en-US" altLang="ko-KR" sz="12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javax.swing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.*;</a:t>
            </a:r>
          </a:p>
          <a:p>
            <a:pPr defTabSz="180000"/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import </a:t>
            </a:r>
            <a:r>
              <a:rPr lang="en-US" altLang="ko-KR" sz="12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java.awt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.*;</a:t>
            </a:r>
          </a:p>
          <a:p>
            <a:pPr defTabSz="180000"/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import </a:t>
            </a:r>
            <a:r>
              <a:rPr lang="en-US" altLang="ko-KR" sz="12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java.awt.event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.*;</a:t>
            </a:r>
          </a:p>
          <a:p>
            <a:pPr defTabSz="180000"/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import </a:t>
            </a:r>
            <a:r>
              <a:rPr lang="en-US" altLang="ko-KR" sz="12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java.util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.*;</a:t>
            </a:r>
          </a:p>
          <a:p>
            <a:pPr defTabSz="180000"/>
            <a:endParaRPr lang="en-US" altLang="ko-KR" sz="1200" dirty="0">
              <a:latin typeface="메이플스토리" panose="02000300000000000000" pitchFamily="2" charset="-127"/>
              <a:ea typeface="메이플스토리" panose="02000300000000000000" pitchFamily="2" charset="-127"/>
            </a:endParaRPr>
          </a:p>
          <a:p>
            <a:pPr defTabSz="180000"/>
            <a:r>
              <a:rPr lang="en-US" altLang="ko-KR" sz="1200" b="1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public class </a:t>
            </a:r>
            <a:r>
              <a:rPr lang="en-US" altLang="ko-KR" sz="1200" b="1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ListChangeEx</a:t>
            </a:r>
            <a:r>
              <a:rPr lang="en-US" altLang="ko-KR" sz="1200" b="1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 extends </a:t>
            </a:r>
            <a:r>
              <a:rPr lang="en-US" altLang="ko-KR" sz="1200" b="1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JFrame</a:t>
            </a:r>
            <a:r>
              <a:rPr lang="en-US" altLang="ko-KR" sz="1200" b="1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 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{</a:t>
            </a:r>
          </a:p>
          <a:p>
            <a:pPr defTabSz="180000"/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private </a:t>
            </a:r>
            <a:r>
              <a:rPr lang="en-US" altLang="ko-KR" sz="12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JTextField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 </a:t>
            </a:r>
            <a:r>
              <a:rPr lang="en-US" altLang="ko-KR" sz="12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tf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 = new </a:t>
            </a:r>
            <a:r>
              <a:rPr lang="en-US" altLang="ko-KR" sz="12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JTextField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(10);</a:t>
            </a:r>
          </a:p>
          <a:p>
            <a:pPr defTabSz="180000"/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private Vector&lt;String&gt; </a:t>
            </a:r>
            <a:r>
              <a:rPr lang="en-US" altLang="ko-KR" sz="1200" b="1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v = new Vector&lt;String&gt;();</a:t>
            </a:r>
          </a:p>
          <a:p>
            <a:pPr defTabSz="180000"/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private </a:t>
            </a:r>
            <a:r>
              <a:rPr lang="en-US" altLang="ko-KR" sz="12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JList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&lt;String&gt; </a:t>
            </a:r>
            <a:r>
              <a:rPr lang="en-US" altLang="ko-KR" sz="1200" b="1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nameList</a:t>
            </a:r>
            <a:r>
              <a:rPr lang="en-US" altLang="ko-KR" sz="1200" b="1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 = new </a:t>
            </a:r>
            <a:r>
              <a:rPr lang="en-US" altLang="ko-KR" sz="1200" b="1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JList</a:t>
            </a:r>
            <a:r>
              <a:rPr lang="en-US" altLang="ko-KR" sz="1200" b="1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&lt;String&gt;(v);</a:t>
            </a:r>
          </a:p>
          <a:p>
            <a:pPr defTabSz="180000"/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</a:t>
            </a:r>
          </a:p>
          <a:p>
            <a:pPr defTabSz="180000"/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public </a:t>
            </a:r>
            <a:r>
              <a:rPr lang="en-US" altLang="ko-KR" sz="12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ListChangeEx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() {</a:t>
            </a:r>
          </a:p>
          <a:p>
            <a:pPr defTabSz="180000"/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	</a:t>
            </a:r>
            <a:r>
              <a:rPr lang="en-US" altLang="ko-KR" sz="12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setTitle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("</a:t>
            </a:r>
            <a:r>
              <a:rPr lang="ko-KR" altLang="en-US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리스트 변경 예제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");</a:t>
            </a:r>
          </a:p>
          <a:p>
            <a:pPr defTabSz="180000"/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	</a:t>
            </a:r>
            <a:r>
              <a:rPr lang="en-US" altLang="ko-KR" sz="12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setDefaultCloseOperation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</a:t>
            </a:r>
            <a:r>
              <a:rPr lang="en-US" altLang="ko-KR" sz="12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JFrame.EXIT_ON_CLOSE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);</a:t>
            </a:r>
          </a:p>
          <a:p>
            <a:pPr defTabSz="180000"/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	Container c = </a:t>
            </a:r>
            <a:r>
              <a:rPr lang="en-US" altLang="ko-KR" sz="12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getContentPane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();</a:t>
            </a:r>
          </a:p>
          <a:p>
            <a:pPr defTabSz="180000"/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	</a:t>
            </a:r>
            <a:r>
              <a:rPr lang="en-US" altLang="ko-KR" sz="12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c.setLayout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(new </a:t>
            </a:r>
            <a:r>
              <a:rPr lang="en-US" altLang="ko-KR" sz="12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FlowLayout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());</a:t>
            </a:r>
          </a:p>
          <a:p>
            <a:pPr defTabSz="180000"/>
            <a:endParaRPr lang="en-US" altLang="ko-KR" sz="1200" dirty="0">
              <a:latin typeface="메이플스토리" panose="02000300000000000000" pitchFamily="2" charset="-127"/>
              <a:ea typeface="메이플스토리" panose="02000300000000000000" pitchFamily="2" charset="-127"/>
            </a:endParaRPr>
          </a:p>
          <a:p>
            <a:pPr defTabSz="180000"/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	</a:t>
            </a:r>
            <a:r>
              <a:rPr lang="en-US" altLang="ko-KR" sz="12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c.add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(new </a:t>
            </a:r>
            <a:r>
              <a:rPr lang="en-US" altLang="ko-KR" sz="12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JLabel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("</a:t>
            </a:r>
            <a:r>
              <a:rPr lang="ko-KR" altLang="en-US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이름 입력 후 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&lt;Enter&gt; </a:t>
            </a:r>
            <a:r>
              <a:rPr lang="ko-KR" altLang="en-US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키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"));</a:t>
            </a:r>
          </a:p>
          <a:p>
            <a:pPr defTabSz="180000"/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	</a:t>
            </a:r>
            <a:r>
              <a:rPr lang="en-US" altLang="ko-KR" sz="12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c.add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</a:t>
            </a:r>
            <a:r>
              <a:rPr lang="en-US" altLang="ko-KR" sz="12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tf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);</a:t>
            </a:r>
          </a:p>
          <a:p>
            <a:pPr defTabSz="180000"/>
            <a:endParaRPr lang="en-US" altLang="ko-KR" sz="1200" dirty="0">
              <a:latin typeface="메이플스토리" panose="02000300000000000000" pitchFamily="2" charset="-127"/>
              <a:ea typeface="메이플스토리" panose="02000300000000000000" pitchFamily="2" charset="-127"/>
            </a:endParaRPr>
          </a:p>
          <a:p>
            <a:pPr defTabSz="180000"/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	</a:t>
            </a:r>
            <a:r>
              <a:rPr lang="en-US" altLang="ko-KR" sz="12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v.add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("</a:t>
            </a:r>
            <a:r>
              <a:rPr lang="ko-KR" altLang="en-US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황기태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");</a:t>
            </a:r>
          </a:p>
          <a:p>
            <a:pPr defTabSz="180000"/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	</a:t>
            </a:r>
            <a:r>
              <a:rPr lang="en-US" altLang="ko-KR" sz="12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v.add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("</a:t>
            </a:r>
            <a:r>
              <a:rPr lang="ko-KR" altLang="en-US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이재문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");</a:t>
            </a:r>
          </a:p>
          <a:p>
            <a:pPr defTabSz="180000"/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	</a:t>
            </a:r>
            <a:r>
              <a:rPr lang="en-US" altLang="ko-KR" sz="12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nameList.setVisibleRowCount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(5); </a:t>
            </a:r>
            <a:endParaRPr lang="ko-KR" altLang="en-US" sz="1200" dirty="0">
              <a:latin typeface="메이플스토리" panose="02000300000000000000" pitchFamily="2" charset="-127"/>
              <a:ea typeface="메이플스토리" panose="02000300000000000000" pitchFamily="2" charset="-127"/>
            </a:endParaRPr>
          </a:p>
          <a:p>
            <a:pPr defTabSz="180000"/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	</a:t>
            </a:r>
            <a:r>
              <a:rPr lang="en-US" altLang="ko-KR" sz="12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nameList.setFixedCellWidth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(100);</a:t>
            </a:r>
            <a:endParaRPr lang="ko-KR" altLang="en-US" sz="1200" dirty="0">
              <a:latin typeface="메이플스토리" panose="02000300000000000000" pitchFamily="2" charset="-127"/>
              <a:ea typeface="메이플스토리" panose="02000300000000000000" pitchFamily="2" charset="-127"/>
            </a:endParaRPr>
          </a:p>
          <a:p>
            <a:pPr defTabSz="180000"/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	</a:t>
            </a:r>
            <a:r>
              <a:rPr lang="en-US" altLang="ko-KR" sz="1200" b="1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c.add</a:t>
            </a:r>
            <a:r>
              <a:rPr lang="en-US" altLang="ko-KR" sz="1200" b="1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(new </a:t>
            </a:r>
            <a:r>
              <a:rPr lang="en-US" altLang="ko-KR" sz="1200" b="1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JScrollPane</a:t>
            </a:r>
            <a:r>
              <a:rPr lang="en-US" altLang="ko-KR" sz="1200" b="1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</a:t>
            </a:r>
            <a:r>
              <a:rPr lang="en-US" altLang="ko-KR" sz="1200" b="1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nameList</a:t>
            </a:r>
            <a:r>
              <a:rPr lang="en-US" altLang="ko-KR" sz="1200" b="1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));</a:t>
            </a:r>
          </a:p>
          <a:p>
            <a:pPr defTabSz="180000"/>
            <a:endParaRPr lang="en-US" altLang="ko-KR" sz="1200" dirty="0">
              <a:latin typeface="메이플스토리" panose="02000300000000000000" pitchFamily="2" charset="-127"/>
              <a:ea typeface="메이플스토리" panose="02000300000000000000" pitchFamily="2" charset="-127"/>
            </a:endParaRPr>
          </a:p>
          <a:p>
            <a:pPr defTabSz="180000"/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	</a:t>
            </a:r>
            <a:r>
              <a:rPr lang="en-US" altLang="ko-KR" sz="12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setSize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(300,300);</a:t>
            </a:r>
          </a:p>
          <a:p>
            <a:pPr defTabSz="180000"/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	</a:t>
            </a:r>
            <a:r>
              <a:rPr lang="en-US" altLang="ko-KR" sz="12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setVisible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(true);</a:t>
            </a:r>
          </a:p>
          <a:p>
            <a:pPr defTabSz="180000"/>
            <a:endParaRPr lang="ko-KR" altLang="en-US" sz="1200" dirty="0">
              <a:latin typeface="메이플스토리" panose="02000300000000000000" pitchFamily="2" charset="-127"/>
              <a:ea typeface="메이플스토리" panose="02000300000000000000" pitchFamily="2" charset="-127"/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4597027" y="1340768"/>
            <a:ext cx="4169021" cy="2677656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defTabSz="180000"/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	// </a:t>
            </a:r>
            <a:r>
              <a:rPr lang="en-US" altLang="ko-KR" sz="12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JTextField</a:t>
            </a:r>
            <a:r>
              <a:rPr lang="ko-KR" altLang="en-US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에 </a:t>
            </a:r>
            <a:r>
              <a:rPr lang="en-US" altLang="ko-KR" sz="12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ActionLister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 </a:t>
            </a:r>
            <a:r>
              <a:rPr lang="ko-KR" altLang="en-US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등록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. &lt;Enter&gt; </a:t>
            </a:r>
            <a:r>
              <a:rPr lang="ko-KR" altLang="en-US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키 처리</a:t>
            </a:r>
          </a:p>
          <a:p>
            <a:pPr defTabSz="180000"/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	</a:t>
            </a:r>
            <a:r>
              <a:rPr lang="en-US" altLang="ko-KR" sz="1200" b="1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tf.addActionListener</a:t>
            </a:r>
            <a:r>
              <a:rPr lang="en-US" altLang="ko-KR" sz="1200" b="1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(new </a:t>
            </a:r>
            <a:r>
              <a:rPr lang="en-US" altLang="ko-KR" sz="1200" b="1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ActionListener</a:t>
            </a:r>
            <a:r>
              <a:rPr lang="en-US" altLang="ko-KR" sz="1200" b="1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() 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{</a:t>
            </a:r>
          </a:p>
          <a:p>
            <a:pPr defTabSz="180000"/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		public void </a:t>
            </a:r>
            <a:r>
              <a:rPr lang="en-US" altLang="ko-KR" sz="12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actionPerformed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</a:t>
            </a:r>
            <a:r>
              <a:rPr lang="en-US" altLang="ko-KR" sz="12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ActionEvent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 e) {</a:t>
            </a:r>
          </a:p>
          <a:p>
            <a:pPr defTabSz="180000"/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			</a:t>
            </a:r>
            <a:r>
              <a:rPr lang="en-US" altLang="ko-KR" sz="12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JTextField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 t = (</a:t>
            </a:r>
            <a:r>
              <a:rPr lang="en-US" altLang="ko-KR" sz="12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JTextField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)</a:t>
            </a:r>
            <a:r>
              <a:rPr lang="en-US" altLang="ko-KR" sz="12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e.getSource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();</a:t>
            </a:r>
          </a:p>
          <a:p>
            <a:pPr defTabSz="180000"/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			</a:t>
            </a:r>
            <a:r>
              <a:rPr lang="en-US" altLang="ko-KR" sz="1200" b="1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v.add</a:t>
            </a:r>
            <a:r>
              <a:rPr lang="en-US" altLang="ko-KR" sz="1200" b="1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</a:t>
            </a:r>
            <a:r>
              <a:rPr lang="en-US" altLang="ko-KR" sz="1200" b="1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t.getText</a:t>
            </a:r>
            <a:r>
              <a:rPr lang="en-US" altLang="ko-KR" sz="1200" b="1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()); </a:t>
            </a:r>
            <a:endParaRPr lang="ko-KR" altLang="en-US" sz="1200" b="1" dirty="0">
              <a:latin typeface="메이플스토리" panose="02000300000000000000" pitchFamily="2" charset="-127"/>
              <a:ea typeface="메이플스토리" panose="02000300000000000000" pitchFamily="2" charset="-127"/>
            </a:endParaRPr>
          </a:p>
          <a:p>
            <a:pPr defTabSz="180000"/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			</a:t>
            </a:r>
            <a:r>
              <a:rPr lang="en-US" altLang="ko-KR" sz="12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t.setText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("");</a:t>
            </a:r>
          </a:p>
          <a:p>
            <a:pPr defTabSz="180000"/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			</a:t>
            </a:r>
            <a:r>
              <a:rPr lang="en-US" altLang="ko-KR" sz="1200" b="1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nameList.setListData</a:t>
            </a:r>
            <a:r>
              <a:rPr lang="en-US" altLang="ko-KR" sz="1200" b="1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(v);</a:t>
            </a:r>
            <a:endParaRPr lang="ko-KR" altLang="en-US" sz="1200" b="1" dirty="0">
              <a:latin typeface="메이플스토리" panose="02000300000000000000" pitchFamily="2" charset="-127"/>
              <a:ea typeface="메이플스토리" panose="02000300000000000000" pitchFamily="2" charset="-127"/>
            </a:endParaRPr>
          </a:p>
          <a:p>
            <a:pPr defTabSz="180000"/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		}</a:t>
            </a:r>
          </a:p>
          <a:p>
            <a:pPr defTabSz="180000"/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	</a:t>
            </a:r>
            <a:r>
              <a:rPr lang="en-US" altLang="ko-KR" sz="1200" b="1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});</a:t>
            </a:r>
          </a:p>
          <a:p>
            <a:pPr defTabSz="180000"/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}</a:t>
            </a:r>
          </a:p>
          <a:p>
            <a:pPr defTabSz="180000"/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public static void main(String [] </a:t>
            </a:r>
            <a:r>
              <a:rPr lang="en-US" altLang="ko-KR" sz="12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args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) {</a:t>
            </a:r>
          </a:p>
          <a:p>
            <a:pPr defTabSz="180000"/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	new </a:t>
            </a:r>
            <a:r>
              <a:rPr lang="en-US" altLang="ko-KR" sz="12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ListChangeEx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();</a:t>
            </a:r>
          </a:p>
          <a:p>
            <a:pPr defTabSz="180000"/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}</a:t>
            </a:r>
          </a:p>
          <a:p>
            <a:pPr defTabSz="180000"/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}</a:t>
            </a:r>
            <a:endParaRPr lang="ko-KR" altLang="en-US" sz="1200" dirty="0">
              <a:latin typeface="메이플스토리" panose="02000300000000000000" pitchFamily="2" charset="-127"/>
              <a:ea typeface="메이플스토리" panose="02000300000000000000" pitchFamily="2" charset="-127"/>
            </a:endParaRPr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97027" y="4149080"/>
            <a:ext cx="2287829" cy="2348880"/>
          </a:xfrm>
          <a:prstGeom prst="rect">
            <a:avLst/>
          </a:prstGeom>
          <a:ln>
            <a:solidFill>
              <a:schemeClr val="accent1">
                <a:lumMod val="75000"/>
              </a:schemeClr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7020272" y="4365104"/>
            <a:ext cx="1872208" cy="612934"/>
          </a:xfrm>
          <a:prstGeom prst="wedgeRoundRectCallout">
            <a:avLst>
              <a:gd name="adj1" fmla="val -94777"/>
              <a:gd name="adj2" fmla="val -31301"/>
              <a:gd name="adj3" fmla="val 16667"/>
            </a:avLst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텍스트필드 창에 이름을 입력하고 </a:t>
            </a:r>
            <a:r>
              <a:rPr lang="en-US" altLang="ko-KR" sz="10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&lt;Enter&gt; </a:t>
            </a:r>
            <a:r>
              <a:rPr lang="ko-KR" altLang="en-US" sz="10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키를 치면</a:t>
            </a:r>
            <a:r>
              <a:rPr lang="en-US" altLang="ko-KR" sz="10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, </a:t>
            </a:r>
            <a:r>
              <a:rPr lang="ko-KR" altLang="en-US" sz="10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리스트에 추가</a:t>
            </a:r>
            <a:endParaRPr lang="en-US" altLang="ko-KR" sz="1000" dirty="0">
              <a:latin typeface="메이플스토리" panose="02000300000000000000" pitchFamily="2" charset="-127"/>
              <a:ea typeface="메이플스토리" panose="02000300000000000000" pitchFamily="2" charset="-127"/>
            </a:endParaRPr>
          </a:p>
        </p:txBody>
      </p:sp>
      <p:sp>
        <p:nvSpPr>
          <p:cNvPr id="9" name="자유형 8"/>
          <p:cNvSpPr/>
          <p:nvPr/>
        </p:nvSpPr>
        <p:spPr>
          <a:xfrm>
            <a:off x="5872899" y="4850091"/>
            <a:ext cx="1234911" cy="358424"/>
          </a:xfrm>
          <a:custGeom>
            <a:avLst/>
            <a:gdLst>
              <a:gd name="connsiteX0" fmla="*/ 1183064 w 1234911"/>
              <a:gd name="connsiteY0" fmla="*/ 0 h 358424"/>
              <a:gd name="connsiteX1" fmla="*/ 0 w 1234911"/>
              <a:gd name="connsiteY1" fmla="*/ 358218 h 358424"/>
              <a:gd name="connsiteX2" fmla="*/ 1234911 w 1234911"/>
              <a:gd name="connsiteY2" fmla="*/ 51847 h 3584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234911" h="358424">
                <a:moveTo>
                  <a:pt x="1183064" y="0"/>
                </a:moveTo>
                <a:lnTo>
                  <a:pt x="0" y="358218"/>
                </a:lnTo>
                <a:cubicBezTo>
                  <a:pt x="8641" y="366859"/>
                  <a:pt x="1026736" y="102123"/>
                  <a:pt x="1234911" y="51847"/>
                </a:cubicBezTo>
              </a:path>
            </a:pathLst>
          </a:custGeom>
          <a:solidFill>
            <a:schemeClr val="accent4">
              <a:lumMod val="20000"/>
              <a:lumOff val="80000"/>
            </a:schemeClr>
          </a:solidFill>
          <a:ln w="95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메이플스토리" panose="02000300000000000000" pitchFamily="2" charset="-127"/>
              <a:ea typeface="메이플스토리" panose="020003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86407188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JComboBox</a:t>
            </a:r>
            <a:r>
              <a:rPr lang="en-US" altLang="ko-KR" dirty="0"/>
              <a:t>&lt;E&gt;, </a:t>
            </a:r>
            <a:r>
              <a:rPr lang="ko-KR" altLang="en-US" dirty="0" err="1"/>
              <a:t>콤보박스</a:t>
            </a:r>
            <a:r>
              <a:rPr lang="ko-KR" altLang="en-US" dirty="0"/>
              <a:t> 컴포넌트</a:t>
            </a:r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altLang="ko-KR" dirty="0" err="1"/>
              <a:t>JComboBox</a:t>
            </a:r>
            <a:r>
              <a:rPr lang="en-US" altLang="ko-KR" dirty="0"/>
              <a:t>&lt;E&gt;</a:t>
            </a:r>
          </a:p>
          <a:p>
            <a:pPr lvl="1"/>
            <a:r>
              <a:rPr lang="ko-KR" altLang="en-US" dirty="0" err="1"/>
              <a:t>콤보박스란</a:t>
            </a:r>
            <a:r>
              <a:rPr lang="en-US" altLang="ko-KR" dirty="0"/>
              <a:t>?</a:t>
            </a:r>
          </a:p>
          <a:p>
            <a:pPr lvl="2"/>
            <a:r>
              <a:rPr lang="ko-KR" altLang="en-US" dirty="0"/>
              <a:t>텍스트 필드와 버튼</a:t>
            </a:r>
            <a:r>
              <a:rPr lang="en-US" altLang="ko-KR" dirty="0"/>
              <a:t>, </a:t>
            </a:r>
          </a:p>
          <a:p>
            <a:pPr marL="685800" lvl="2" indent="0">
              <a:buNone/>
            </a:pPr>
            <a:r>
              <a:rPr lang="en-US" altLang="ko-KR" dirty="0"/>
              <a:t>    </a:t>
            </a:r>
            <a:r>
              <a:rPr lang="ko-KR" altLang="en-US" dirty="0"/>
              <a:t>그리고 </a:t>
            </a:r>
            <a:r>
              <a:rPr lang="ko-KR" altLang="en-US" dirty="0" err="1"/>
              <a:t>드롭다운</a:t>
            </a:r>
            <a:r>
              <a:rPr lang="ko-KR" altLang="en-US" dirty="0"/>
              <a:t> 리스트로 구성</a:t>
            </a:r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r>
              <a:rPr lang="ko-KR" altLang="en-US" dirty="0" err="1"/>
              <a:t>생성자</a:t>
            </a:r>
            <a:endParaRPr lang="en-US" altLang="ko-KR" dirty="0"/>
          </a:p>
        </p:txBody>
      </p:sp>
      <p:sp>
        <p:nvSpPr>
          <p:cNvPr id="13" name="슬라이드 번호 개체 틀 1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77500" lnSpcReduction="20000"/>
          </a:bodyPr>
          <a:lstStyle/>
          <a:p>
            <a:fld id="{1A6BD2C2-3D3B-4E94-BD92-61B02C5F4DEE}" type="slidenum">
              <a:rPr lang="ko-KR" altLang="en-US" smtClean="0"/>
              <a:pPr/>
              <a:t>34</a:t>
            </a:fld>
            <a:endParaRPr lang="ko-KR" altLang="en-US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3608" y="4156491"/>
            <a:ext cx="7507685" cy="1067137"/>
          </a:xfrm>
          <a:prstGeom prst="rect">
            <a:avLst/>
          </a:prstGeom>
        </p:spPr>
      </p:pic>
      <p:grpSp>
        <p:nvGrpSpPr>
          <p:cNvPr id="11" name="그룹 10"/>
          <p:cNvGrpSpPr/>
          <p:nvPr/>
        </p:nvGrpSpPr>
        <p:grpSpPr>
          <a:xfrm>
            <a:off x="4427984" y="1628800"/>
            <a:ext cx="3746393" cy="2141043"/>
            <a:chOff x="4427984" y="1628800"/>
            <a:chExt cx="3746393" cy="2141043"/>
          </a:xfrm>
        </p:grpSpPr>
        <p:pic>
          <p:nvPicPr>
            <p:cNvPr id="1026" name="Picture 2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5713868" y="1628800"/>
              <a:ext cx="876300" cy="18192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sp>
          <p:nvSpPr>
            <p:cNvPr id="6" name="TextBox 5"/>
            <p:cNvSpPr txBox="1"/>
            <p:nvPr/>
          </p:nvSpPr>
          <p:spPr>
            <a:xfrm>
              <a:off x="4427984" y="1628800"/>
              <a:ext cx="819455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200" dirty="0">
                  <a:latin typeface="메이플스토리" panose="02000300000000000000" pitchFamily="2" charset="-127"/>
                  <a:ea typeface="메이플스토리" panose="02000300000000000000" pitchFamily="2" charset="-127"/>
                </a:rPr>
                <a:t>텍스트필드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6999752" y="1628800"/>
              <a:ext cx="44275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200" dirty="0">
                  <a:latin typeface="메이플스토리" panose="02000300000000000000" pitchFamily="2" charset="-127"/>
                  <a:ea typeface="메이플스토리" panose="02000300000000000000" pitchFamily="2" charset="-127"/>
                </a:rPr>
                <a:t>버튼</a:t>
              </a:r>
            </a:p>
          </p:txBody>
        </p:sp>
        <p:cxnSp>
          <p:nvCxnSpPr>
            <p:cNvPr id="9" name="직선 화살표 연결선 8"/>
            <p:cNvCxnSpPr/>
            <p:nvPr/>
          </p:nvCxnSpPr>
          <p:spPr>
            <a:xfrm rot="10800000">
              <a:off x="6571124" y="1771676"/>
              <a:ext cx="357190" cy="1588"/>
            </a:xfrm>
            <a:prstGeom prst="straightConnector1">
              <a:avLst/>
            </a:prstGeom>
            <a:ln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TextBox 9"/>
            <p:cNvSpPr txBox="1"/>
            <p:nvPr/>
          </p:nvSpPr>
          <p:spPr>
            <a:xfrm>
              <a:off x="7071190" y="2343180"/>
              <a:ext cx="110318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200" dirty="0" err="1">
                  <a:latin typeface="메이플스토리" panose="02000300000000000000" pitchFamily="2" charset="-127"/>
                  <a:ea typeface="메이플스토리" panose="02000300000000000000" pitchFamily="2" charset="-127"/>
                </a:rPr>
                <a:t>드롭다운</a:t>
              </a:r>
              <a:r>
                <a:rPr lang="ko-KR" altLang="en-US" sz="1200" dirty="0">
                  <a:latin typeface="메이플스토리" panose="02000300000000000000" pitchFamily="2" charset="-127"/>
                  <a:ea typeface="메이플스토리" panose="02000300000000000000" pitchFamily="2" charset="-127"/>
                </a:rPr>
                <a:t> 리스트</a:t>
              </a:r>
            </a:p>
          </p:txBody>
        </p:sp>
        <p:cxnSp>
          <p:nvCxnSpPr>
            <p:cNvPr id="12" name="직선 화살표 연결선 11"/>
            <p:cNvCxnSpPr>
              <a:stCxn id="10" idx="1"/>
            </p:cNvCxnSpPr>
            <p:nvPr/>
          </p:nvCxnSpPr>
          <p:spPr>
            <a:xfrm flipH="1">
              <a:off x="6285372" y="2481680"/>
              <a:ext cx="785818" cy="147251"/>
            </a:xfrm>
            <a:prstGeom prst="straightConnector1">
              <a:avLst/>
            </a:prstGeom>
            <a:ln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화살표 연결선 13"/>
            <p:cNvCxnSpPr>
              <a:stCxn id="6" idx="3"/>
            </p:cNvCxnSpPr>
            <p:nvPr/>
          </p:nvCxnSpPr>
          <p:spPr>
            <a:xfrm>
              <a:off x="5247439" y="1767300"/>
              <a:ext cx="466429" cy="4377"/>
            </a:xfrm>
            <a:prstGeom prst="straightConnector1">
              <a:avLst/>
            </a:prstGeom>
            <a:ln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직사각형 7"/>
            <p:cNvSpPr/>
            <p:nvPr/>
          </p:nvSpPr>
          <p:spPr>
            <a:xfrm>
              <a:off x="5076056" y="3492844"/>
              <a:ext cx="2196050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sz="1200" dirty="0" err="1">
                  <a:latin typeface="메이플스토리" panose="02000300000000000000" pitchFamily="2" charset="-127"/>
                  <a:ea typeface="메이플스토리" panose="02000300000000000000" pitchFamily="2" charset="-127"/>
                </a:rPr>
                <a:t>JComboBox</a:t>
              </a:r>
              <a:r>
                <a:rPr lang="en-US" altLang="ko-KR" sz="1200" dirty="0">
                  <a:latin typeface="메이플스토리" panose="02000300000000000000" pitchFamily="2" charset="-127"/>
                  <a:ea typeface="메이플스토리" panose="02000300000000000000" pitchFamily="2" charset="-127"/>
                </a:rPr>
                <a:t>&lt;String&gt; </a:t>
              </a:r>
              <a:r>
                <a:rPr lang="ko-KR" altLang="en-US" sz="1200" dirty="0" err="1">
                  <a:latin typeface="메이플스토리" panose="02000300000000000000" pitchFamily="2" charset="-127"/>
                  <a:ea typeface="메이플스토리" panose="02000300000000000000" pitchFamily="2" charset="-127"/>
                </a:rPr>
                <a:t>콤보박스</a:t>
              </a:r>
              <a:endParaRPr lang="ko-KR" altLang="en-US" sz="1200" dirty="0">
                <a:latin typeface="메이플스토리" panose="02000300000000000000" pitchFamily="2" charset="-127"/>
                <a:ea typeface="메이플스토리" panose="02000300000000000000" pitchFamily="2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2280505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예제 </a:t>
            </a:r>
            <a:r>
              <a:rPr lang="en-US" altLang="ko-KR" dirty="0"/>
              <a:t>11-12 : </a:t>
            </a:r>
            <a:r>
              <a:rPr lang="ko-KR" altLang="en-US" dirty="0" err="1"/>
              <a:t>콤보박스</a:t>
            </a:r>
            <a:r>
              <a:rPr lang="ko-KR" altLang="en-US" dirty="0"/>
              <a:t> 만들기</a:t>
            </a:r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77500" lnSpcReduction="20000"/>
          </a:bodyPr>
          <a:lstStyle/>
          <a:p>
            <a:fld id="{1A6BD2C2-3D3B-4E94-BD92-61B02C5F4DEE}" type="slidenum">
              <a:rPr lang="ko-KR" altLang="en-US" smtClean="0"/>
              <a:pPr/>
              <a:t>35</a:t>
            </a:fld>
            <a:endParaRPr lang="ko-KR" altLang="en-US"/>
          </a:p>
        </p:txBody>
      </p:sp>
      <p:sp>
        <p:nvSpPr>
          <p:cNvPr id="4" name="직사각형 3"/>
          <p:cNvSpPr/>
          <p:nvPr/>
        </p:nvSpPr>
        <p:spPr>
          <a:xfrm>
            <a:off x="179512" y="1412776"/>
            <a:ext cx="5400600" cy="526297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defTabSz="180000"/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import </a:t>
            </a:r>
            <a:r>
              <a:rPr lang="en-US" altLang="ko-KR" sz="12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javax.swing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.*;</a:t>
            </a:r>
          </a:p>
          <a:p>
            <a:pPr defTabSz="180000"/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import </a:t>
            </a:r>
            <a:r>
              <a:rPr lang="en-US" altLang="ko-KR" sz="12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java.awt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.*;</a:t>
            </a:r>
          </a:p>
          <a:p>
            <a:pPr defTabSz="180000"/>
            <a:endParaRPr lang="en-US" altLang="ko-KR" sz="1200" dirty="0">
              <a:latin typeface="메이플스토리" panose="02000300000000000000" pitchFamily="2" charset="-127"/>
              <a:ea typeface="메이플스토리" panose="02000300000000000000" pitchFamily="2" charset="-127"/>
            </a:endParaRPr>
          </a:p>
          <a:p>
            <a:pPr defTabSz="180000"/>
            <a:r>
              <a:rPr lang="en-US" altLang="ko-KR" sz="1200" b="1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public class </a:t>
            </a:r>
            <a:r>
              <a:rPr lang="en-US" altLang="ko-KR" sz="1200" b="1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ComboBoxEx</a:t>
            </a:r>
            <a:r>
              <a:rPr lang="en-US" altLang="ko-KR" sz="1200" b="1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 extends </a:t>
            </a:r>
            <a:r>
              <a:rPr lang="en-US" altLang="ko-KR" sz="1200" b="1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JFrame</a:t>
            </a:r>
            <a:r>
              <a:rPr lang="en-US" altLang="ko-KR" sz="1200" b="1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 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{</a:t>
            </a:r>
          </a:p>
          <a:p>
            <a:pPr defTabSz="180000"/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private String [] fruits = {"apple", "banana", "kiwi", "mango", "pear",</a:t>
            </a:r>
          </a:p>
          <a:p>
            <a:pPr defTabSz="180000"/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							"peach", "berry", "strawberry", "blackberry"};</a:t>
            </a:r>
          </a:p>
          <a:p>
            <a:pPr defTabSz="180000"/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private String [] names = {"</a:t>
            </a:r>
            <a:r>
              <a:rPr lang="en-US" altLang="ko-KR" sz="12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kitae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", "</a:t>
            </a:r>
            <a:r>
              <a:rPr lang="en-US" altLang="ko-KR" sz="12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jaemoon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", "</a:t>
            </a:r>
            <a:r>
              <a:rPr lang="en-US" altLang="ko-KR" sz="12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hyosoo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", "</a:t>
            </a:r>
            <a:r>
              <a:rPr lang="en-US" altLang="ko-KR" sz="12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namyun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"};</a:t>
            </a:r>
          </a:p>
          <a:p>
            <a:pPr defTabSz="180000"/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public </a:t>
            </a:r>
            <a:r>
              <a:rPr lang="en-US" altLang="ko-KR" sz="12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ComboBoxEx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() {</a:t>
            </a:r>
          </a:p>
          <a:p>
            <a:pPr defTabSz="180000"/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	</a:t>
            </a:r>
            <a:r>
              <a:rPr lang="en-US" altLang="ko-KR" sz="12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setTitle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("</a:t>
            </a:r>
            <a:r>
              <a:rPr lang="ko-KR" altLang="en-US" sz="12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콤보박스</a:t>
            </a:r>
            <a:r>
              <a:rPr lang="ko-KR" altLang="en-US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 만들기 예제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");</a:t>
            </a:r>
          </a:p>
          <a:p>
            <a:pPr defTabSz="180000"/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	</a:t>
            </a:r>
            <a:r>
              <a:rPr lang="en-US" altLang="ko-KR" sz="12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setDefaultCloseOperation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</a:t>
            </a:r>
            <a:r>
              <a:rPr lang="en-US" altLang="ko-KR" sz="12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JFrame.EXIT_ON_CLOSE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);</a:t>
            </a:r>
          </a:p>
          <a:p>
            <a:pPr defTabSz="180000"/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	Container c = </a:t>
            </a:r>
            <a:r>
              <a:rPr lang="en-US" altLang="ko-KR" sz="12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getContentPane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();</a:t>
            </a:r>
          </a:p>
          <a:p>
            <a:pPr defTabSz="180000"/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	</a:t>
            </a:r>
            <a:r>
              <a:rPr lang="en-US" altLang="ko-KR" sz="12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c.setLayout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(new </a:t>
            </a:r>
            <a:r>
              <a:rPr lang="en-US" altLang="ko-KR" sz="12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FlowLayout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());</a:t>
            </a:r>
          </a:p>
          <a:p>
            <a:pPr defTabSz="180000"/>
            <a:endParaRPr lang="en-US" altLang="ko-KR" sz="1200" dirty="0">
              <a:latin typeface="메이플스토리" panose="02000300000000000000" pitchFamily="2" charset="-127"/>
              <a:ea typeface="메이플스토리" panose="02000300000000000000" pitchFamily="2" charset="-127"/>
            </a:endParaRPr>
          </a:p>
          <a:p>
            <a:pPr defTabSz="180000"/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	</a:t>
            </a:r>
            <a:r>
              <a:rPr lang="en-US" altLang="ko-KR" sz="1200" b="1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JComboBox</a:t>
            </a:r>
            <a:r>
              <a:rPr lang="en-US" altLang="ko-KR" sz="1200" b="1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&lt;String&gt; </a:t>
            </a:r>
            <a:r>
              <a:rPr lang="en-US" altLang="ko-KR" sz="1200" b="1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strCombo</a:t>
            </a:r>
            <a:r>
              <a:rPr lang="en-US" altLang="ko-KR" sz="1200" b="1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 = new </a:t>
            </a:r>
            <a:r>
              <a:rPr lang="en-US" altLang="ko-KR" sz="1200" b="1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JComboBox</a:t>
            </a:r>
            <a:r>
              <a:rPr lang="en-US" altLang="ko-KR" sz="1200" b="1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&lt;String&gt;(fruits);</a:t>
            </a:r>
          </a:p>
          <a:p>
            <a:pPr defTabSz="180000"/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	</a:t>
            </a:r>
            <a:r>
              <a:rPr lang="en-US" altLang="ko-KR" sz="12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c.add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</a:t>
            </a:r>
            <a:r>
              <a:rPr lang="en-US" altLang="ko-KR" sz="12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strCombo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);</a:t>
            </a:r>
          </a:p>
          <a:p>
            <a:pPr defTabSz="180000"/>
            <a:endParaRPr lang="en-US" altLang="ko-KR" sz="1200" dirty="0">
              <a:latin typeface="메이플스토리" panose="02000300000000000000" pitchFamily="2" charset="-127"/>
              <a:ea typeface="메이플스토리" panose="02000300000000000000" pitchFamily="2" charset="-127"/>
            </a:endParaRPr>
          </a:p>
          <a:p>
            <a:pPr defTabSz="180000"/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	</a:t>
            </a:r>
            <a:r>
              <a:rPr lang="en-US" altLang="ko-KR" sz="1200" b="1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JComboBox</a:t>
            </a:r>
            <a:r>
              <a:rPr lang="en-US" altLang="ko-KR" sz="1200" b="1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&lt;String&gt; </a:t>
            </a:r>
            <a:r>
              <a:rPr lang="en-US" altLang="ko-KR" sz="1200" b="1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nameCombo</a:t>
            </a:r>
            <a:r>
              <a:rPr lang="en-US" altLang="ko-KR" sz="1200" b="1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 = new </a:t>
            </a:r>
            <a:r>
              <a:rPr lang="en-US" altLang="ko-KR" sz="1200" b="1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JComboBox</a:t>
            </a:r>
            <a:r>
              <a:rPr lang="en-US" altLang="ko-KR" sz="1200" b="1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&lt;String&gt;();</a:t>
            </a:r>
            <a:endParaRPr lang="ko-KR" altLang="en-US" sz="1200" b="1" dirty="0">
              <a:latin typeface="메이플스토리" panose="02000300000000000000" pitchFamily="2" charset="-127"/>
              <a:ea typeface="메이플스토리" panose="02000300000000000000" pitchFamily="2" charset="-127"/>
            </a:endParaRPr>
          </a:p>
          <a:p>
            <a:pPr defTabSz="180000"/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	for(</a:t>
            </a:r>
            <a:r>
              <a:rPr lang="en-US" altLang="ko-KR" sz="12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int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 </a:t>
            </a:r>
            <a:r>
              <a:rPr lang="en-US" altLang="ko-KR" sz="12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i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=0; </a:t>
            </a:r>
            <a:r>
              <a:rPr lang="en-US" altLang="ko-KR" sz="12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i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&lt;</a:t>
            </a:r>
            <a:r>
              <a:rPr lang="en-US" altLang="ko-KR" sz="12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names.length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; </a:t>
            </a:r>
            <a:r>
              <a:rPr lang="en-US" altLang="ko-KR" sz="12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i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++)</a:t>
            </a:r>
          </a:p>
          <a:p>
            <a:pPr defTabSz="180000"/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		</a:t>
            </a:r>
            <a:r>
              <a:rPr lang="en-US" altLang="ko-KR" sz="1200" b="1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nameCombo.addItem</a:t>
            </a:r>
            <a:r>
              <a:rPr lang="en-US" altLang="ko-KR" sz="1200" b="1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(names[</a:t>
            </a:r>
            <a:r>
              <a:rPr lang="en-US" altLang="ko-KR" sz="1200" b="1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i</a:t>
            </a:r>
            <a:r>
              <a:rPr lang="en-US" altLang="ko-KR" sz="1200" b="1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]);</a:t>
            </a:r>
            <a:endParaRPr lang="ko-KR" altLang="en-US" sz="1200" b="1" dirty="0">
              <a:latin typeface="메이플스토리" panose="02000300000000000000" pitchFamily="2" charset="-127"/>
              <a:ea typeface="메이플스토리" panose="02000300000000000000" pitchFamily="2" charset="-127"/>
            </a:endParaRPr>
          </a:p>
          <a:p>
            <a:pPr defTabSz="180000"/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		</a:t>
            </a:r>
            <a:r>
              <a:rPr lang="en-US" altLang="ko-KR" sz="12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c.add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</a:t>
            </a:r>
            <a:r>
              <a:rPr lang="en-US" altLang="ko-KR" sz="12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nameCombo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);</a:t>
            </a:r>
          </a:p>
          <a:p>
            <a:pPr defTabSz="180000"/>
            <a:endParaRPr lang="en-US" altLang="ko-KR" sz="1200" dirty="0">
              <a:latin typeface="메이플스토리" panose="02000300000000000000" pitchFamily="2" charset="-127"/>
              <a:ea typeface="메이플스토리" panose="02000300000000000000" pitchFamily="2" charset="-127"/>
            </a:endParaRPr>
          </a:p>
          <a:p>
            <a:pPr defTabSz="180000"/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	</a:t>
            </a:r>
            <a:r>
              <a:rPr lang="en-US" altLang="ko-KR" sz="12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setSize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(300,300);</a:t>
            </a:r>
          </a:p>
          <a:p>
            <a:pPr defTabSz="180000"/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	</a:t>
            </a:r>
            <a:r>
              <a:rPr lang="en-US" altLang="ko-KR" sz="12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setVisible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(true);</a:t>
            </a:r>
          </a:p>
          <a:p>
            <a:pPr defTabSz="180000"/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}</a:t>
            </a:r>
          </a:p>
          <a:p>
            <a:pPr defTabSz="180000"/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public static void main(String [] </a:t>
            </a:r>
            <a:r>
              <a:rPr lang="en-US" altLang="ko-KR" sz="12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args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) {</a:t>
            </a:r>
          </a:p>
          <a:p>
            <a:pPr defTabSz="180000"/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	new </a:t>
            </a:r>
            <a:r>
              <a:rPr lang="en-US" altLang="ko-KR" sz="12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ComboBoxEx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();</a:t>
            </a:r>
          </a:p>
          <a:p>
            <a:pPr defTabSz="180000"/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}</a:t>
            </a:r>
          </a:p>
          <a:p>
            <a:pPr defTabSz="180000"/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923928" y="4797152"/>
            <a:ext cx="1768325" cy="442674"/>
          </a:xfrm>
          <a:prstGeom prst="wedgeRoundRectCallout">
            <a:avLst>
              <a:gd name="adj1" fmla="val -89735"/>
              <a:gd name="adj2" fmla="val -31637"/>
              <a:gd name="adj3" fmla="val 16667"/>
            </a:avLst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sz="10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addItem</a:t>
            </a:r>
            <a:r>
              <a:rPr lang="en-US" altLang="ko-KR" sz="10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() </a:t>
            </a:r>
            <a:r>
              <a:rPr lang="ko-KR" altLang="en-US" sz="10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메소드를</a:t>
            </a:r>
            <a:r>
              <a:rPr lang="ko-KR" altLang="en-US" sz="10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 호출하여</a:t>
            </a:r>
            <a:endParaRPr lang="en-US" altLang="ko-KR" sz="1000" dirty="0">
              <a:latin typeface="메이플스토리" panose="02000300000000000000" pitchFamily="2" charset="-127"/>
              <a:ea typeface="메이플스토리" panose="02000300000000000000" pitchFamily="2" charset="-127"/>
            </a:endParaRPr>
          </a:p>
          <a:p>
            <a:r>
              <a:rPr lang="ko-KR" altLang="en-US" sz="10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아이템 동적 삽입</a:t>
            </a: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19706" y="1447129"/>
            <a:ext cx="2554113" cy="2622270"/>
          </a:xfrm>
          <a:prstGeom prst="rect">
            <a:avLst/>
          </a:prstGeom>
          <a:ln>
            <a:solidFill>
              <a:schemeClr val="accent1">
                <a:lumMod val="75000"/>
              </a:schemeClr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7236296" y="2996952"/>
            <a:ext cx="1979974" cy="783193"/>
          </a:xfrm>
          <a:prstGeom prst="wedgeRoundRectCallout">
            <a:avLst>
              <a:gd name="adj1" fmla="val -32672"/>
              <a:gd name="adj2" fmla="val -89096"/>
              <a:gd name="adj3" fmla="val 16667"/>
            </a:avLst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빈 </a:t>
            </a:r>
            <a:r>
              <a:rPr lang="ko-KR" altLang="en-US" sz="10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콤보박스를</a:t>
            </a:r>
            <a:r>
              <a:rPr lang="ko-KR" altLang="en-US" sz="10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 만들고</a:t>
            </a:r>
            <a:endParaRPr lang="en-US" altLang="ko-KR" sz="1000" dirty="0">
              <a:latin typeface="메이플스토리" panose="02000300000000000000" pitchFamily="2" charset="-127"/>
              <a:ea typeface="메이플스토리" panose="02000300000000000000" pitchFamily="2" charset="-127"/>
            </a:endParaRPr>
          </a:p>
          <a:p>
            <a:r>
              <a:rPr lang="en-US" altLang="ko-KR" sz="10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addItem</a:t>
            </a:r>
            <a:r>
              <a:rPr lang="en-US" altLang="ko-KR" sz="10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() </a:t>
            </a:r>
            <a:r>
              <a:rPr lang="ko-KR" altLang="en-US" sz="10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메소드를</a:t>
            </a:r>
            <a:r>
              <a:rPr lang="ko-KR" altLang="en-US" sz="10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 호출하여</a:t>
            </a:r>
            <a:endParaRPr lang="en-US" altLang="ko-KR" sz="1000" dirty="0">
              <a:latin typeface="메이플스토리" panose="02000300000000000000" pitchFamily="2" charset="-127"/>
              <a:ea typeface="메이플스토리" panose="02000300000000000000" pitchFamily="2" charset="-127"/>
            </a:endParaRPr>
          </a:p>
          <a:p>
            <a:r>
              <a:rPr lang="ko-KR" altLang="en-US" sz="10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동적으로 아이템을 삽입하여 만든 </a:t>
            </a:r>
            <a:r>
              <a:rPr lang="ko-KR" altLang="en-US" sz="10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콤보박스</a:t>
            </a:r>
            <a:endParaRPr lang="ko-KR" altLang="en-US" sz="1000" dirty="0">
              <a:latin typeface="메이플스토리" panose="02000300000000000000" pitchFamily="2" charset="-127"/>
              <a:ea typeface="메이플스토리" panose="020003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6198302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JComboBox</a:t>
            </a:r>
            <a:r>
              <a:rPr lang="en-US" altLang="ko-KR" dirty="0"/>
              <a:t>&lt;E&gt;</a:t>
            </a:r>
            <a:r>
              <a:rPr lang="ko-KR" altLang="en-US" dirty="0"/>
              <a:t>와 </a:t>
            </a:r>
            <a:r>
              <a:rPr lang="en-US" altLang="ko-KR" dirty="0"/>
              <a:t>Action </a:t>
            </a:r>
            <a:r>
              <a:rPr lang="ko-KR" altLang="en-US" dirty="0"/>
              <a:t>이벤트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ko-KR" altLang="en-US" dirty="0" err="1"/>
              <a:t>콤보박스의</a:t>
            </a:r>
            <a:r>
              <a:rPr lang="ko-KR" altLang="en-US" dirty="0"/>
              <a:t> 아이템 </a:t>
            </a:r>
            <a:r>
              <a:rPr lang="ko-KR" altLang="en-US" dirty="0" err="1"/>
              <a:t>선택시</a:t>
            </a:r>
            <a:r>
              <a:rPr lang="ko-KR" altLang="en-US" dirty="0"/>
              <a:t> </a:t>
            </a:r>
            <a:r>
              <a:rPr lang="en-US" altLang="ko-KR" dirty="0"/>
              <a:t>Action</a:t>
            </a:r>
            <a:r>
              <a:rPr lang="ko-KR" altLang="en-US" dirty="0"/>
              <a:t> 이벤트 발생</a:t>
            </a:r>
            <a:endParaRPr lang="en-US" altLang="ko-KR" dirty="0"/>
          </a:p>
          <a:p>
            <a:r>
              <a:rPr lang="ko-KR" altLang="en-US" dirty="0"/>
              <a:t>현재 선택된 아이템 알아내기</a:t>
            </a:r>
            <a:endParaRPr lang="en-US" altLang="ko-KR" dirty="0"/>
          </a:p>
          <a:p>
            <a:pPr lvl="1"/>
            <a:r>
              <a:rPr lang="en-US" altLang="ko-KR" dirty="0" err="1"/>
              <a:t>JComboBox</a:t>
            </a:r>
            <a:r>
              <a:rPr lang="en-US" altLang="ko-KR" dirty="0"/>
              <a:t>&lt;E&gt;</a:t>
            </a:r>
            <a:r>
              <a:rPr lang="ko-KR" altLang="en-US" dirty="0"/>
              <a:t>의 다음 </a:t>
            </a:r>
            <a:r>
              <a:rPr lang="ko-KR" altLang="en-US" dirty="0" err="1"/>
              <a:t>메소드</a:t>
            </a:r>
            <a:r>
              <a:rPr lang="ko-KR" altLang="en-US" dirty="0"/>
              <a:t> 활용</a:t>
            </a:r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77500" lnSpcReduction="20000"/>
          </a:bodyPr>
          <a:lstStyle/>
          <a:p>
            <a:fld id="{1A6BD2C2-3D3B-4E94-BD92-61B02C5F4DEE}" type="slidenum">
              <a:rPr lang="ko-KR" altLang="en-US" smtClean="0"/>
              <a:pPr/>
              <a:t>36</a:t>
            </a:fld>
            <a:endParaRPr lang="ko-KR" altLang="en-US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9632" y="2708920"/>
            <a:ext cx="6767414" cy="7171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343190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1A6BD2C2-3D3B-4E94-BD92-61B02C5F4DEE}" type="slidenum">
              <a:rPr lang="ko-KR" altLang="en-US" smtClean="0"/>
              <a:pPr/>
              <a:t>37</a:t>
            </a:fld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title" idx="4294967295"/>
          </p:nvPr>
        </p:nvSpPr>
        <p:spPr>
          <a:xfrm>
            <a:off x="179512" y="188640"/>
            <a:ext cx="3024336" cy="1080120"/>
          </a:xfrm>
        </p:spPr>
        <p:txBody>
          <a:bodyPr>
            <a:noAutofit/>
          </a:bodyPr>
          <a:lstStyle/>
          <a:p>
            <a:r>
              <a:rPr lang="ko-KR" altLang="en-US" sz="2400" dirty="0">
                <a:solidFill>
                  <a:srgbClr val="FF0000"/>
                </a:solidFill>
              </a:rPr>
              <a:t>예제 </a:t>
            </a:r>
            <a:r>
              <a:rPr lang="en-US" altLang="ko-KR" sz="2400" dirty="0">
                <a:solidFill>
                  <a:srgbClr val="FF0000"/>
                </a:solidFill>
              </a:rPr>
              <a:t>11-13 : Action </a:t>
            </a:r>
            <a:br>
              <a:rPr lang="en-US" altLang="ko-KR" sz="2400" dirty="0">
                <a:solidFill>
                  <a:srgbClr val="FF0000"/>
                </a:solidFill>
              </a:rPr>
            </a:br>
            <a:r>
              <a:rPr lang="ko-KR" altLang="en-US" sz="2400" dirty="0">
                <a:solidFill>
                  <a:srgbClr val="FF0000"/>
                </a:solidFill>
              </a:rPr>
              <a:t>이벤트를 이용한</a:t>
            </a:r>
            <a:br>
              <a:rPr lang="en-US" altLang="ko-KR" sz="2400" dirty="0">
                <a:solidFill>
                  <a:srgbClr val="FF0000"/>
                </a:solidFill>
              </a:rPr>
            </a:br>
            <a:r>
              <a:rPr lang="ko-KR" altLang="en-US" sz="2400" dirty="0" err="1">
                <a:solidFill>
                  <a:srgbClr val="FF0000"/>
                </a:solidFill>
              </a:rPr>
              <a:t>콤보박스</a:t>
            </a:r>
            <a:r>
              <a:rPr lang="ko-KR" altLang="en-US" sz="2400" dirty="0">
                <a:solidFill>
                  <a:srgbClr val="FF0000"/>
                </a:solidFill>
              </a:rPr>
              <a:t> 활용 예</a:t>
            </a:r>
          </a:p>
        </p:txBody>
      </p:sp>
      <p:sp>
        <p:nvSpPr>
          <p:cNvPr id="6" name="직사각형 5"/>
          <p:cNvSpPr/>
          <p:nvPr/>
        </p:nvSpPr>
        <p:spPr>
          <a:xfrm>
            <a:off x="3347864" y="73069"/>
            <a:ext cx="5653292" cy="6740307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defTabSz="180000"/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import </a:t>
            </a:r>
            <a:r>
              <a:rPr lang="en-US" altLang="ko-KR" sz="12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javax.swing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.*;</a:t>
            </a:r>
          </a:p>
          <a:p>
            <a:pPr defTabSz="180000"/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import </a:t>
            </a:r>
            <a:r>
              <a:rPr lang="en-US" altLang="ko-KR" sz="12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java.awt.event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.*;</a:t>
            </a:r>
          </a:p>
          <a:p>
            <a:pPr defTabSz="180000"/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import </a:t>
            </a:r>
            <a:r>
              <a:rPr lang="en-US" altLang="ko-KR" sz="12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java.awt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.*;</a:t>
            </a:r>
          </a:p>
          <a:p>
            <a:pPr defTabSz="180000"/>
            <a:endParaRPr lang="en-US" altLang="ko-KR" sz="1200" dirty="0">
              <a:latin typeface="메이플스토리" panose="02000300000000000000" pitchFamily="2" charset="-127"/>
              <a:ea typeface="메이플스토리" panose="02000300000000000000" pitchFamily="2" charset="-127"/>
            </a:endParaRPr>
          </a:p>
          <a:p>
            <a:pPr defTabSz="180000"/>
            <a:r>
              <a:rPr lang="en-US" altLang="ko-KR" sz="1200" b="1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public class </a:t>
            </a:r>
            <a:r>
              <a:rPr lang="en-US" altLang="ko-KR" sz="1200" b="1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ComboActionEx</a:t>
            </a:r>
            <a:r>
              <a:rPr lang="en-US" altLang="ko-KR" sz="1200" b="1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 extends </a:t>
            </a:r>
            <a:r>
              <a:rPr lang="en-US" altLang="ko-KR" sz="1200" b="1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JFrame</a:t>
            </a:r>
            <a:r>
              <a:rPr lang="en-US" altLang="ko-KR" sz="1200" b="1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 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{</a:t>
            </a:r>
          </a:p>
          <a:p>
            <a:pPr defTabSz="180000"/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private String [] fruits = {"apple", "banana", "kiwi", "mango"};</a:t>
            </a:r>
          </a:p>
          <a:p>
            <a:pPr defTabSz="180000"/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private </a:t>
            </a:r>
            <a:r>
              <a:rPr lang="en-US" altLang="ko-KR" sz="12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ImageIcon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 [] images = { new </a:t>
            </a:r>
            <a:r>
              <a:rPr lang="en-US" altLang="ko-KR" sz="12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ImageIcon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("images/apple.jpg"),</a:t>
            </a:r>
          </a:p>
          <a:p>
            <a:pPr defTabSz="180000"/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												new </a:t>
            </a:r>
            <a:r>
              <a:rPr lang="en-US" altLang="ko-KR" sz="12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ImageIcon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("images/banana.jpg"),</a:t>
            </a:r>
          </a:p>
          <a:p>
            <a:pPr defTabSz="180000"/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												new </a:t>
            </a:r>
            <a:r>
              <a:rPr lang="en-US" altLang="ko-KR" sz="12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ImageIcon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("images/kiwi.jpg"),</a:t>
            </a:r>
          </a:p>
          <a:p>
            <a:pPr defTabSz="180000"/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												new </a:t>
            </a:r>
            <a:r>
              <a:rPr lang="en-US" altLang="ko-KR" sz="12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ImageIcon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("images/mango.jpg")};</a:t>
            </a:r>
          </a:p>
          <a:p>
            <a:pPr defTabSz="180000"/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private </a:t>
            </a:r>
            <a:r>
              <a:rPr lang="en-US" altLang="ko-KR" sz="12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JLabel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 </a:t>
            </a:r>
            <a:r>
              <a:rPr lang="en-US" altLang="ko-KR" sz="12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imgLabel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 = new </a:t>
            </a:r>
            <a:r>
              <a:rPr lang="en-US" altLang="ko-KR" sz="12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JLabel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(images[0]); </a:t>
            </a:r>
            <a:endParaRPr lang="ko-KR" altLang="en-US" sz="1200" dirty="0">
              <a:latin typeface="메이플스토리" panose="02000300000000000000" pitchFamily="2" charset="-127"/>
              <a:ea typeface="메이플스토리" panose="02000300000000000000" pitchFamily="2" charset="-127"/>
            </a:endParaRPr>
          </a:p>
          <a:p>
            <a:pPr defTabSz="180000"/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private </a:t>
            </a:r>
            <a:r>
              <a:rPr lang="en-US" altLang="ko-KR" sz="12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JComboBox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&lt;String&gt; </a:t>
            </a:r>
            <a:r>
              <a:rPr lang="en-US" altLang="ko-KR" sz="1200" b="1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strCombo</a:t>
            </a:r>
            <a:r>
              <a:rPr lang="en-US" altLang="ko-KR" sz="1200" b="1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 = new </a:t>
            </a:r>
            <a:r>
              <a:rPr lang="en-US" altLang="ko-KR" sz="1200" b="1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JComboBox</a:t>
            </a:r>
            <a:r>
              <a:rPr lang="en-US" altLang="ko-KR" sz="1200" b="1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&lt;String&gt;(fruits);</a:t>
            </a:r>
          </a:p>
          <a:p>
            <a:pPr defTabSz="180000"/>
            <a:endParaRPr lang="en-US" altLang="ko-KR" sz="1200" dirty="0">
              <a:latin typeface="메이플스토리" panose="02000300000000000000" pitchFamily="2" charset="-127"/>
              <a:ea typeface="메이플스토리" panose="02000300000000000000" pitchFamily="2" charset="-127"/>
            </a:endParaRPr>
          </a:p>
          <a:p>
            <a:pPr defTabSz="180000"/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public </a:t>
            </a:r>
            <a:r>
              <a:rPr lang="en-US" altLang="ko-KR" sz="12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ComboActionEx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() {</a:t>
            </a:r>
          </a:p>
          <a:p>
            <a:pPr defTabSz="180000"/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	</a:t>
            </a:r>
            <a:r>
              <a:rPr lang="en-US" altLang="ko-KR" sz="12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setTitle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("</a:t>
            </a:r>
            <a:r>
              <a:rPr lang="ko-KR" altLang="en-US" sz="12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콤보박스</a:t>
            </a:r>
            <a:r>
              <a:rPr lang="ko-KR" altLang="en-US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 활용 예제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");</a:t>
            </a:r>
          </a:p>
          <a:p>
            <a:pPr defTabSz="180000"/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	</a:t>
            </a:r>
            <a:r>
              <a:rPr lang="en-US" altLang="ko-KR" sz="12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setDefaultCloseOperation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</a:t>
            </a:r>
            <a:r>
              <a:rPr lang="en-US" altLang="ko-KR" sz="12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JFrame.EXIT_ON_CLOSE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);</a:t>
            </a:r>
          </a:p>
          <a:p>
            <a:pPr defTabSz="180000"/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	Container c = </a:t>
            </a:r>
            <a:r>
              <a:rPr lang="en-US" altLang="ko-KR" sz="12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getContentPane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();</a:t>
            </a:r>
          </a:p>
          <a:p>
            <a:pPr defTabSz="180000"/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	</a:t>
            </a:r>
            <a:r>
              <a:rPr lang="en-US" altLang="ko-KR" sz="12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c.setLayout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(new </a:t>
            </a:r>
            <a:r>
              <a:rPr lang="en-US" altLang="ko-KR" sz="12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FlowLayout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());</a:t>
            </a:r>
          </a:p>
          <a:p>
            <a:pPr defTabSz="180000"/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	</a:t>
            </a:r>
            <a:r>
              <a:rPr lang="en-US" altLang="ko-KR" sz="12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c.add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</a:t>
            </a:r>
            <a:r>
              <a:rPr lang="en-US" altLang="ko-KR" sz="12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strCombo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);</a:t>
            </a:r>
          </a:p>
          <a:p>
            <a:pPr defTabSz="180000"/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	</a:t>
            </a:r>
            <a:r>
              <a:rPr lang="en-US" altLang="ko-KR" sz="12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c.add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</a:t>
            </a:r>
            <a:r>
              <a:rPr lang="en-US" altLang="ko-KR" sz="12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imgLabel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);</a:t>
            </a:r>
          </a:p>
          <a:p>
            <a:pPr defTabSz="180000"/>
            <a:endParaRPr lang="en-US" altLang="ko-KR" sz="1200" dirty="0">
              <a:latin typeface="메이플스토리" panose="02000300000000000000" pitchFamily="2" charset="-127"/>
              <a:ea typeface="메이플스토리" panose="02000300000000000000" pitchFamily="2" charset="-127"/>
            </a:endParaRPr>
          </a:p>
          <a:p>
            <a:pPr defTabSz="180000"/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	</a:t>
            </a:r>
            <a:r>
              <a:rPr lang="en-US" altLang="ko-KR" sz="1200" b="1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strCombo.addActionListener</a:t>
            </a:r>
            <a:r>
              <a:rPr lang="en-US" altLang="ko-KR" sz="1200" b="1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(new </a:t>
            </a:r>
            <a:r>
              <a:rPr lang="en-US" altLang="ko-KR" sz="1200" b="1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ActionListener</a:t>
            </a:r>
            <a:r>
              <a:rPr lang="en-US" altLang="ko-KR" sz="1200" b="1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() 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{</a:t>
            </a:r>
          </a:p>
          <a:p>
            <a:pPr defTabSz="180000"/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		public void </a:t>
            </a:r>
            <a:r>
              <a:rPr lang="en-US" altLang="ko-KR" sz="12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actionPerformed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</a:t>
            </a:r>
            <a:r>
              <a:rPr lang="en-US" altLang="ko-KR" sz="12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ActionEvent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 e) {</a:t>
            </a:r>
          </a:p>
          <a:p>
            <a:pPr defTabSz="180000"/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			</a:t>
            </a:r>
            <a:r>
              <a:rPr lang="en-US" altLang="ko-KR" sz="12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JComboBox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&lt;String&gt; </a:t>
            </a:r>
            <a:r>
              <a:rPr lang="en-US" altLang="ko-KR" sz="12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cb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 = (</a:t>
            </a:r>
            <a:r>
              <a:rPr lang="en-US" altLang="ko-KR" sz="12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JComboBox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&lt;String&gt;)</a:t>
            </a:r>
            <a:r>
              <a:rPr lang="en-US" altLang="ko-KR" sz="12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e.getSource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();</a:t>
            </a:r>
          </a:p>
          <a:p>
            <a:pPr defTabSz="180000"/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			</a:t>
            </a:r>
            <a:r>
              <a:rPr lang="en-US" altLang="ko-KR" sz="12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int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 index = </a:t>
            </a:r>
            <a:r>
              <a:rPr lang="en-US" altLang="ko-KR" sz="12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cb.getSelectedIndex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();</a:t>
            </a:r>
          </a:p>
          <a:p>
            <a:pPr defTabSz="180000"/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			</a:t>
            </a:r>
            <a:r>
              <a:rPr lang="en-US" altLang="ko-KR" sz="1200" b="1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imgLabel.setIcon</a:t>
            </a:r>
            <a:r>
              <a:rPr lang="en-US" altLang="ko-KR" sz="1200" b="1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(images[index]);</a:t>
            </a:r>
          </a:p>
          <a:p>
            <a:pPr defTabSz="180000"/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		}</a:t>
            </a:r>
          </a:p>
          <a:p>
            <a:pPr defTabSz="180000"/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	});</a:t>
            </a:r>
          </a:p>
          <a:p>
            <a:pPr defTabSz="180000"/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	</a:t>
            </a:r>
            <a:r>
              <a:rPr lang="en-US" altLang="ko-KR" sz="12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setSize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(300,250);</a:t>
            </a:r>
          </a:p>
          <a:p>
            <a:pPr defTabSz="180000"/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	</a:t>
            </a:r>
            <a:r>
              <a:rPr lang="en-US" altLang="ko-KR" sz="12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setVisible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(true);</a:t>
            </a:r>
          </a:p>
          <a:p>
            <a:pPr defTabSz="180000"/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}</a:t>
            </a:r>
          </a:p>
          <a:p>
            <a:pPr defTabSz="180000"/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public static void main(String [] </a:t>
            </a:r>
            <a:r>
              <a:rPr lang="en-US" altLang="ko-KR" sz="12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args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) {</a:t>
            </a:r>
          </a:p>
          <a:p>
            <a:pPr defTabSz="180000"/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	new </a:t>
            </a:r>
            <a:r>
              <a:rPr lang="en-US" altLang="ko-KR" sz="12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ComboActionEx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();</a:t>
            </a:r>
          </a:p>
          <a:p>
            <a:pPr defTabSz="180000"/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}</a:t>
            </a:r>
          </a:p>
          <a:p>
            <a:pPr defTabSz="180000"/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}</a:t>
            </a: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568" y="1664190"/>
            <a:ext cx="2460735" cy="2094390"/>
          </a:xfrm>
          <a:prstGeom prst="rect">
            <a:avLst/>
          </a:prstGeom>
          <a:ln>
            <a:solidFill>
              <a:schemeClr val="accent1">
                <a:lumMod val="75000"/>
              </a:schemeClr>
            </a:solidFill>
          </a:ln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1104" y="4005064"/>
            <a:ext cx="2460735" cy="2094390"/>
          </a:xfrm>
          <a:prstGeom prst="rect">
            <a:avLst/>
          </a:prstGeom>
          <a:ln>
            <a:solidFill>
              <a:schemeClr val="accent1">
                <a:lumMod val="75000"/>
              </a:schemeClr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179512" y="5157192"/>
            <a:ext cx="1027647" cy="442674"/>
          </a:xfrm>
          <a:prstGeom prst="wedgeRoundRectCallout">
            <a:avLst>
              <a:gd name="adj1" fmla="val 33259"/>
              <a:gd name="adj2" fmla="val -100852"/>
              <a:gd name="adj3" fmla="val 16667"/>
            </a:avLst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sz="10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아이템을 바꾸면</a:t>
            </a:r>
            <a:endParaRPr lang="en-US" altLang="ko-KR" sz="1000" dirty="0">
              <a:latin typeface="메이플스토리" panose="02000300000000000000" pitchFamily="2" charset="-127"/>
              <a:ea typeface="메이플스토리" panose="02000300000000000000" pitchFamily="2" charset="-127"/>
            </a:endParaRPr>
          </a:p>
          <a:p>
            <a:r>
              <a:rPr lang="ko-KR" altLang="en-US" sz="10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이미지 출력</a:t>
            </a:r>
          </a:p>
        </p:txBody>
      </p:sp>
    </p:spTree>
    <p:extLst>
      <p:ext uri="{BB962C8B-B14F-4D97-AF65-F5344CB8AC3E}">
        <p14:creationId xmlns:p14="http://schemas.microsoft.com/office/powerpoint/2010/main" val="356662454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JSlider</a:t>
            </a:r>
            <a:r>
              <a:rPr lang="en-US" altLang="ko-KR" dirty="0"/>
              <a:t>, </a:t>
            </a:r>
            <a:r>
              <a:rPr lang="ko-KR" altLang="en-US" dirty="0"/>
              <a:t>슬라이더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altLang="ko-KR" sz="2000" dirty="0" err="1"/>
              <a:t>JSlider</a:t>
            </a:r>
            <a:endParaRPr lang="en-US" altLang="ko-KR" sz="2000" dirty="0"/>
          </a:p>
          <a:p>
            <a:pPr lvl="1"/>
            <a:r>
              <a:rPr lang="ko-KR" altLang="en-US" sz="1800" dirty="0"/>
              <a:t>슬라이더란</a:t>
            </a:r>
            <a:r>
              <a:rPr lang="en-US" altLang="ko-KR" sz="1800" dirty="0"/>
              <a:t>? </a:t>
            </a:r>
            <a:r>
              <a:rPr lang="ko-KR" altLang="en-US" sz="1800" dirty="0"/>
              <a:t>마우스로 움직이면서 값을 선택하는 컴포넌트</a:t>
            </a:r>
            <a:endParaRPr lang="en-US" altLang="ko-KR" sz="1800" dirty="0"/>
          </a:p>
          <a:p>
            <a:pPr lvl="1"/>
            <a:endParaRPr lang="en-US" altLang="ko-KR" sz="1800" dirty="0"/>
          </a:p>
          <a:p>
            <a:pPr lvl="1"/>
            <a:endParaRPr lang="en-US" altLang="ko-KR" sz="1800" dirty="0"/>
          </a:p>
          <a:p>
            <a:pPr lvl="1"/>
            <a:endParaRPr lang="en-US" altLang="ko-KR" sz="1800" dirty="0"/>
          </a:p>
          <a:p>
            <a:pPr lvl="1"/>
            <a:endParaRPr lang="en-US" altLang="ko-KR" sz="1800" dirty="0"/>
          </a:p>
          <a:p>
            <a:pPr lvl="1"/>
            <a:endParaRPr lang="en-US" altLang="ko-KR" sz="1800" dirty="0"/>
          </a:p>
          <a:p>
            <a:endParaRPr lang="en-US" altLang="ko-KR" sz="2000" dirty="0"/>
          </a:p>
          <a:p>
            <a:endParaRPr lang="en-US" altLang="ko-KR" sz="2000" dirty="0"/>
          </a:p>
          <a:p>
            <a:r>
              <a:rPr lang="ko-KR" altLang="en-US" sz="2000" dirty="0"/>
              <a:t>슬라이더 생성</a:t>
            </a:r>
            <a:endParaRPr lang="en-US" altLang="ko-KR" sz="2000" dirty="0"/>
          </a:p>
        </p:txBody>
      </p:sp>
      <p:sp>
        <p:nvSpPr>
          <p:cNvPr id="32" name="슬라이드 번호 개체 틀 31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77500" lnSpcReduction="20000"/>
          </a:bodyPr>
          <a:lstStyle/>
          <a:p>
            <a:fld id="{1A6BD2C2-3D3B-4E94-BD92-61B02C5F4DEE}" type="slidenum">
              <a:rPr lang="ko-KR" altLang="en-US" smtClean="0"/>
              <a:pPr/>
              <a:t>38</a:t>
            </a:fld>
            <a:endParaRPr lang="ko-KR" altLang="en-US"/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1679" y="2204864"/>
            <a:ext cx="5429250" cy="2259330"/>
          </a:xfrm>
          <a:prstGeom prst="rect">
            <a:avLst/>
          </a:prstGeom>
        </p:spPr>
      </p:pic>
      <p:pic>
        <p:nvPicPr>
          <p:cNvPr id="14" name="그림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99792" y="4665729"/>
            <a:ext cx="5957417" cy="17155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284188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슬라이더의 모양 제어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quarter" idx="1"/>
          </p:nvPr>
        </p:nvSpPr>
        <p:spPr>
          <a:xfrm>
            <a:off x="609600" y="1589567"/>
            <a:ext cx="4034408" cy="4572000"/>
          </a:xfrm>
        </p:spPr>
        <p:txBody>
          <a:bodyPr>
            <a:normAutofit/>
          </a:bodyPr>
          <a:lstStyle/>
          <a:p>
            <a:r>
              <a:rPr lang="ko-KR" altLang="en-US" sz="1800" dirty="0"/>
              <a:t>슬라이더 방향 설정</a:t>
            </a:r>
            <a:endParaRPr lang="en-US" altLang="ko-KR" sz="1800" dirty="0"/>
          </a:p>
          <a:p>
            <a:pPr lvl="1"/>
            <a:r>
              <a:rPr lang="en-US" altLang="ko-KR" sz="1600" dirty="0"/>
              <a:t>void </a:t>
            </a:r>
            <a:r>
              <a:rPr lang="en-US" altLang="ko-KR" sz="1600" dirty="0" err="1"/>
              <a:t>setOrientation</a:t>
            </a:r>
            <a:r>
              <a:rPr lang="en-US" altLang="ko-KR" sz="1600" dirty="0"/>
              <a:t>(</a:t>
            </a:r>
            <a:r>
              <a:rPr lang="en-US" altLang="ko-KR" sz="1600" dirty="0" err="1"/>
              <a:t>int</a:t>
            </a:r>
            <a:r>
              <a:rPr lang="en-US" altLang="ko-KR" sz="1600" dirty="0"/>
              <a:t> orientation)</a:t>
            </a:r>
          </a:p>
          <a:p>
            <a:pPr lvl="2"/>
            <a:r>
              <a:rPr lang="en-US" altLang="ko-KR" sz="1400" dirty="0"/>
              <a:t>orientation : </a:t>
            </a:r>
            <a:r>
              <a:rPr lang="en-US" altLang="ko-KR" sz="1400" dirty="0" err="1"/>
              <a:t>JSlider.HORIZONTAL</a:t>
            </a:r>
            <a:r>
              <a:rPr lang="en-US" altLang="ko-KR" sz="1400" dirty="0"/>
              <a:t>, </a:t>
            </a:r>
            <a:r>
              <a:rPr lang="en-US" altLang="ko-KR" sz="1400" dirty="0" err="1"/>
              <a:t>JSlider.VERTICAL</a:t>
            </a:r>
            <a:endParaRPr lang="en-US" altLang="ko-KR" sz="1400" dirty="0"/>
          </a:p>
          <a:p>
            <a:r>
              <a:rPr lang="ko-KR" altLang="en-US" sz="1800" dirty="0"/>
              <a:t>최대 최소 값 설정</a:t>
            </a:r>
            <a:endParaRPr lang="en-US" altLang="ko-KR" sz="1800" dirty="0"/>
          </a:p>
          <a:p>
            <a:pPr lvl="1"/>
            <a:r>
              <a:rPr lang="en-US" altLang="ko-KR" sz="1600" dirty="0"/>
              <a:t>void </a:t>
            </a:r>
            <a:r>
              <a:rPr lang="en-US" altLang="ko-KR" sz="1600" dirty="0" err="1"/>
              <a:t>setMaximum</a:t>
            </a:r>
            <a:r>
              <a:rPr lang="en-US" altLang="ko-KR" sz="1600" dirty="0"/>
              <a:t>(</a:t>
            </a:r>
            <a:r>
              <a:rPr lang="en-US" altLang="ko-KR" sz="1600" dirty="0" err="1"/>
              <a:t>int</a:t>
            </a:r>
            <a:r>
              <a:rPr lang="en-US" altLang="ko-KR" sz="1600" dirty="0"/>
              <a:t> max)</a:t>
            </a:r>
          </a:p>
          <a:p>
            <a:pPr lvl="1"/>
            <a:r>
              <a:rPr lang="en-US" altLang="ko-KR" sz="1600" dirty="0"/>
              <a:t>void </a:t>
            </a:r>
            <a:r>
              <a:rPr lang="en-US" altLang="ko-KR" sz="1600" dirty="0" err="1"/>
              <a:t>setMinimum</a:t>
            </a:r>
            <a:r>
              <a:rPr lang="en-US" altLang="ko-KR" sz="1600" dirty="0"/>
              <a:t>(</a:t>
            </a:r>
            <a:r>
              <a:rPr lang="en-US" altLang="ko-KR" sz="1600" dirty="0" err="1"/>
              <a:t>int</a:t>
            </a:r>
            <a:r>
              <a:rPr lang="en-US" altLang="ko-KR" sz="1600" dirty="0"/>
              <a:t> min)</a:t>
            </a:r>
          </a:p>
          <a:p>
            <a:r>
              <a:rPr lang="en-US" altLang="ko-KR" sz="1800" dirty="0"/>
              <a:t>label</a:t>
            </a:r>
            <a:r>
              <a:rPr lang="ko-KR" altLang="en-US" sz="1800" dirty="0"/>
              <a:t> 보이기</a:t>
            </a:r>
            <a:r>
              <a:rPr lang="en-US" altLang="ko-KR" sz="1800" dirty="0"/>
              <a:t>/</a:t>
            </a:r>
            <a:r>
              <a:rPr lang="ko-KR" altLang="en-US" sz="1800" dirty="0"/>
              <a:t>감추기</a:t>
            </a:r>
            <a:endParaRPr lang="en-US" altLang="ko-KR" sz="1800" dirty="0"/>
          </a:p>
          <a:p>
            <a:pPr lvl="1"/>
            <a:r>
              <a:rPr lang="en-US" altLang="ko-KR" sz="1600" dirty="0"/>
              <a:t>void </a:t>
            </a:r>
            <a:r>
              <a:rPr lang="en-US" altLang="ko-KR" sz="1600" dirty="0" err="1"/>
              <a:t>setPaintLabels</a:t>
            </a:r>
            <a:r>
              <a:rPr lang="en-US" altLang="ko-KR" sz="1600" dirty="0"/>
              <a:t>(</a:t>
            </a:r>
            <a:r>
              <a:rPr lang="en-US" altLang="ko-KR" sz="1600" dirty="0" err="1"/>
              <a:t>boolean</a:t>
            </a:r>
            <a:r>
              <a:rPr lang="en-US" altLang="ko-KR" sz="1600" dirty="0"/>
              <a:t> b)</a:t>
            </a:r>
          </a:p>
          <a:p>
            <a:pPr lvl="2"/>
            <a:r>
              <a:rPr lang="en-US" altLang="ko-KR" sz="1400" dirty="0"/>
              <a:t>b</a:t>
            </a:r>
            <a:r>
              <a:rPr lang="ko-KR" altLang="en-US" sz="1400" dirty="0"/>
              <a:t>가 </a:t>
            </a:r>
            <a:r>
              <a:rPr lang="en-US" altLang="ko-KR" sz="1400" dirty="0"/>
              <a:t>true</a:t>
            </a:r>
            <a:r>
              <a:rPr lang="ko-KR" altLang="en-US" sz="1400" dirty="0"/>
              <a:t>이면 </a:t>
            </a:r>
            <a:r>
              <a:rPr lang="en-US" altLang="ko-KR" sz="1400" dirty="0"/>
              <a:t>label </a:t>
            </a:r>
            <a:r>
              <a:rPr lang="ko-KR" altLang="en-US" sz="1400" dirty="0"/>
              <a:t>출력</a:t>
            </a:r>
            <a:endParaRPr lang="en-US" altLang="ko-KR" sz="1400" dirty="0"/>
          </a:p>
          <a:p>
            <a:r>
              <a:rPr lang="en-US" altLang="ko-KR" sz="1800" dirty="0"/>
              <a:t>tick </a:t>
            </a:r>
            <a:r>
              <a:rPr lang="ko-KR" altLang="en-US" sz="1800" dirty="0"/>
              <a:t>보이기</a:t>
            </a:r>
            <a:r>
              <a:rPr lang="en-US" altLang="ko-KR" sz="1800" dirty="0"/>
              <a:t>/</a:t>
            </a:r>
            <a:r>
              <a:rPr lang="ko-KR" altLang="en-US" sz="1800" dirty="0"/>
              <a:t>감추기</a:t>
            </a:r>
            <a:endParaRPr lang="en-US" altLang="ko-KR" sz="1800" dirty="0"/>
          </a:p>
          <a:p>
            <a:pPr lvl="1"/>
            <a:r>
              <a:rPr lang="en-US" altLang="ko-KR" sz="1600" dirty="0"/>
              <a:t>void </a:t>
            </a:r>
            <a:r>
              <a:rPr lang="en-US" altLang="ko-KR" sz="1600" dirty="0" err="1"/>
              <a:t>setPaintTicks</a:t>
            </a:r>
            <a:r>
              <a:rPr lang="en-US" altLang="ko-KR" sz="1600" dirty="0"/>
              <a:t>(</a:t>
            </a:r>
            <a:r>
              <a:rPr lang="en-US" altLang="ko-KR" sz="1600" dirty="0" err="1"/>
              <a:t>boolean</a:t>
            </a:r>
            <a:r>
              <a:rPr lang="en-US" altLang="ko-KR" sz="1600" dirty="0"/>
              <a:t> b)</a:t>
            </a:r>
          </a:p>
          <a:p>
            <a:pPr lvl="2"/>
            <a:r>
              <a:rPr lang="en-US" altLang="ko-KR" sz="1400" dirty="0"/>
              <a:t>b</a:t>
            </a:r>
            <a:r>
              <a:rPr lang="ko-KR" altLang="en-US" sz="1400" dirty="0"/>
              <a:t>가 </a:t>
            </a:r>
            <a:r>
              <a:rPr lang="en-US" altLang="ko-KR" sz="1400" dirty="0"/>
              <a:t>true</a:t>
            </a:r>
            <a:r>
              <a:rPr lang="ko-KR" altLang="en-US" sz="1400" dirty="0"/>
              <a:t>이면 눈금</a:t>
            </a:r>
            <a:r>
              <a:rPr lang="en-US" altLang="ko-KR" sz="1400" dirty="0"/>
              <a:t> </a:t>
            </a:r>
            <a:r>
              <a:rPr lang="ko-KR" altLang="en-US" sz="1400" dirty="0"/>
              <a:t>출력</a:t>
            </a:r>
            <a:endParaRPr lang="en-US" altLang="ko-KR" sz="1400" dirty="0"/>
          </a:p>
        </p:txBody>
      </p:sp>
      <p:sp>
        <p:nvSpPr>
          <p:cNvPr id="7" name="내용 개체 틀 6"/>
          <p:cNvSpPr>
            <a:spLocks noGrp="1"/>
          </p:cNvSpPr>
          <p:nvPr>
            <p:ph sz="quarter" idx="2"/>
          </p:nvPr>
        </p:nvSpPr>
        <p:spPr/>
        <p:txBody>
          <a:bodyPr>
            <a:normAutofit/>
          </a:bodyPr>
          <a:lstStyle/>
          <a:p>
            <a:r>
              <a:rPr lang="en-US" altLang="ko-KR" sz="1800" dirty="0"/>
              <a:t>track</a:t>
            </a:r>
            <a:r>
              <a:rPr lang="ko-KR" altLang="en-US" sz="1800" dirty="0"/>
              <a:t> 보이기</a:t>
            </a:r>
            <a:r>
              <a:rPr lang="en-US" altLang="ko-KR" sz="1800" dirty="0"/>
              <a:t>/</a:t>
            </a:r>
            <a:r>
              <a:rPr lang="ko-KR" altLang="en-US" sz="1800" dirty="0"/>
              <a:t>감추기</a:t>
            </a:r>
            <a:endParaRPr lang="en-US" altLang="ko-KR" sz="1800" dirty="0"/>
          </a:p>
          <a:p>
            <a:pPr lvl="1"/>
            <a:r>
              <a:rPr lang="en-US" altLang="ko-KR" sz="1600" dirty="0"/>
              <a:t>void </a:t>
            </a:r>
            <a:r>
              <a:rPr lang="en-US" altLang="ko-KR" sz="1600" dirty="0" err="1"/>
              <a:t>setPaintTrack</a:t>
            </a:r>
            <a:r>
              <a:rPr lang="en-US" altLang="ko-KR" sz="1600" dirty="0"/>
              <a:t>(</a:t>
            </a:r>
            <a:r>
              <a:rPr lang="en-US" altLang="ko-KR" sz="1600" dirty="0" err="1"/>
              <a:t>boolean</a:t>
            </a:r>
            <a:r>
              <a:rPr lang="en-US" altLang="ko-KR" sz="1600" dirty="0"/>
              <a:t> b)</a:t>
            </a:r>
          </a:p>
          <a:p>
            <a:pPr lvl="2"/>
            <a:r>
              <a:rPr lang="en-US" altLang="ko-KR" sz="1400" dirty="0"/>
              <a:t>b</a:t>
            </a:r>
            <a:r>
              <a:rPr lang="ko-KR" altLang="en-US" sz="1400" dirty="0"/>
              <a:t>가 </a:t>
            </a:r>
            <a:r>
              <a:rPr lang="en-US" altLang="ko-KR" sz="1400" dirty="0"/>
              <a:t>true</a:t>
            </a:r>
            <a:r>
              <a:rPr lang="ko-KR" altLang="en-US" sz="1400" dirty="0"/>
              <a:t>이면 </a:t>
            </a:r>
            <a:r>
              <a:rPr lang="en-US" altLang="ko-KR" sz="1400" dirty="0"/>
              <a:t>track </a:t>
            </a:r>
            <a:r>
              <a:rPr lang="ko-KR" altLang="en-US" sz="1400" dirty="0"/>
              <a:t>출력</a:t>
            </a:r>
            <a:endParaRPr lang="en-US" altLang="ko-KR" sz="1400" dirty="0"/>
          </a:p>
          <a:p>
            <a:r>
              <a:rPr lang="ko-KR" altLang="en-US" sz="1800" dirty="0"/>
              <a:t>큰 눈금 간격 지정</a:t>
            </a:r>
            <a:endParaRPr lang="en-US" altLang="ko-KR" sz="1800" dirty="0"/>
          </a:p>
          <a:p>
            <a:pPr lvl="1"/>
            <a:r>
              <a:rPr lang="en-US" altLang="ko-KR" sz="1600" dirty="0"/>
              <a:t>void </a:t>
            </a:r>
            <a:r>
              <a:rPr lang="en-US" altLang="ko-KR" sz="1600" dirty="0" err="1"/>
              <a:t>setMajorTickSpacing</a:t>
            </a:r>
            <a:r>
              <a:rPr lang="en-US" altLang="ko-KR" sz="1600" dirty="0"/>
              <a:t>(</a:t>
            </a:r>
            <a:r>
              <a:rPr lang="en-US" altLang="ko-KR" sz="1600" dirty="0" err="1"/>
              <a:t>int</a:t>
            </a:r>
            <a:r>
              <a:rPr lang="en-US" altLang="ko-KR" sz="1600" dirty="0"/>
              <a:t> space)</a:t>
            </a:r>
          </a:p>
          <a:p>
            <a:r>
              <a:rPr lang="ko-KR" altLang="en-US" sz="1800" dirty="0"/>
              <a:t>작은 눈금 간격 지정</a:t>
            </a:r>
            <a:endParaRPr lang="en-US" altLang="ko-KR" sz="1800" dirty="0"/>
          </a:p>
          <a:p>
            <a:pPr lvl="1"/>
            <a:r>
              <a:rPr lang="en-US" altLang="ko-KR" sz="1600" dirty="0"/>
              <a:t>void </a:t>
            </a:r>
            <a:r>
              <a:rPr lang="en-US" altLang="ko-KR" sz="1600" dirty="0" err="1"/>
              <a:t>setMinorTickSpacing</a:t>
            </a:r>
            <a:r>
              <a:rPr lang="en-US" altLang="ko-KR" sz="1600" dirty="0"/>
              <a:t>(</a:t>
            </a:r>
            <a:r>
              <a:rPr lang="en-US" altLang="ko-KR" sz="1600" dirty="0" err="1"/>
              <a:t>int</a:t>
            </a:r>
            <a:r>
              <a:rPr lang="en-US" altLang="ko-KR" sz="1600" dirty="0"/>
              <a:t> space)</a:t>
            </a:r>
          </a:p>
          <a:p>
            <a:r>
              <a:rPr lang="ko-KR" altLang="en-US" sz="1800" dirty="0"/>
              <a:t>슬라이더 값 제어</a:t>
            </a:r>
            <a:endParaRPr lang="en-US" altLang="ko-KR" sz="1800" dirty="0"/>
          </a:p>
          <a:p>
            <a:pPr lvl="1"/>
            <a:r>
              <a:rPr lang="en-US" altLang="ko-KR" sz="1600" dirty="0"/>
              <a:t>void </a:t>
            </a:r>
            <a:r>
              <a:rPr lang="en-US" altLang="ko-KR" sz="1600" dirty="0" err="1"/>
              <a:t>setVaule</a:t>
            </a:r>
            <a:r>
              <a:rPr lang="en-US" altLang="ko-KR" sz="1600" dirty="0"/>
              <a:t>(</a:t>
            </a:r>
            <a:r>
              <a:rPr lang="en-US" altLang="ko-KR" sz="1600" dirty="0" err="1"/>
              <a:t>int</a:t>
            </a:r>
            <a:r>
              <a:rPr lang="en-US" altLang="ko-KR" sz="1600" dirty="0"/>
              <a:t> n)</a:t>
            </a:r>
          </a:p>
          <a:p>
            <a:pPr lvl="2"/>
            <a:r>
              <a:rPr lang="en-US" altLang="ko-KR" sz="1400" dirty="0"/>
              <a:t>n</a:t>
            </a:r>
            <a:r>
              <a:rPr lang="ko-KR" altLang="en-US" sz="1400" dirty="0"/>
              <a:t>이 슬라이더의 값이 되며 이에 따라 슬라이더의 손잡이 위치가 변경된다</a:t>
            </a:r>
            <a:r>
              <a:rPr lang="en-US" altLang="ko-KR" sz="1400" dirty="0"/>
              <a:t>.</a:t>
            </a:r>
          </a:p>
          <a:p>
            <a:endParaRPr lang="ko-KR" altLang="en-US" sz="180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6"/>
          </p:nvPr>
        </p:nvSpPr>
        <p:spPr/>
        <p:txBody>
          <a:bodyPr>
            <a:normAutofit fontScale="77500" lnSpcReduction="20000"/>
          </a:bodyPr>
          <a:lstStyle/>
          <a:p>
            <a:fld id="{1A6BD2C2-3D3B-4E94-BD92-61B02C5F4DEE}" type="slidenum">
              <a:rPr lang="ko-KR" altLang="en-US" smtClean="0"/>
              <a:pPr/>
              <a:t>39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7013352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ko-KR" altLang="en-US" sz="2800" dirty="0"/>
              <a:t>예제 </a:t>
            </a:r>
            <a:r>
              <a:rPr lang="en-US" altLang="ko-KR" sz="2800" dirty="0"/>
              <a:t>11-14 : </a:t>
            </a:r>
            <a:r>
              <a:rPr lang="en-US" altLang="ko-KR" sz="2800" dirty="0" err="1"/>
              <a:t>JSlider</a:t>
            </a:r>
            <a:r>
              <a:rPr lang="ko-KR" altLang="en-US" sz="2800" dirty="0"/>
              <a:t>로 슬라이더 컴포넌트를 만들고 모양을 제어하는 예</a:t>
            </a:r>
          </a:p>
        </p:txBody>
      </p:sp>
      <p:sp>
        <p:nvSpPr>
          <p:cNvPr id="8" name="직사각형 7"/>
          <p:cNvSpPr/>
          <p:nvPr/>
        </p:nvSpPr>
        <p:spPr>
          <a:xfrm>
            <a:off x="3491880" y="1484784"/>
            <a:ext cx="5040560" cy="4893647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defTabSz="180000"/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import </a:t>
            </a:r>
            <a:r>
              <a:rPr lang="en-US" altLang="ko-KR" sz="12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javax.swing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.*;</a:t>
            </a:r>
          </a:p>
          <a:p>
            <a:pPr defTabSz="180000"/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import </a:t>
            </a:r>
            <a:r>
              <a:rPr lang="en-US" altLang="ko-KR" sz="12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java.awt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.*;</a:t>
            </a:r>
          </a:p>
          <a:p>
            <a:pPr defTabSz="180000"/>
            <a:endParaRPr lang="en-US" altLang="ko-KR" sz="1200" dirty="0">
              <a:latin typeface="메이플스토리" panose="02000300000000000000" pitchFamily="2" charset="-127"/>
              <a:ea typeface="메이플스토리" panose="02000300000000000000" pitchFamily="2" charset="-127"/>
            </a:endParaRPr>
          </a:p>
          <a:p>
            <a:pPr defTabSz="180000"/>
            <a:r>
              <a:rPr lang="en-US" altLang="ko-KR" sz="1200" b="1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public class </a:t>
            </a:r>
            <a:r>
              <a:rPr lang="en-US" altLang="ko-KR" sz="1200" b="1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SliderEx</a:t>
            </a:r>
            <a:r>
              <a:rPr lang="en-US" altLang="ko-KR" sz="1200" b="1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 extends </a:t>
            </a:r>
            <a:r>
              <a:rPr lang="en-US" altLang="ko-KR" sz="1200" b="1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JFrame</a:t>
            </a:r>
            <a:r>
              <a:rPr lang="en-US" altLang="ko-KR" sz="1200" b="1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 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{</a:t>
            </a:r>
          </a:p>
          <a:p>
            <a:pPr defTabSz="180000"/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public </a:t>
            </a:r>
            <a:r>
              <a:rPr lang="en-US" altLang="ko-KR" sz="12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SliderEx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() {</a:t>
            </a:r>
          </a:p>
          <a:p>
            <a:pPr defTabSz="180000"/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	</a:t>
            </a:r>
            <a:r>
              <a:rPr lang="en-US" altLang="ko-KR" sz="12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setTitle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("</a:t>
            </a:r>
            <a:r>
              <a:rPr lang="ko-KR" altLang="en-US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슬라이더 만들기 예제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");</a:t>
            </a:r>
          </a:p>
          <a:p>
            <a:pPr defTabSz="180000"/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	</a:t>
            </a:r>
            <a:r>
              <a:rPr lang="en-US" altLang="ko-KR" sz="12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setDefaultCloseOperation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</a:t>
            </a:r>
            <a:r>
              <a:rPr lang="en-US" altLang="ko-KR" sz="12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JFrame.EXIT_ON_CLOSE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);</a:t>
            </a:r>
          </a:p>
          <a:p>
            <a:pPr defTabSz="180000"/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	Container c = </a:t>
            </a:r>
            <a:r>
              <a:rPr lang="en-US" altLang="ko-KR" sz="12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getContentPane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();</a:t>
            </a:r>
          </a:p>
          <a:p>
            <a:pPr defTabSz="180000"/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	</a:t>
            </a:r>
            <a:r>
              <a:rPr lang="en-US" altLang="ko-KR" sz="12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c.setLayout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(new </a:t>
            </a:r>
            <a:r>
              <a:rPr lang="en-US" altLang="ko-KR" sz="12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FlowLayout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());</a:t>
            </a:r>
          </a:p>
          <a:p>
            <a:pPr defTabSz="180000"/>
            <a:r>
              <a:rPr lang="da-DK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	</a:t>
            </a:r>
          </a:p>
          <a:p>
            <a:pPr defTabSz="180000"/>
            <a:r>
              <a:rPr lang="da-DK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	</a:t>
            </a:r>
            <a:r>
              <a:rPr lang="da-DK" altLang="ko-KR" sz="1200" b="1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JSlider slider = new JSlider(JSlider.HORIZONTAL, 0, 200, 100);</a:t>
            </a:r>
          </a:p>
          <a:p>
            <a:pPr defTabSz="180000"/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	</a:t>
            </a:r>
            <a:r>
              <a:rPr lang="en-US" altLang="ko-KR" sz="12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slider.setPaintLabels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(true);</a:t>
            </a:r>
          </a:p>
          <a:p>
            <a:pPr defTabSz="180000"/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	</a:t>
            </a:r>
            <a:r>
              <a:rPr lang="en-US" altLang="ko-KR" sz="12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slider.setPaintTicks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(true);</a:t>
            </a:r>
          </a:p>
          <a:p>
            <a:pPr defTabSz="180000"/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	</a:t>
            </a:r>
            <a:r>
              <a:rPr lang="en-US" altLang="ko-KR" sz="12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slider.setPaintTrack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(true);</a:t>
            </a:r>
          </a:p>
          <a:p>
            <a:pPr defTabSz="180000"/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	</a:t>
            </a:r>
            <a:r>
              <a:rPr lang="en-US" altLang="ko-KR" sz="12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slider.setMajorTickSpacing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(50);</a:t>
            </a:r>
          </a:p>
          <a:p>
            <a:pPr defTabSz="180000"/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	</a:t>
            </a:r>
            <a:r>
              <a:rPr lang="en-US" altLang="ko-KR" sz="12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slider.setMinorTickSpacing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(10);</a:t>
            </a:r>
          </a:p>
          <a:p>
            <a:pPr defTabSz="180000"/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	</a:t>
            </a:r>
          </a:p>
          <a:p>
            <a:pPr defTabSz="180000"/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	</a:t>
            </a:r>
            <a:r>
              <a:rPr lang="en-US" altLang="ko-KR" sz="12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c.add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(slider);</a:t>
            </a:r>
          </a:p>
          <a:p>
            <a:pPr defTabSz="180000"/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	</a:t>
            </a:r>
            <a:r>
              <a:rPr lang="en-US" altLang="ko-KR" sz="12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setSize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(300,100);</a:t>
            </a:r>
          </a:p>
          <a:p>
            <a:pPr defTabSz="180000"/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	</a:t>
            </a:r>
            <a:r>
              <a:rPr lang="en-US" altLang="ko-KR" sz="12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setVisible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(true);</a:t>
            </a:r>
          </a:p>
          <a:p>
            <a:pPr defTabSz="180000"/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}</a:t>
            </a:r>
          </a:p>
          <a:p>
            <a:pPr defTabSz="180000"/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public static void main(String [] </a:t>
            </a:r>
            <a:r>
              <a:rPr lang="en-US" altLang="ko-KR" sz="12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args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) {</a:t>
            </a:r>
          </a:p>
          <a:p>
            <a:pPr defTabSz="180000"/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	new </a:t>
            </a:r>
            <a:r>
              <a:rPr lang="en-US" altLang="ko-KR" sz="12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SliderEx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();</a:t>
            </a:r>
          </a:p>
          <a:p>
            <a:pPr defTabSz="180000"/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}</a:t>
            </a:r>
          </a:p>
          <a:p>
            <a:pPr defTabSz="180000"/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}</a:t>
            </a: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77500" lnSpcReduction="20000"/>
          </a:bodyPr>
          <a:lstStyle/>
          <a:p>
            <a:fld id="{1A6BD2C2-3D3B-4E94-BD92-61B02C5F4DEE}" type="slidenum">
              <a:rPr lang="ko-KR" altLang="en-US" smtClean="0"/>
              <a:pPr/>
              <a:t>40</a:t>
            </a:fld>
            <a:endParaRPr lang="ko-KR" altLang="en-US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6155" y="1484784"/>
            <a:ext cx="2599285" cy="843307"/>
          </a:xfrm>
          <a:prstGeom prst="rect">
            <a:avLst/>
          </a:prstGeom>
          <a:ln>
            <a:solidFill>
              <a:schemeClr val="accent1">
                <a:lumMod val="75000"/>
              </a:schemeClr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988807" y="2492896"/>
            <a:ext cx="1452123" cy="272415"/>
          </a:xfrm>
          <a:prstGeom prst="wedgeRoundRectCallout">
            <a:avLst>
              <a:gd name="adj1" fmla="val 33259"/>
              <a:gd name="adj2" fmla="val -100852"/>
              <a:gd name="adj3" fmla="val 16667"/>
            </a:avLst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0~200 </a:t>
            </a:r>
            <a:r>
              <a:rPr lang="ko-KR" altLang="en-US" sz="10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사이의</a:t>
            </a:r>
            <a:r>
              <a:rPr lang="en-US" altLang="ko-KR" sz="10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 </a:t>
            </a:r>
            <a:r>
              <a:rPr lang="ko-KR" altLang="en-US" sz="10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슬라이더</a:t>
            </a:r>
          </a:p>
        </p:txBody>
      </p:sp>
    </p:spTree>
    <p:extLst>
      <p:ext uri="{BB962C8B-B14F-4D97-AF65-F5344CB8AC3E}">
        <p14:creationId xmlns:p14="http://schemas.microsoft.com/office/powerpoint/2010/main" val="144974786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JSlider</a:t>
            </a:r>
            <a:r>
              <a:rPr lang="ko-KR" altLang="en-US"/>
              <a:t>와 </a:t>
            </a:r>
            <a:r>
              <a:rPr lang="en-US" altLang="ko-KR"/>
              <a:t>Change </a:t>
            </a:r>
            <a:r>
              <a:rPr lang="ko-KR" altLang="en-US"/>
              <a:t>이벤트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ko-KR" dirty="0"/>
              <a:t>Change </a:t>
            </a:r>
            <a:r>
              <a:rPr lang="ko-KR" altLang="en-US" dirty="0"/>
              <a:t>이벤트</a:t>
            </a:r>
            <a:endParaRPr lang="en-US" altLang="ko-KR" dirty="0"/>
          </a:p>
          <a:p>
            <a:pPr lvl="1"/>
            <a:r>
              <a:rPr lang="en-US" altLang="ko-KR" dirty="0" err="1"/>
              <a:t>JSlider</a:t>
            </a:r>
            <a:r>
              <a:rPr lang="ko-KR" altLang="en-US" dirty="0"/>
              <a:t>의 값</a:t>
            </a:r>
            <a:r>
              <a:rPr lang="en-US" altLang="ko-KR" dirty="0"/>
              <a:t>(value)</a:t>
            </a:r>
            <a:r>
              <a:rPr lang="ko-KR" altLang="en-US" dirty="0"/>
              <a:t>이 바뀌면 발생 </a:t>
            </a:r>
            <a:endParaRPr lang="en-US" altLang="ko-KR" dirty="0"/>
          </a:p>
          <a:p>
            <a:pPr lvl="2"/>
            <a:r>
              <a:rPr lang="ko-KR" altLang="en-US" dirty="0"/>
              <a:t>사용자가 슬라이더의 손잡이를 움직이는 경우</a:t>
            </a:r>
            <a:endParaRPr lang="en-US" altLang="ko-KR" dirty="0"/>
          </a:p>
          <a:p>
            <a:pPr lvl="2"/>
            <a:r>
              <a:rPr lang="en-US" altLang="ko-KR" dirty="0" err="1"/>
              <a:t>JSlider</a:t>
            </a:r>
            <a:r>
              <a:rPr lang="ko-KR" altLang="en-US" dirty="0"/>
              <a:t>의 </a:t>
            </a:r>
            <a:r>
              <a:rPr lang="en-US" altLang="ko-KR" dirty="0" err="1"/>
              <a:t>setValue</a:t>
            </a:r>
            <a:r>
              <a:rPr lang="en-US" altLang="ko-KR" dirty="0"/>
              <a:t>(</a:t>
            </a:r>
            <a:r>
              <a:rPr lang="en-US" altLang="ko-KR" dirty="0" err="1"/>
              <a:t>int</a:t>
            </a:r>
            <a:r>
              <a:rPr lang="en-US" altLang="ko-KR" dirty="0"/>
              <a:t> n)</a:t>
            </a:r>
            <a:r>
              <a:rPr lang="ko-KR" altLang="en-US" dirty="0"/>
              <a:t>를 호출하여 값</a:t>
            </a:r>
            <a:r>
              <a:rPr lang="en-US" altLang="ko-KR" dirty="0"/>
              <a:t>(value </a:t>
            </a:r>
            <a:r>
              <a:rPr lang="ko-KR" altLang="en-US" dirty="0"/>
              <a:t>필드</a:t>
            </a:r>
            <a:r>
              <a:rPr lang="en-US" altLang="ko-KR" dirty="0"/>
              <a:t>)</a:t>
            </a:r>
            <a:r>
              <a:rPr lang="ko-KR" altLang="en-US" dirty="0"/>
              <a:t>이 바뀌는 경우</a:t>
            </a:r>
            <a:endParaRPr lang="en-US" altLang="ko-KR" dirty="0"/>
          </a:p>
          <a:p>
            <a:r>
              <a:rPr lang="en-US" altLang="ko-KR" dirty="0" err="1"/>
              <a:t>ChangeListener</a:t>
            </a:r>
            <a:r>
              <a:rPr lang="ko-KR" altLang="en-US" dirty="0"/>
              <a:t>의</a:t>
            </a:r>
            <a:r>
              <a:rPr lang="en-US" altLang="ko-KR" dirty="0"/>
              <a:t> </a:t>
            </a:r>
            <a:r>
              <a:rPr lang="ko-KR" altLang="en-US" dirty="0" err="1"/>
              <a:t>메소드</a:t>
            </a:r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77500" lnSpcReduction="20000"/>
          </a:bodyPr>
          <a:lstStyle/>
          <a:p>
            <a:fld id="{1A6BD2C2-3D3B-4E94-BD92-61B02C5F4DEE}" type="slidenum">
              <a:rPr lang="ko-KR" altLang="en-US" smtClean="0"/>
              <a:pPr/>
              <a:t>41</a:t>
            </a:fld>
            <a:endParaRPr lang="ko-KR" altLang="en-US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600" y="3356992"/>
            <a:ext cx="7066112" cy="7462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390964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4294967295"/>
          </p:nvPr>
        </p:nvSpPr>
        <p:spPr>
          <a:xfrm>
            <a:off x="0" y="-23813"/>
            <a:ext cx="9144000" cy="700088"/>
          </a:xfrm>
        </p:spPr>
        <p:txBody>
          <a:bodyPr>
            <a:normAutofit/>
          </a:bodyPr>
          <a:lstStyle/>
          <a:p>
            <a:r>
              <a:rPr lang="ko-KR" altLang="en-US" sz="2400" dirty="0">
                <a:solidFill>
                  <a:srgbClr val="FF0000"/>
                </a:solidFill>
              </a:rPr>
              <a:t>예제 </a:t>
            </a:r>
            <a:r>
              <a:rPr lang="en-US" altLang="ko-KR" sz="2400" dirty="0">
                <a:solidFill>
                  <a:srgbClr val="FF0000"/>
                </a:solidFill>
              </a:rPr>
              <a:t>11-15</a:t>
            </a:r>
            <a:r>
              <a:rPr lang="ko-KR" altLang="en-US" sz="2400" dirty="0">
                <a:solidFill>
                  <a:srgbClr val="FF0000"/>
                </a:solidFill>
              </a:rPr>
              <a:t> </a:t>
            </a:r>
            <a:r>
              <a:rPr lang="en-US" altLang="ko-KR" sz="2400" dirty="0">
                <a:solidFill>
                  <a:srgbClr val="FF0000"/>
                </a:solidFill>
              </a:rPr>
              <a:t>: </a:t>
            </a:r>
            <a:r>
              <a:rPr lang="en-US" altLang="ko-KR" sz="2400" dirty="0" err="1">
                <a:solidFill>
                  <a:srgbClr val="FF0000"/>
                </a:solidFill>
              </a:rPr>
              <a:t>JSlider</a:t>
            </a:r>
            <a:r>
              <a:rPr lang="ko-KR" altLang="en-US" sz="2400" dirty="0">
                <a:solidFill>
                  <a:srgbClr val="FF0000"/>
                </a:solidFill>
              </a:rPr>
              <a:t>와 </a:t>
            </a:r>
            <a:r>
              <a:rPr lang="en-US" altLang="ko-KR" sz="2400" dirty="0">
                <a:solidFill>
                  <a:srgbClr val="FF0000"/>
                </a:solidFill>
              </a:rPr>
              <a:t>Change</a:t>
            </a:r>
            <a:r>
              <a:rPr lang="ko-KR" altLang="en-US" sz="2400" dirty="0">
                <a:solidFill>
                  <a:srgbClr val="FF0000"/>
                </a:solidFill>
              </a:rPr>
              <a:t>이벤트를 활용한 색깔 다루기</a:t>
            </a:r>
          </a:p>
        </p:txBody>
      </p:sp>
      <p:sp>
        <p:nvSpPr>
          <p:cNvPr id="4" name="직사각형 3"/>
          <p:cNvSpPr/>
          <p:nvPr/>
        </p:nvSpPr>
        <p:spPr>
          <a:xfrm>
            <a:off x="467544" y="654498"/>
            <a:ext cx="4320480" cy="607089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defTabSz="180000"/>
            <a:r>
              <a:rPr lang="en-US" altLang="ko-KR" sz="105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import </a:t>
            </a:r>
            <a:r>
              <a:rPr lang="en-US" altLang="ko-KR" sz="105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javax.swing</a:t>
            </a:r>
            <a:r>
              <a:rPr lang="en-US" altLang="ko-KR" sz="105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.*;</a:t>
            </a:r>
          </a:p>
          <a:p>
            <a:pPr defTabSz="180000"/>
            <a:r>
              <a:rPr lang="en-US" altLang="ko-KR" sz="105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import </a:t>
            </a:r>
            <a:r>
              <a:rPr lang="en-US" altLang="ko-KR" sz="105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java.awt</a:t>
            </a:r>
            <a:r>
              <a:rPr lang="en-US" altLang="ko-KR" sz="105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.*;</a:t>
            </a:r>
          </a:p>
          <a:p>
            <a:pPr defTabSz="180000"/>
            <a:r>
              <a:rPr lang="en-US" altLang="ko-KR" sz="105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import </a:t>
            </a:r>
            <a:r>
              <a:rPr lang="en-US" altLang="ko-KR" sz="105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javax.swing.event</a:t>
            </a:r>
            <a:r>
              <a:rPr lang="en-US" altLang="ko-KR" sz="105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.*;</a:t>
            </a:r>
          </a:p>
          <a:p>
            <a:pPr defTabSz="180000"/>
            <a:endParaRPr lang="en-US" altLang="ko-KR" sz="1050" dirty="0">
              <a:latin typeface="메이플스토리" panose="02000300000000000000" pitchFamily="2" charset="-127"/>
              <a:ea typeface="메이플스토리" panose="02000300000000000000" pitchFamily="2" charset="-127"/>
            </a:endParaRPr>
          </a:p>
          <a:p>
            <a:pPr defTabSz="180000"/>
            <a:r>
              <a:rPr lang="en-US" altLang="ko-KR" sz="1050" b="1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public class </a:t>
            </a:r>
            <a:r>
              <a:rPr lang="en-US" altLang="ko-KR" sz="1050" b="1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SliderChangeEx</a:t>
            </a:r>
            <a:r>
              <a:rPr lang="en-US" altLang="ko-KR" sz="1050" b="1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 extends </a:t>
            </a:r>
            <a:r>
              <a:rPr lang="en-US" altLang="ko-KR" sz="1050" b="1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JFrame</a:t>
            </a:r>
            <a:r>
              <a:rPr lang="en-US" altLang="ko-KR" sz="1050" b="1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 </a:t>
            </a:r>
            <a:r>
              <a:rPr lang="en-US" altLang="ko-KR" sz="105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{</a:t>
            </a:r>
          </a:p>
          <a:p>
            <a:pPr defTabSz="180000"/>
            <a:r>
              <a:rPr lang="en-US" altLang="ko-KR" sz="105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private </a:t>
            </a:r>
            <a:r>
              <a:rPr lang="en-US" altLang="ko-KR" sz="105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JLabel</a:t>
            </a:r>
            <a:r>
              <a:rPr lang="en-US" altLang="ko-KR" sz="105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 </a:t>
            </a:r>
            <a:r>
              <a:rPr lang="en-US" altLang="ko-KR" sz="105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colorLabel</a:t>
            </a:r>
            <a:r>
              <a:rPr lang="en-US" altLang="ko-KR" sz="105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;</a:t>
            </a:r>
          </a:p>
          <a:p>
            <a:pPr defTabSz="180000"/>
            <a:r>
              <a:rPr lang="en-US" altLang="ko-KR" sz="1050" b="1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private </a:t>
            </a:r>
            <a:r>
              <a:rPr lang="en-US" altLang="ko-KR" sz="1050" b="1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JSlider</a:t>
            </a:r>
            <a:r>
              <a:rPr lang="en-US" altLang="ko-KR" sz="1050" b="1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 [] </a:t>
            </a:r>
            <a:r>
              <a:rPr lang="en-US" altLang="ko-KR" sz="1050" b="1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sl</a:t>
            </a:r>
            <a:r>
              <a:rPr lang="en-US" altLang="ko-KR" sz="1050" b="1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 = new </a:t>
            </a:r>
            <a:r>
              <a:rPr lang="en-US" altLang="ko-KR" sz="1050" b="1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JSlider</a:t>
            </a:r>
            <a:r>
              <a:rPr lang="en-US" altLang="ko-KR" sz="1050" b="1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 [3];</a:t>
            </a:r>
            <a:endParaRPr lang="ko-KR" altLang="en-US" sz="1050" b="1" dirty="0">
              <a:latin typeface="메이플스토리" panose="02000300000000000000" pitchFamily="2" charset="-127"/>
              <a:ea typeface="메이플스토리" panose="02000300000000000000" pitchFamily="2" charset="-127"/>
            </a:endParaRPr>
          </a:p>
          <a:p>
            <a:pPr defTabSz="180000"/>
            <a:r>
              <a:rPr lang="en-US" altLang="ko-KR" sz="105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public </a:t>
            </a:r>
            <a:r>
              <a:rPr lang="en-US" altLang="ko-KR" sz="105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SliderChangeEx</a:t>
            </a:r>
            <a:r>
              <a:rPr lang="en-US" altLang="ko-KR" sz="105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() {</a:t>
            </a:r>
          </a:p>
          <a:p>
            <a:pPr defTabSz="180000"/>
            <a:r>
              <a:rPr lang="en-US" altLang="ko-KR" sz="105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	</a:t>
            </a:r>
            <a:r>
              <a:rPr lang="en-US" altLang="ko-KR" sz="105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setTitle</a:t>
            </a:r>
            <a:r>
              <a:rPr lang="en-US" altLang="ko-KR" sz="105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("</a:t>
            </a:r>
            <a:r>
              <a:rPr lang="ko-KR" altLang="en-US" sz="105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슬라이더와 </a:t>
            </a:r>
            <a:r>
              <a:rPr lang="en-US" altLang="ko-KR" sz="105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ChangeEvent</a:t>
            </a:r>
            <a:r>
              <a:rPr lang="en-US" altLang="ko-KR" sz="105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 </a:t>
            </a:r>
            <a:r>
              <a:rPr lang="ko-KR" altLang="en-US" sz="105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예제</a:t>
            </a:r>
            <a:r>
              <a:rPr lang="en-US" altLang="ko-KR" sz="105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");</a:t>
            </a:r>
          </a:p>
          <a:p>
            <a:pPr defTabSz="180000"/>
            <a:r>
              <a:rPr lang="en-US" altLang="ko-KR" sz="105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	</a:t>
            </a:r>
            <a:r>
              <a:rPr lang="en-US" altLang="ko-KR" sz="105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setDefaultCloseOperation</a:t>
            </a:r>
            <a:r>
              <a:rPr lang="en-US" altLang="ko-KR" sz="105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</a:t>
            </a:r>
            <a:r>
              <a:rPr lang="en-US" altLang="ko-KR" sz="105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JFrame.EXIT_ON_CLOSE</a:t>
            </a:r>
            <a:r>
              <a:rPr lang="en-US" altLang="ko-KR" sz="105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);</a:t>
            </a:r>
          </a:p>
          <a:p>
            <a:pPr defTabSz="180000"/>
            <a:r>
              <a:rPr lang="en-US" altLang="ko-KR" sz="105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	Container c = </a:t>
            </a:r>
            <a:r>
              <a:rPr lang="en-US" altLang="ko-KR" sz="105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getContentPane</a:t>
            </a:r>
            <a:r>
              <a:rPr lang="en-US" altLang="ko-KR" sz="105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();</a:t>
            </a:r>
          </a:p>
          <a:p>
            <a:pPr defTabSz="180000"/>
            <a:r>
              <a:rPr lang="en-US" altLang="ko-KR" sz="105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	</a:t>
            </a:r>
            <a:r>
              <a:rPr lang="en-US" altLang="ko-KR" sz="105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c.setLayout</a:t>
            </a:r>
            <a:r>
              <a:rPr lang="en-US" altLang="ko-KR" sz="105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(new </a:t>
            </a:r>
            <a:r>
              <a:rPr lang="en-US" altLang="ko-KR" sz="105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FlowLayout</a:t>
            </a:r>
            <a:r>
              <a:rPr lang="en-US" altLang="ko-KR" sz="105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());</a:t>
            </a:r>
          </a:p>
          <a:p>
            <a:pPr defTabSz="180000"/>
            <a:r>
              <a:rPr lang="en-US" altLang="ko-KR" sz="105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	</a:t>
            </a:r>
            <a:r>
              <a:rPr lang="en-US" altLang="ko-KR" sz="105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colorLabel</a:t>
            </a:r>
            <a:r>
              <a:rPr lang="en-US" altLang="ko-KR" sz="105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 = new </a:t>
            </a:r>
            <a:r>
              <a:rPr lang="en-US" altLang="ko-KR" sz="105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JLabel</a:t>
            </a:r>
            <a:r>
              <a:rPr lang="en-US" altLang="ko-KR" sz="105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(" SLIDER EXAMPLE ");</a:t>
            </a:r>
          </a:p>
          <a:p>
            <a:pPr defTabSz="180000"/>
            <a:r>
              <a:rPr lang="en-US" altLang="ko-KR" sz="105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	for(</a:t>
            </a:r>
            <a:r>
              <a:rPr lang="en-US" altLang="ko-KR" sz="105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int</a:t>
            </a:r>
            <a:r>
              <a:rPr lang="en-US" altLang="ko-KR" sz="105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 </a:t>
            </a:r>
            <a:r>
              <a:rPr lang="en-US" altLang="ko-KR" sz="105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i</a:t>
            </a:r>
            <a:r>
              <a:rPr lang="en-US" altLang="ko-KR" sz="105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=0; </a:t>
            </a:r>
            <a:r>
              <a:rPr lang="en-US" altLang="ko-KR" sz="105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i</a:t>
            </a:r>
            <a:r>
              <a:rPr lang="en-US" altLang="ko-KR" sz="105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&lt;</a:t>
            </a:r>
            <a:r>
              <a:rPr lang="en-US" altLang="ko-KR" sz="105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sl.length</a:t>
            </a:r>
            <a:r>
              <a:rPr lang="en-US" altLang="ko-KR" sz="105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; </a:t>
            </a:r>
            <a:r>
              <a:rPr lang="en-US" altLang="ko-KR" sz="105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i</a:t>
            </a:r>
            <a:r>
              <a:rPr lang="en-US" altLang="ko-KR" sz="105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++) {</a:t>
            </a:r>
          </a:p>
          <a:p>
            <a:pPr defTabSz="180000"/>
            <a:r>
              <a:rPr lang="en-US" altLang="ko-KR" sz="105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		</a:t>
            </a:r>
            <a:r>
              <a:rPr lang="en-US" altLang="ko-KR" sz="1050" b="1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sl</a:t>
            </a:r>
            <a:r>
              <a:rPr lang="en-US" altLang="ko-KR" sz="1050" b="1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[</a:t>
            </a:r>
            <a:r>
              <a:rPr lang="en-US" altLang="ko-KR" sz="1050" b="1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i</a:t>
            </a:r>
            <a:r>
              <a:rPr lang="en-US" altLang="ko-KR" sz="1050" b="1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] = new </a:t>
            </a:r>
            <a:r>
              <a:rPr lang="en-US" altLang="ko-KR" sz="1050" b="1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JSlider</a:t>
            </a:r>
            <a:r>
              <a:rPr lang="en-US" altLang="ko-KR" sz="1050" b="1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</a:t>
            </a:r>
            <a:r>
              <a:rPr lang="en-US" altLang="ko-KR" sz="1050" b="1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JSlider.HORIZONTAL</a:t>
            </a:r>
            <a:r>
              <a:rPr lang="en-US" altLang="ko-KR" sz="1050" b="1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, 0, 255, 128);</a:t>
            </a:r>
          </a:p>
          <a:p>
            <a:pPr defTabSz="180000"/>
            <a:r>
              <a:rPr lang="en-US" altLang="ko-KR" sz="105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		</a:t>
            </a:r>
            <a:r>
              <a:rPr lang="en-US" altLang="ko-KR" sz="105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sl</a:t>
            </a:r>
            <a:r>
              <a:rPr lang="en-US" altLang="ko-KR" sz="105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[</a:t>
            </a:r>
            <a:r>
              <a:rPr lang="en-US" altLang="ko-KR" sz="105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i</a:t>
            </a:r>
            <a:r>
              <a:rPr lang="en-US" altLang="ko-KR" sz="105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].</a:t>
            </a:r>
            <a:r>
              <a:rPr lang="en-US" altLang="ko-KR" sz="105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setPaintLabels</a:t>
            </a:r>
            <a:r>
              <a:rPr lang="en-US" altLang="ko-KR" sz="105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(true);</a:t>
            </a:r>
          </a:p>
          <a:p>
            <a:pPr defTabSz="180000"/>
            <a:r>
              <a:rPr lang="en-US" altLang="ko-KR" sz="105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		</a:t>
            </a:r>
            <a:r>
              <a:rPr lang="en-US" altLang="ko-KR" sz="105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sl</a:t>
            </a:r>
            <a:r>
              <a:rPr lang="en-US" altLang="ko-KR" sz="105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[</a:t>
            </a:r>
            <a:r>
              <a:rPr lang="en-US" altLang="ko-KR" sz="105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i</a:t>
            </a:r>
            <a:r>
              <a:rPr lang="en-US" altLang="ko-KR" sz="105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].</a:t>
            </a:r>
            <a:r>
              <a:rPr lang="en-US" altLang="ko-KR" sz="105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setPaintTicks</a:t>
            </a:r>
            <a:r>
              <a:rPr lang="en-US" altLang="ko-KR" sz="105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(true);</a:t>
            </a:r>
          </a:p>
          <a:p>
            <a:pPr defTabSz="180000"/>
            <a:r>
              <a:rPr lang="en-US" altLang="ko-KR" sz="105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		</a:t>
            </a:r>
            <a:r>
              <a:rPr lang="en-US" altLang="ko-KR" sz="105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sl</a:t>
            </a:r>
            <a:r>
              <a:rPr lang="en-US" altLang="ko-KR" sz="105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[</a:t>
            </a:r>
            <a:r>
              <a:rPr lang="en-US" altLang="ko-KR" sz="105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i</a:t>
            </a:r>
            <a:r>
              <a:rPr lang="en-US" altLang="ko-KR" sz="105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].</a:t>
            </a:r>
            <a:r>
              <a:rPr lang="en-US" altLang="ko-KR" sz="105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setPaintTrack</a:t>
            </a:r>
            <a:r>
              <a:rPr lang="en-US" altLang="ko-KR" sz="105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(true);</a:t>
            </a:r>
          </a:p>
          <a:p>
            <a:pPr defTabSz="180000"/>
            <a:r>
              <a:rPr lang="en-US" altLang="ko-KR" sz="105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		</a:t>
            </a:r>
            <a:r>
              <a:rPr lang="en-US" altLang="ko-KR" sz="105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sl</a:t>
            </a:r>
            <a:r>
              <a:rPr lang="en-US" altLang="ko-KR" sz="105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[</a:t>
            </a:r>
            <a:r>
              <a:rPr lang="en-US" altLang="ko-KR" sz="105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i</a:t>
            </a:r>
            <a:r>
              <a:rPr lang="en-US" altLang="ko-KR" sz="105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].</a:t>
            </a:r>
            <a:r>
              <a:rPr lang="en-US" altLang="ko-KR" sz="105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setMajorTickSpacing</a:t>
            </a:r>
            <a:r>
              <a:rPr lang="en-US" altLang="ko-KR" sz="105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(50);</a:t>
            </a:r>
          </a:p>
          <a:p>
            <a:pPr defTabSz="180000"/>
            <a:r>
              <a:rPr lang="en-US" altLang="ko-KR" sz="105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		</a:t>
            </a:r>
            <a:r>
              <a:rPr lang="en-US" altLang="ko-KR" sz="105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sl</a:t>
            </a:r>
            <a:r>
              <a:rPr lang="en-US" altLang="ko-KR" sz="105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[</a:t>
            </a:r>
            <a:r>
              <a:rPr lang="en-US" altLang="ko-KR" sz="105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i</a:t>
            </a:r>
            <a:r>
              <a:rPr lang="en-US" altLang="ko-KR" sz="105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].</a:t>
            </a:r>
            <a:r>
              <a:rPr lang="en-US" altLang="ko-KR" sz="105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setMinorTickSpacing</a:t>
            </a:r>
            <a:r>
              <a:rPr lang="en-US" altLang="ko-KR" sz="105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(10);</a:t>
            </a:r>
          </a:p>
          <a:p>
            <a:pPr defTabSz="180000"/>
            <a:r>
              <a:rPr lang="en-US" altLang="ko-KR" sz="105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	</a:t>
            </a:r>
            <a:r>
              <a:rPr lang="en-US" altLang="ko-KR" sz="1050" b="1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</a:t>
            </a:r>
            <a:r>
              <a:rPr lang="en-US" altLang="ko-KR" sz="1050" b="1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sl</a:t>
            </a:r>
            <a:r>
              <a:rPr lang="en-US" altLang="ko-KR" sz="1050" b="1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[</a:t>
            </a:r>
            <a:r>
              <a:rPr lang="en-US" altLang="ko-KR" sz="1050" b="1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i</a:t>
            </a:r>
            <a:r>
              <a:rPr lang="en-US" altLang="ko-KR" sz="1050" b="1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].</a:t>
            </a:r>
            <a:r>
              <a:rPr lang="en-US" altLang="ko-KR" sz="1050" b="1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addChangeListener</a:t>
            </a:r>
            <a:r>
              <a:rPr lang="en-US" altLang="ko-KR" sz="1050" b="1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(new </a:t>
            </a:r>
            <a:r>
              <a:rPr lang="en-US" altLang="ko-KR" sz="1050" b="1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MyChangeListener</a:t>
            </a:r>
            <a:r>
              <a:rPr lang="en-US" altLang="ko-KR" sz="1050" b="1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());</a:t>
            </a:r>
          </a:p>
          <a:p>
            <a:pPr defTabSz="180000"/>
            <a:r>
              <a:rPr lang="en-US" altLang="ko-KR" sz="105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		</a:t>
            </a:r>
            <a:r>
              <a:rPr lang="en-US" altLang="ko-KR" sz="105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c.add</a:t>
            </a:r>
            <a:r>
              <a:rPr lang="en-US" altLang="ko-KR" sz="105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</a:t>
            </a:r>
            <a:r>
              <a:rPr lang="en-US" altLang="ko-KR" sz="105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sl</a:t>
            </a:r>
            <a:r>
              <a:rPr lang="en-US" altLang="ko-KR" sz="105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[</a:t>
            </a:r>
            <a:r>
              <a:rPr lang="en-US" altLang="ko-KR" sz="105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i</a:t>
            </a:r>
            <a:r>
              <a:rPr lang="en-US" altLang="ko-KR" sz="105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]);</a:t>
            </a:r>
            <a:endParaRPr lang="ko-KR" altLang="en-US" sz="1050" dirty="0">
              <a:latin typeface="메이플스토리" panose="02000300000000000000" pitchFamily="2" charset="-127"/>
              <a:ea typeface="메이플스토리" panose="02000300000000000000" pitchFamily="2" charset="-127"/>
            </a:endParaRPr>
          </a:p>
          <a:p>
            <a:pPr defTabSz="180000"/>
            <a:r>
              <a:rPr lang="en-US" altLang="ko-KR" sz="105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	}</a:t>
            </a:r>
          </a:p>
          <a:p>
            <a:pPr defTabSz="180000"/>
            <a:r>
              <a:rPr lang="en-US" altLang="ko-KR" sz="105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	</a:t>
            </a:r>
            <a:r>
              <a:rPr lang="en-US" altLang="ko-KR" sz="105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sl</a:t>
            </a:r>
            <a:r>
              <a:rPr lang="en-US" altLang="ko-KR" sz="105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[0].</a:t>
            </a:r>
            <a:r>
              <a:rPr lang="en-US" altLang="ko-KR" sz="105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setForeground</a:t>
            </a:r>
            <a:r>
              <a:rPr lang="en-US" altLang="ko-KR" sz="105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</a:t>
            </a:r>
            <a:r>
              <a:rPr lang="en-US" altLang="ko-KR" sz="105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Color.RED</a:t>
            </a:r>
            <a:r>
              <a:rPr lang="en-US" altLang="ko-KR" sz="105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);</a:t>
            </a:r>
            <a:endParaRPr lang="ko-KR" altLang="en-US" sz="1050" dirty="0">
              <a:latin typeface="메이플스토리" panose="02000300000000000000" pitchFamily="2" charset="-127"/>
              <a:ea typeface="메이플스토리" panose="02000300000000000000" pitchFamily="2" charset="-127"/>
            </a:endParaRPr>
          </a:p>
          <a:p>
            <a:pPr defTabSz="180000"/>
            <a:r>
              <a:rPr lang="en-US" altLang="ko-KR" sz="105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	</a:t>
            </a:r>
            <a:r>
              <a:rPr lang="en-US" altLang="ko-KR" sz="105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sl</a:t>
            </a:r>
            <a:r>
              <a:rPr lang="en-US" altLang="ko-KR" sz="105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[1].</a:t>
            </a:r>
            <a:r>
              <a:rPr lang="en-US" altLang="ko-KR" sz="105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setForeground</a:t>
            </a:r>
            <a:r>
              <a:rPr lang="en-US" altLang="ko-KR" sz="105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</a:t>
            </a:r>
            <a:r>
              <a:rPr lang="en-US" altLang="ko-KR" sz="105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Color.GREEN</a:t>
            </a:r>
            <a:r>
              <a:rPr lang="en-US" altLang="ko-KR" sz="105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);</a:t>
            </a:r>
            <a:endParaRPr lang="ko-KR" altLang="en-US" sz="1050" dirty="0">
              <a:latin typeface="메이플스토리" panose="02000300000000000000" pitchFamily="2" charset="-127"/>
              <a:ea typeface="메이플스토리" panose="02000300000000000000" pitchFamily="2" charset="-127"/>
            </a:endParaRPr>
          </a:p>
          <a:p>
            <a:pPr defTabSz="180000"/>
            <a:r>
              <a:rPr lang="en-US" altLang="ko-KR" sz="105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	</a:t>
            </a:r>
            <a:r>
              <a:rPr lang="en-US" altLang="ko-KR" sz="105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sl</a:t>
            </a:r>
            <a:r>
              <a:rPr lang="en-US" altLang="ko-KR" sz="105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[2].</a:t>
            </a:r>
            <a:r>
              <a:rPr lang="en-US" altLang="ko-KR" sz="105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setForeground</a:t>
            </a:r>
            <a:r>
              <a:rPr lang="en-US" altLang="ko-KR" sz="105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</a:t>
            </a:r>
            <a:r>
              <a:rPr lang="en-US" altLang="ko-KR" sz="105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Color.BLUE</a:t>
            </a:r>
            <a:r>
              <a:rPr lang="en-US" altLang="ko-KR" sz="105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);</a:t>
            </a:r>
            <a:endParaRPr lang="ko-KR" altLang="en-US" sz="1050" dirty="0">
              <a:latin typeface="메이플스토리" panose="02000300000000000000" pitchFamily="2" charset="-127"/>
              <a:ea typeface="메이플스토리" panose="02000300000000000000" pitchFamily="2" charset="-127"/>
            </a:endParaRPr>
          </a:p>
          <a:p>
            <a:pPr defTabSz="180000"/>
            <a:endParaRPr lang="en-US" altLang="ko-KR" sz="1050" dirty="0">
              <a:latin typeface="메이플스토리" panose="02000300000000000000" pitchFamily="2" charset="-127"/>
              <a:ea typeface="메이플스토리" panose="02000300000000000000" pitchFamily="2" charset="-127"/>
            </a:endParaRPr>
          </a:p>
          <a:p>
            <a:pPr defTabSz="180000"/>
            <a:r>
              <a:rPr lang="en-US" altLang="ko-KR" sz="105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	</a:t>
            </a:r>
            <a:r>
              <a:rPr lang="en-US" altLang="ko-KR" sz="105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int</a:t>
            </a:r>
            <a:r>
              <a:rPr lang="en-US" altLang="ko-KR" sz="105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 r = </a:t>
            </a:r>
            <a:r>
              <a:rPr lang="en-US" altLang="ko-KR" sz="105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sl</a:t>
            </a:r>
            <a:r>
              <a:rPr lang="en-US" altLang="ko-KR" sz="105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[0].</a:t>
            </a:r>
            <a:r>
              <a:rPr lang="en-US" altLang="ko-KR" sz="105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getValue</a:t>
            </a:r>
            <a:r>
              <a:rPr lang="en-US" altLang="ko-KR" sz="105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(); </a:t>
            </a:r>
            <a:endParaRPr lang="ko-KR" altLang="en-US" sz="1050" dirty="0">
              <a:latin typeface="메이플스토리" panose="02000300000000000000" pitchFamily="2" charset="-127"/>
              <a:ea typeface="메이플스토리" panose="02000300000000000000" pitchFamily="2" charset="-127"/>
            </a:endParaRPr>
          </a:p>
          <a:p>
            <a:pPr defTabSz="180000"/>
            <a:r>
              <a:rPr lang="en-US" altLang="ko-KR" sz="105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	</a:t>
            </a:r>
            <a:r>
              <a:rPr lang="en-US" altLang="ko-KR" sz="105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int</a:t>
            </a:r>
            <a:r>
              <a:rPr lang="en-US" altLang="ko-KR" sz="105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 g = </a:t>
            </a:r>
            <a:r>
              <a:rPr lang="en-US" altLang="ko-KR" sz="105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sl</a:t>
            </a:r>
            <a:r>
              <a:rPr lang="en-US" altLang="ko-KR" sz="105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[1].</a:t>
            </a:r>
            <a:r>
              <a:rPr lang="en-US" altLang="ko-KR" sz="105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getValue</a:t>
            </a:r>
            <a:r>
              <a:rPr lang="en-US" altLang="ko-KR" sz="105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(); </a:t>
            </a:r>
            <a:endParaRPr lang="ko-KR" altLang="en-US" sz="1050" dirty="0">
              <a:latin typeface="메이플스토리" panose="02000300000000000000" pitchFamily="2" charset="-127"/>
              <a:ea typeface="메이플스토리" panose="02000300000000000000" pitchFamily="2" charset="-127"/>
            </a:endParaRPr>
          </a:p>
          <a:p>
            <a:pPr defTabSz="180000"/>
            <a:r>
              <a:rPr lang="en-US" altLang="ko-KR" sz="105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	</a:t>
            </a:r>
            <a:r>
              <a:rPr lang="en-US" altLang="ko-KR" sz="105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int</a:t>
            </a:r>
            <a:r>
              <a:rPr lang="en-US" altLang="ko-KR" sz="105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 b = </a:t>
            </a:r>
            <a:r>
              <a:rPr lang="en-US" altLang="ko-KR" sz="105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sl</a:t>
            </a:r>
            <a:r>
              <a:rPr lang="en-US" altLang="ko-KR" sz="105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[2].</a:t>
            </a:r>
            <a:r>
              <a:rPr lang="en-US" altLang="ko-KR" sz="105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getValue</a:t>
            </a:r>
            <a:r>
              <a:rPr lang="en-US" altLang="ko-KR" sz="105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(); </a:t>
            </a:r>
          </a:p>
          <a:p>
            <a:pPr defTabSz="180000"/>
            <a:endParaRPr lang="ko-KR" altLang="en-US" sz="1050" dirty="0">
              <a:latin typeface="메이플스토리" panose="02000300000000000000" pitchFamily="2" charset="-127"/>
              <a:ea typeface="메이플스토리" panose="02000300000000000000" pitchFamily="2" charset="-127"/>
            </a:endParaRPr>
          </a:p>
          <a:p>
            <a:pPr defTabSz="180000"/>
            <a:r>
              <a:rPr lang="en-US" altLang="ko-KR" sz="105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	</a:t>
            </a:r>
            <a:r>
              <a:rPr lang="en-US" altLang="ko-KR" sz="105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colorLabel.setOpaque</a:t>
            </a:r>
            <a:r>
              <a:rPr lang="en-US" altLang="ko-KR" sz="105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(true); </a:t>
            </a:r>
            <a:endParaRPr lang="ko-KR" altLang="en-US" sz="1050" dirty="0">
              <a:latin typeface="메이플스토리" panose="02000300000000000000" pitchFamily="2" charset="-127"/>
              <a:ea typeface="메이플스토리" panose="02000300000000000000" pitchFamily="2" charset="-127"/>
            </a:endParaRPr>
          </a:p>
          <a:p>
            <a:pPr defTabSz="180000"/>
            <a:r>
              <a:rPr lang="en-US" altLang="ko-KR" sz="105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	</a:t>
            </a:r>
            <a:r>
              <a:rPr lang="en-US" altLang="ko-KR" sz="105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colorLabel.setBackground</a:t>
            </a:r>
            <a:r>
              <a:rPr lang="en-US" altLang="ko-KR" sz="105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(new Color(</a:t>
            </a:r>
            <a:r>
              <a:rPr lang="en-US" altLang="ko-KR" sz="105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r,g,b</a:t>
            </a:r>
            <a:r>
              <a:rPr lang="en-US" altLang="ko-KR" sz="105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));</a:t>
            </a:r>
            <a:endParaRPr lang="ko-KR" altLang="en-US" sz="1050" dirty="0">
              <a:latin typeface="메이플스토리" panose="02000300000000000000" pitchFamily="2" charset="-127"/>
              <a:ea typeface="메이플스토리" panose="02000300000000000000" pitchFamily="2" charset="-127"/>
            </a:endParaRPr>
          </a:p>
          <a:p>
            <a:pPr defTabSz="180000"/>
            <a:r>
              <a:rPr lang="en-US" altLang="ko-KR" sz="105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	</a:t>
            </a:r>
            <a:r>
              <a:rPr lang="en-US" altLang="ko-KR" sz="105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c.add</a:t>
            </a:r>
            <a:r>
              <a:rPr lang="en-US" altLang="ko-KR" sz="105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</a:t>
            </a:r>
            <a:r>
              <a:rPr lang="en-US" altLang="ko-KR" sz="105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colorLabel</a:t>
            </a:r>
            <a:r>
              <a:rPr lang="en-US" altLang="ko-KR" sz="105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);</a:t>
            </a:r>
          </a:p>
          <a:p>
            <a:pPr defTabSz="180000"/>
            <a:r>
              <a:rPr lang="en-US" altLang="ko-KR" sz="105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	</a:t>
            </a:r>
            <a:r>
              <a:rPr lang="en-US" altLang="ko-KR" sz="105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setSize</a:t>
            </a:r>
            <a:r>
              <a:rPr lang="en-US" altLang="ko-KR" sz="105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(300,230);</a:t>
            </a:r>
          </a:p>
          <a:p>
            <a:pPr defTabSz="180000"/>
            <a:r>
              <a:rPr lang="en-US" altLang="ko-KR" sz="105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	</a:t>
            </a:r>
            <a:r>
              <a:rPr lang="en-US" altLang="ko-KR" sz="105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setVisible</a:t>
            </a:r>
            <a:r>
              <a:rPr lang="en-US" altLang="ko-KR" sz="105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(true);</a:t>
            </a:r>
          </a:p>
          <a:p>
            <a:pPr defTabSz="180000"/>
            <a:r>
              <a:rPr lang="en-US" altLang="ko-KR" sz="105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}</a:t>
            </a:r>
            <a:endParaRPr lang="ko-KR" altLang="en-US" sz="1050" dirty="0">
              <a:latin typeface="메이플스토리" panose="02000300000000000000" pitchFamily="2" charset="-127"/>
              <a:ea typeface="메이플스토리" panose="02000300000000000000" pitchFamily="2" charset="-127"/>
            </a:endParaRPr>
          </a:p>
        </p:txBody>
      </p:sp>
      <p:sp>
        <p:nvSpPr>
          <p:cNvPr id="5" name="직사각형 4"/>
          <p:cNvSpPr/>
          <p:nvPr/>
        </p:nvSpPr>
        <p:spPr>
          <a:xfrm>
            <a:off x="5004048" y="666795"/>
            <a:ext cx="3960440" cy="203132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defTabSz="180000"/>
            <a:r>
              <a:rPr lang="en-US" altLang="ko-KR" sz="105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</a:t>
            </a:r>
            <a:r>
              <a:rPr lang="en-US" altLang="ko-KR" sz="1050" b="1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class </a:t>
            </a:r>
            <a:r>
              <a:rPr lang="en-US" altLang="ko-KR" sz="1050" b="1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MyChangeListener</a:t>
            </a:r>
            <a:r>
              <a:rPr lang="en-US" altLang="ko-KR" sz="1050" b="1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 implements </a:t>
            </a:r>
            <a:r>
              <a:rPr lang="en-US" altLang="ko-KR" sz="1050" b="1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ChangeListener</a:t>
            </a:r>
            <a:r>
              <a:rPr lang="en-US" altLang="ko-KR" sz="1050" b="1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 </a:t>
            </a:r>
            <a:r>
              <a:rPr lang="en-US" altLang="ko-KR" sz="105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{</a:t>
            </a:r>
          </a:p>
          <a:p>
            <a:pPr defTabSz="180000"/>
            <a:r>
              <a:rPr lang="en-US" altLang="ko-KR" sz="105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	public void </a:t>
            </a:r>
            <a:r>
              <a:rPr lang="en-US" altLang="ko-KR" sz="105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stateChanged</a:t>
            </a:r>
            <a:r>
              <a:rPr lang="en-US" altLang="ko-KR" sz="105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</a:t>
            </a:r>
            <a:r>
              <a:rPr lang="en-US" altLang="ko-KR" sz="105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ChangeEvent</a:t>
            </a:r>
            <a:r>
              <a:rPr lang="en-US" altLang="ko-KR" sz="105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 e) {</a:t>
            </a:r>
            <a:endParaRPr lang="ko-KR" altLang="en-US" sz="1050" dirty="0">
              <a:latin typeface="메이플스토리" panose="02000300000000000000" pitchFamily="2" charset="-127"/>
              <a:ea typeface="메이플스토리" panose="02000300000000000000" pitchFamily="2" charset="-127"/>
            </a:endParaRPr>
          </a:p>
          <a:p>
            <a:pPr defTabSz="180000"/>
            <a:r>
              <a:rPr lang="en-US" altLang="ko-KR" sz="105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		</a:t>
            </a:r>
            <a:r>
              <a:rPr lang="en-US" altLang="ko-KR" sz="105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int</a:t>
            </a:r>
            <a:r>
              <a:rPr lang="en-US" altLang="ko-KR" sz="105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 r = </a:t>
            </a:r>
            <a:r>
              <a:rPr lang="en-US" altLang="ko-KR" sz="105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sl</a:t>
            </a:r>
            <a:r>
              <a:rPr lang="en-US" altLang="ko-KR" sz="105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[0].</a:t>
            </a:r>
            <a:r>
              <a:rPr lang="en-US" altLang="ko-KR" sz="105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getValue</a:t>
            </a:r>
            <a:r>
              <a:rPr lang="en-US" altLang="ko-KR" sz="105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();</a:t>
            </a:r>
            <a:endParaRPr lang="ko-KR" altLang="en-US" sz="1050" dirty="0">
              <a:latin typeface="메이플스토리" panose="02000300000000000000" pitchFamily="2" charset="-127"/>
              <a:ea typeface="메이플스토리" panose="02000300000000000000" pitchFamily="2" charset="-127"/>
            </a:endParaRPr>
          </a:p>
          <a:p>
            <a:pPr defTabSz="180000"/>
            <a:r>
              <a:rPr lang="en-US" altLang="ko-KR" sz="105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		</a:t>
            </a:r>
            <a:r>
              <a:rPr lang="en-US" altLang="ko-KR" sz="105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int</a:t>
            </a:r>
            <a:r>
              <a:rPr lang="en-US" altLang="ko-KR" sz="105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 g = </a:t>
            </a:r>
            <a:r>
              <a:rPr lang="en-US" altLang="ko-KR" sz="105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sl</a:t>
            </a:r>
            <a:r>
              <a:rPr lang="en-US" altLang="ko-KR" sz="105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[1].</a:t>
            </a:r>
            <a:r>
              <a:rPr lang="en-US" altLang="ko-KR" sz="105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getValue</a:t>
            </a:r>
            <a:r>
              <a:rPr lang="en-US" altLang="ko-KR" sz="105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();</a:t>
            </a:r>
            <a:endParaRPr lang="ko-KR" altLang="en-US" sz="1050" dirty="0">
              <a:latin typeface="메이플스토리" panose="02000300000000000000" pitchFamily="2" charset="-127"/>
              <a:ea typeface="메이플스토리" panose="02000300000000000000" pitchFamily="2" charset="-127"/>
            </a:endParaRPr>
          </a:p>
          <a:p>
            <a:pPr defTabSz="180000"/>
            <a:r>
              <a:rPr lang="en-US" altLang="ko-KR" sz="105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		</a:t>
            </a:r>
            <a:r>
              <a:rPr lang="en-US" altLang="ko-KR" sz="105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int</a:t>
            </a:r>
            <a:r>
              <a:rPr lang="en-US" altLang="ko-KR" sz="105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 b = </a:t>
            </a:r>
            <a:r>
              <a:rPr lang="en-US" altLang="ko-KR" sz="105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sl</a:t>
            </a:r>
            <a:r>
              <a:rPr lang="en-US" altLang="ko-KR" sz="105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[2].</a:t>
            </a:r>
            <a:r>
              <a:rPr lang="en-US" altLang="ko-KR" sz="105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getValue</a:t>
            </a:r>
            <a:r>
              <a:rPr lang="en-US" altLang="ko-KR" sz="105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();</a:t>
            </a:r>
            <a:endParaRPr lang="ko-KR" altLang="en-US" sz="1050" dirty="0">
              <a:latin typeface="메이플스토리" panose="02000300000000000000" pitchFamily="2" charset="-127"/>
              <a:ea typeface="메이플스토리" panose="02000300000000000000" pitchFamily="2" charset="-127"/>
            </a:endParaRPr>
          </a:p>
          <a:p>
            <a:pPr defTabSz="180000"/>
            <a:r>
              <a:rPr lang="en-US" altLang="ko-KR" sz="105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		</a:t>
            </a:r>
            <a:r>
              <a:rPr lang="en-US" altLang="ko-KR" sz="1050" b="1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colorLabel.setBackground</a:t>
            </a:r>
            <a:r>
              <a:rPr lang="en-US" altLang="ko-KR" sz="1050" b="1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(new Color(</a:t>
            </a:r>
            <a:r>
              <a:rPr lang="en-US" altLang="ko-KR" sz="1050" b="1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r,g,b</a:t>
            </a:r>
            <a:r>
              <a:rPr lang="en-US" altLang="ko-KR" sz="1050" b="1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));</a:t>
            </a:r>
            <a:endParaRPr lang="ko-KR" altLang="en-US" sz="1050" b="1" dirty="0">
              <a:latin typeface="메이플스토리" panose="02000300000000000000" pitchFamily="2" charset="-127"/>
              <a:ea typeface="메이플스토리" panose="02000300000000000000" pitchFamily="2" charset="-127"/>
            </a:endParaRPr>
          </a:p>
          <a:p>
            <a:pPr defTabSz="180000"/>
            <a:r>
              <a:rPr lang="en-US" altLang="ko-KR" sz="105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	}</a:t>
            </a:r>
          </a:p>
          <a:p>
            <a:pPr defTabSz="180000"/>
            <a:r>
              <a:rPr lang="en-US" altLang="ko-KR" sz="105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}</a:t>
            </a:r>
          </a:p>
          <a:p>
            <a:pPr defTabSz="180000"/>
            <a:r>
              <a:rPr lang="en-US" altLang="ko-KR" sz="105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public static void main(String [] </a:t>
            </a:r>
            <a:r>
              <a:rPr lang="en-US" altLang="ko-KR" sz="105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args</a:t>
            </a:r>
            <a:r>
              <a:rPr lang="en-US" altLang="ko-KR" sz="105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) {</a:t>
            </a:r>
          </a:p>
          <a:p>
            <a:pPr defTabSz="180000"/>
            <a:r>
              <a:rPr lang="en-US" altLang="ko-KR" sz="105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	new </a:t>
            </a:r>
            <a:r>
              <a:rPr lang="en-US" altLang="ko-KR" sz="105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SliderChangeEx</a:t>
            </a:r>
            <a:r>
              <a:rPr lang="en-US" altLang="ko-KR" sz="105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();</a:t>
            </a:r>
          </a:p>
          <a:p>
            <a:pPr defTabSz="180000"/>
            <a:r>
              <a:rPr lang="en-US" altLang="ko-KR" sz="105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	}</a:t>
            </a:r>
          </a:p>
          <a:p>
            <a:pPr defTabSz="180000"/>
            <a:r>
              <a:rPr lang="en-US" altLang="ko-KR" sz="105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}</a:t>
            </a:r>
            <a:endParaRPr lang="ko-KR" altLang="en-US" sz="1050" dirty="0">
              <a:latin typeface="메이플스토리" panose="02000300000000000000" pitchFamily="2" charset="-127"/>
              <a:ea typeface="메이플스토리" panose="02000300000000000000" pitchFamily="2" charset="-127"/>
            </a:endParaRPr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1A6BD2C2-3D3B-4E94-BD92-61B02C5F4DEE}" type="slidenum">
              <a:rPr lang="ko-KR" altLang="en-US" smtClean="0"/>
              <a:pPr/>
              <a:t>42</a:t>
            </a:fld>
            <a:endParaRPr lang="ko-KR" altLang="en-US"/>
          </a:p>
        </p:txBody>
      </p:sp>
      <p:pic>
        <p:nvPicPr>
          <p:cNvPr id="8" name="그림 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2712" y="2746084"/>
            <a:ext cx="2469256" cy="1928239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9" name="그림 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2712" y="4797152"/>
            <a:ext cx="2469256" cy="1928239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4139952" y="5373216"/>
            <a:ext cx="1234165" cy="442674"/>
          </a:xfrm>
          <a:prstGeom prst="wedgeRoundRectCallout">
            <a:avLst>
              <a:gd name="adj1" fmla="val 57904"/>
              <a:gd name="adj2" fmla="val 14866"/>
              <a:gd name="adj3" fmla="val 16667"/>
            </a:avLst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sz="10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슬라이더의 손잡이를</a:t>
            </a:r>
            <a:endParaRPr lang="en-US" altLang="ko-KR" sz="1000" dirty="0">
              <a:latin typeface="메이플스토리" panose="02000300000000000000" pitchFamily="2" charset="-127"/>
              <a:ea typeface="메이플스토리" panose="02000300000000000000" pitchFamily="2" charset="-127"/>
            </a:endParaRPr>
          </a:p>
          <a:p>
            <a:r>
              <a:rPr lang="ko-KR" altLang="en-US" sz="10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움직여 색깔 만들기</a:t>
            </a:r>
          </a:p>
        </p:txBody>
      </p:sp>
    </p:spTree>
    <p:extLst>
      <p:ext uri="{BB962C8B-B14F-4D97-AF65-F5344CB8AC3E}">
        <p14:creationId xmlns:p14="http://schemas.microsoft.com/office/powerpoint/2010/main" val="424262796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가을">
  <a:themeElements>
    <a:clrScheme name="가을">
      <a:dk1>
        <a:sysClr val="windowText" lastClr="000000"/>
      </a:dk1>
      <a:lt1>
        <a:sysClr val="window" lastClr="FFFFFF"/>
      </a:lt1>
      <a:dk2>
        <a:srgbClr val="775F55"/>
      </a:dk2>
      <a:lt2>
        <a:srgbClr val="EBDDC3"/>
      </a:lt2>
      <a:accent1>
        <a:srgbClr val="94B6D2"/>
      </a:accent1>
      <a:accent2>
        <a:srgbClr val="DD8047"/>
      </a:accent2>
      <a:accent3>
        <a:srgbClr val="A5AB81"/>
      </a:accent3>
      <a:accent4>
        <a:srgbClr val="D8B25C"/>
      </a:accent4>
      <a:accent5>
        <a:srgbClr val="7BA79D"/>
      </a:accent5>
      <a:accent6>
        <a:srgbClr val="968C8C"/>
      </a:accent6>
      <a:hlink>
        <a:srgbClr val="F7B615"/>
      </a:hlink>
      <a:folHlink>
        <a:srgbClr val="704404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가을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  <a:blipFill>
          <a:blip xmlns:r="http://schemas.openxmlformats.org/officeDocument/2006/relationships" r:embed="rId2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Median</Template>
  <TotalTime>4137</TotalTime>
  <Words>5887</Words>
  <Application>Microsoft Office PowerPoint</Application>
  <PresentationFormat>화면 슬라이드 쇼(4:3)</PresentationFormat>
  <Paragraphs>914</Paragraphs>
  <Slides>42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42</vt:i4>
      </vt:variant>
    </vt:vector>
  </HeadingPairs>
  <TitlesOfParts>
    <vt:vector size="46" baseType="lpstr">
      <vt:lpstr>Wingdings</vt:lpstr>
      <vt:lpstr>Wingdings 2</vt:lpstr>
      <vt:lpstr>메이플스토리</vt:lpstr>
      <vt:lpstr>가을</vt:lpstr>
      <vt:lpstr>PowerPoint 프레젠테이션</vt:lpstr>
      <vt:lpstr>GUI를 구성하는 2 가지 방법</vt:lpstr>
      <vt:lpstr>기초적인 스윙 컴포넌트와 상속 관계</vt:lpstr>
      <vt:lpstr>스윙 컴포넌트의 공통 메소드, JComponent의 메소드</vt:lpstr>
      <vt:lpstr>예제 11-1 : 스윙 컴포넌트의 공통 기능, JComponent의 메소드</vt:lpstr>
      <vt:lpstr>JLabel, 레이블 컴포넌트</vt:lpstr>
      <vt:lpstr>레이블 컴포넌트 생성 예</vt:lpstr>
      <vt:lpstr>예제 11-2 : JLabel을 이용한 레이블 만들기</vt:lpstr>
      <vt:lpstr>JButton, 버튼 컴포넌트</vt:lpstr>
      <vt:lpstr>이미지 버튼 만들기</vt:lpstr>
      <vt:lpstr>예제 11-3 : JButton을 이용한 버튼 만들기</vt:lpstr>
      <vt:lpstr>레이블과 버튼의 정렬(Alignment)</vt:lpstr>
      <vt:lpstr>JCheckBox, 체크박스 컴포넌트</vt:lpstr>
      <vt:lpstr>체크 박스 생성</vt:lpstr>
      <vt:lpstr>예제 11-4 : 체크박스 생성 예</vt:lpstr>
      <vt:lpstr>JCheckBox에서 Item 이벤트 처리</vt:lpstr>
      <vt:lpstr>예제 11-5 : ItemEvent 활용하여 체크박스로 가격 합산하기</vt:lpstr>
      <vt:lpstr>JRadioButton, 라디오버튼 컴포넌트</vt:lpstr>
      <vt:lpstr>라디오버튼 생성 과정</vt:lpstr>
      <vt:lpstr>예제 11-6 : 라디오버튼  생성 예</vt:lpstr>
      <vt:lpstr>예제 11-7 : JRadioButton과 Item 이벤트를 이용하여 과일 사진 보여주기</vt:lpstr>
      <vt:lpstr>예제 11-7 실행</vt:lpstr>
      <vt:lpstr>JTextField, 텍스트필드 컴포넌트 </vt:lpstr>
      <vt:lpstr>예제 11-8 : 간단한 텍스트 필드 만들기</vt:lpstr>
      <vt:lpstr>JTextField의 주요 메소드</vt:lpstr>
      <vt:lpstr>TextArea, 텍스트영역 컴포넌트</vt:lpstr>
      <vt:lpstr>스크롤 가능한 텍스트영역 만들기</vt:lpstr>
      <vt:lpstr>예제 11-9 : JTextArea  컴포넌트 생성</vt:lpstr>
      <vt:lpstr>JList&lt;E&gt;, 리스트 컴포넌트 </vt:lpstr>
      <vt:lpstr>리스트를 생성하는 방법</vt:lpstr>
      <vt:lpstr>예제 11-10 :   리스트 만들기</vt:lpstr>
      <vt:lpstr>리스트의 아이템 변경</vt:lpstr>
      <vt:lpstr>예제 11-11 : 리스트의 아이템 변경</vt:lpstr>
      <vt:lpstr>JComboBox&lt;E&gt;, 콤보박스 컴포넌트 </vt:lpstr>
      <vt:lpstr>예제 11-12 : 콤보박스 만들기</vt:lpstr>
      <vt:lpstr>JComboBox&lt;E&gt;와 Action 이벤트</vt:lpstr>
      <vt:lpstr>예제 11-13 : Action  이벤트를 이용한 콤보박스 활용 예</vt:lpstr>
      <vt:lpstr>JSlider, 슬라이더</vt:lpstr>
      <vt:lpstr>슬라이더의 모양 제어</vt:lpstr>
      <vt:lpstr>예제 11-14 : JSlider로 슬라이더 컴포넌트를 만들고 모양을 제어하는 예</vt:lpstr>
      <vt:lpstr>JSlider와 Change 이벤트</vt:lpstr>
      <vt:lpstr>예제 11-15 : JSlider와 Change이벤트를 활용한 색깔 다루기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Kitae</dc:creator>
  <cp:lastModifiedBy>조강홍</cp:lastModifiedBy>
  <cp:revision>190</cp:revision>
  <dcterms:created xsi:type="dcterms:W3CDTF">2011-08-27T14:53:28Z</dcterms:created>
  <dcterms:modified xsi:type="dcterms:W3CDTF">2023-11-19T12:34:47Z</dcterms:modified>
</cp:coreProperties>
</file>