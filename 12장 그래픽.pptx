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3" r:id="rId30"/>
    <p:sldId id="284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3E"/>
    <a:srgbClr val="B0E2F4"/>
    <a:srgbClr val="B0F4F4"/>
    <a:srgbClr val="DAEEC4"/>
    <a:srgbClr val="D0EAB4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68708-A53F-4645-AEBE-C8FC624E0DC8}" v="2" dt="2023-11-26T06:31:29.573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90" autoAdjust="0"/>
    <p:restoredTop sz="97689" autoAdjust="0"/>
  </p:normalViewPr>
  <p:slideViewPr>
    <p:cSldViewPr>
      <p:cViewPr varScale="1">
        <p:scale>
          <a:sx n="92" d="100"/>
          <a:sy n="92" d="100"/>
        </p:scale>
        <p:origin x="191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강홍" userId="5f906133-56a7-4eaa-b125-f98a3a90374e" providerId="ADAL" clId="{53D68708-A53F-4645-AEBE-C8FC624E0DC8}"/>
    <pc:docChg chg="custSel modSld">
      <pc:chgData name="조강홍" userId="5f906133-56a7-4eaa-b125-f98a3a90374e" providerId="ADAL" clId="{53D68708-A53F-4645-AEBE-C8FC624E0DC8}" dt="2023-11-26T06:31:20.027" v="30" actId="27636"/>
      <pc:docMkLst>
        <pc:docMk/>
      </pc:docMkLst>
      <pc:sldChg chg="modSp mod">
        <pc:chgData name="조강홍" userId="5f906133-56a7-4eaa-b125-f98a3a90374e" providerId="ADAL" clId="{53D68708-A53F-4645-AEBE-C8FC624E0DC8}" dt="2023-11-26T06:31:19.679" v="0" actId="27636"/>
        <pc:sldMkLst>
          <pc:docMk/>
          <pc:sldMk cId="244952653" sldId="257"/>
        </pc:sldMkLst>
        <pc:spChg chg="mod">
          <ac:chgData name="조강홍" userId="5f906133-56a7-4eaa-b125-f98a3a90374e" providerId="ADAL" clId="{53D68708-A53F-4645-AEBE-C8FC624E0DC8}" dt="2023-11-26T06:31:19.679" v="0" actId="27636"/>
          <ac:spMkLst>
            <pc:docMk/>
            <pc:sldMk cId="244952653" sldId="257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710" v="1" actId="27636"/>
        <pc:sldMkLst>
          <pc:docMk/>
          <pc:sldMk cId="1787916566" sldId="258"/>
        </pc:sldMkLst>
        <pc:spChg chg="mod">
          <ac:chgData name="조강홍" userId="5f906133-56a7-4eaa-b125-f98a3a90374e" providerId="ADAL" clId="{53D68708-A53F-4645-AEBE-C8FC624E0DC8}" dt="2023-11-26T06:31:19.710" v="1" actId="27636"/>
          <ac:spMkLst>
            <pc:docMk/>
            <pc:sldMk cId="1787916566" sldId="258"/>
            <ac:spMk id="17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710" v="2" actId="27636"/>
        <pc:sldMkLst>
          <pc:docMk/>
          <pc:sldMk cId="3581307889" sldId="259"/>
        </pc:sldMkLst>
        <pc:spChg chg="mod">
          <ac:chgData name="조강홍" userId="5f906133-56a7-4eaa-b125-f98a3a90374e" providerId="ADAL" clId="{53D68708-A53F-4645-AEBE-C8FC624E0DC8}" dt="2023-11-26T06:31:19.710" v="2" actId="27636"/>
          <ac:spMkLst>
            <pc:docMk/>
            <pc:sldMk cId="3581307889" sldId="259"/>
            <ac:spMk id="11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726" v="3" actId="27636"/>
        <pc:sldMkLst>
          <pc:docMk/>
          <pc:sldMk cId="412686098" sldId="260"/>
        </pc:sldMkLst>
        <pc:spChg chg="mod">
          <ac:chgData name="조강홍" userId="5f906133-56a7-4eaa-b125-f98a3a90374e" providerId="ADAL" clId="{53D68708-A53F-4645-AEBE-C8FC624E0DC8}" dt="2023-11-26T06:31:19.726" v="3" actId="27636"/>
          <ac:spMkLst>
            <pc:docMk/>
            <pc:sldMk cId="412686098" sldId="260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741" v="5" actId="27636"/>
        <pc:sldMkLst>
          <pc:docMk/>
          <pc:sldMk cId="1140142462" sldId="261"/>
        </pc:sldMkLst>
        <pc:spChg chg="mod">
          <ac:chgData name="조강홍" userId="5f906133-56a7-4eaa-b125-f98a3a90374e" providerId="ADAL" clId="{53D68708-A53F-4645-AEBE-C8FC624E0DC8}" dt="2023-11-26T06:31:19.741" v="5" actId="27636"/>
          <ac:spMkLst>
            <pc:docMk/>
            <pc:sldMk cId="1140142462" sldId="261"/>
            <ac:spMk id="2" creationId="{00000000-0000-0000-0000-000000000000}"/>
          </ac:spMkLst>
        </pc:spChg>
        <pc:spChg chg="mod">
          <ac:chgData name="조강홍" userId="5f906133-56a7-4eaa-b125-f98a3a90374e" providerId="ADAL" clId="{53D68708-A53F-4645-AEBE-C8FC624E0DC8}" dt="2023-11-26T06:31:19.741" v="4" actId="27636"/>
          <ac:spMkLst>
            <pc:docMk/>
            <pc:sldMk cId="1140142462" sldId="261"/>
            <ac:spMk id="12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773" v="6" actId="27636"/>
        <pc:sldMkLst>
          <pc:docMk/>
          <pc:sldMk cId="895305507" sldId="262"/>
        </pc:sldMkLst>
        <pc:spChg chg="mod">
          <ac:chgData name="조강홍" userId="5f906133-56a7-4eaa-b125-f98a3a90374e" providerId="ADAL" clId="{53D68708-A53F-4645-AEBE-C8FC624E0DC8}" dt="2023-11-26T06:31:19.773" v="6" actId="27636"/>
          <ac:spMkLst>
            <pc:docMk/>
            <pc:sldMk cId="895305507" sldId="262"/>
            <ac:spMk id="8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04" v="7" actId="27636"/>
        <pc:sldMkLst>
          <pc:docMk/>
          <pc:sldMk cId="3049664908" sldId="264"/>
        </pc:sldMkLst>
        <pc:spChg chg="mod">
          <ac:chgData name="조강홍" userId="5f906133-56a7-4eaa-b125-f98a3a90374e" providerId="ADAL" clId="{53D68708-A53F-4645-AEBE-C8FC624E0DC8}" dt="2023-11-26T06:31:19.804" v="7" actId="27636"/>
          <ac:spMkLst>
            <pc:docMk/>
            <pc:sldMk cId="3049664908" sldId="264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20" v="8" actId="27636"/>
        <pc:sldMkLst>
          <pc:docMk/>
          <pc:sldMk cId="539155199" sldId="265"/>
        </pc:sldMkLst>
        <pc:spChg chg="mod">
          <ac:chgData name="조강홍" userId="5f906133-56a7-4eaa-b125-f98a3a90374e" providerId="ADAL" clId="{53D68708-A53F-4645-AEBE-C8FC624E0DC8}" dt="2023-11-26T06:31:19.820" v="8" actId="27636"/>
          <ac:spMkLst>
            <pc:docMk/>
            <pc:sldMk cId="539155199" sldId="265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20" v="9" actId="27636"/>
        <pc:sldMkLst>
          <pc:docMk/>
          <pc:sldMk cId="3039475361" sldId="266"/>
        </pc:sldMkLst>
        <pc:spChg chg="mod">
          <ac:chgData name="조강홍" userId="5f906133-56a7-4eaa-b125-f98a3a90374e" providerId="ADAL" clId="{53D68708-A53F-4645-AEBE-C8FC624E0DC8}" dt="2023-11-26T06:31:19.820" v="9" actId="27636"/>
          <ac:spMkLst>
            <pc:docMk/>
            <pc:sldMk cId="3039475361" sldId="266"/>
            <ac:spMk id="25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20" v="10" actId="27636"/>
        <pc:sldMkLst>
          <pc:docMk/>
          <pc:sldMk cId="971788858" sldId="267"/>
        </pc:sldMkLst>
        <pc:spChg chg="mod">
          <ac:chgData name="조강홍" userId="5f906133-56a7-4eaa-b125-f98a3a90374e" providerId="ADAL" clId="{53D68708-A53F-4645-AEBE-C8FC624E0DC8}" dt="2023-11-26T06:31:19.820" v="10" actId="27636"/>
          <ac:spMkLst>
            <pc:docMk/>
            <pc:sldMk cId="971788858" sldId="267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20" v="11" actId="27636"/>
        <pc:sldMkLst>
          <pc:docMk/>
          <pc:sldMk cId="1891486624" sldId="268"/>
        </pc:sldMkLst>
        <pc:spChg chg="mod">
          <ac:chgData name="조강홍" userId="5f906133-56a7-4eaa-b125-f98a3a90374e" providerId="ADAL" clId="{53D68708-A53F-4645-AEBE-C8FC624E0DC8}" dt="2023-11-26T06:31:19.820" v="11" actId="27636"/>
          <ac:spMkLst>
            <pc:docMk/>
            <pc:sldMk cId="1891486624" sldId="268"/>
            <ac:spMk id="20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51" v="13" actId="27636"/>
        <pc:sldMkLst>
          <pc:docMk/>
          <pc:sldMk cId="2588262701" sldId="269"/>
        </pc:sldMkLst>
        <pc:spChg chg="mod">
          <ac:chgData name="조강홍" userId="5f906133-56a7-4eaa-b125-f98a3a90374e" providerId="ADAL" clId="{53D68708-A53F-4645-AEBE-C8FC624E0DC8}" dt="2023-11-26T06:31:19.835" v="12" actId="27636"/>
          <ac:spMkLst>
            <pc:docMk/>
            <pc:sldMk cId="2588262701" sldId="269"/>
            <ac:spMk id="3" creationId="{00000000-0000-0000-0000-000000000000}"/>
          </ac:spMkLst>
        </pc:spChg>
        <pc:spChg chg="mod">
          <ac:chgData name="조강홍" userId="5f906133-56a7-4eaa-b125-f98a3a90374e" providerId="ADAL" clId="{53D68708-A53F-4645-AEBE-C8FC624E0DC8}" dt="2023-11-26T06:31:19.851" v="13" actId="27636"/>
          <ac:spMkLst>
            <pc:docMk/>
            <pc:sldMk cId="2588262701" sldId="269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51" v="15" actId="27636"/>
        <pc:sldMkLst>
          <pc:docMk/>
          <pc:sldMk cId="1727547356" sldId="270"/>
        </pc:sldMkLst>
        <pc:spChg chg="mod">
          <ac:chgData name="조강홍" userId="5f906133-56a7-4eaa-b125-f98a3a90374e" providerId="ADAL" clId="{53D68708-A53F-4645-AEBE-C8FC624E0DC8}" dt="2023-11-26T06:31:19.851" v="15" actId="27636"/>
          <ac:spMkLst>
            <pc:docMk/>
            <pc:sldMk cId="1727547356" sldId="270"/>
            <ac:spMk id="2" creationId="{00000000-0000-0000-0000-000000000000}"/>
          </ac:spMkLst>
        </pc:spChg>
        <pc:spChg chg="mod">
          <ac:chgData name="조강홍" userId="5f906133-56a7-4eaa-b125-f98a3a90374e" providerId="ADAL" clId="{53D68708-A53F-4645-AEBE-C8FC624E0DC8}" dt="2023-11-26T06:31:19.851" v="14" actId="27636"/>
          <ac:spMkLst>
            <pc:docMk/>
            <pc:sldMk cId="1727547356" sldId="270"/>
            <ac:spMk id="6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66" v="16" actId="27636"/>
        <pc:sldMkLst>
          <pc:docMk/>
          <pc:sldMk cId="3298752914" sldId="271"/>
        </pc:sldMkLst>
        <pc:spChg chg="mod">
          <ac:chgData name="조강홍" userId="5f906133-56a7-4eaa-b125-f98a3a90374e" providerId="ADAL" clId="{53D68708-A53F-4645-AEBE-C8FC624E0DC8}" dt="2023-11-26T06:31:19.866" v="16" actId="27636"/>
          <ac:spMkLst>
            <pc:docMk/>
            <pc:sldMk cId="3298752914" sldId="271"/>
            <ac:spMk id="6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882" v="17" actId="27636"/>
        <pc:sldMkLst>
          <pc:docMk/>
          <pc:sldMk cId="595530915" sldId="272"/>
        </pc:sldMkLst>
        <pc:spChg chg="mod">
          <ac:chgData name="조강홍" userId="5f906133-56a7-4eaa-b125-f98a3a90374e" providerId="ADAL" clId="{53D68708-A53F-4645-AEBE-C8FC624E0DC8}" dt="2023-11-26T06:31:19.882" v="17" actId="27636"/>
          <ac:spMkLst>
            <pc:docMk/>
            <pc:sldMk cId="595530915" sldId="272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18" v="18" actId="27636"/>
        <pc:sldMkLst>
          <pc:docMk/>
          <pc:sldMk cId="768298878" sldId="273"/>
        </pc:sldMkLst>
        <pc:spChg chg="mod">
          <ac:chgData name="조강홍" userId="5f906133-56a7-4eaa-b125-f98a3a90374e" providerId="ADAL" clId="{53D68708-A53F-4645-AEBE-C8FC624E0DC8}" dt="2023-11-26T06:31:19.918" v="18" actId="27636"/>
          <ac:spMkLst>
            <pc:docMk/>
            <pc:sldMk cId="768298878" sldId="273"/>
            <ac:spMk id="10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20" v="19" actId="27636"/>
        <pc:sldMkLst>
          <pc:docMk/>
          <pc:sldMk cId="1970577528" sldId="274"/>
        </pc:sldMkLst>
        <pc:spChg chg="mod">
          <ac:chgData name="조강홍" userId="5f906133-56a7-4eaa-b125-f98a3a90374e" providerId="ADAL" clId="{53D68708-A53F-4645-AEBE-C8FC624E0DC8}" dt="2023-11-26T06:31:19.920" v="19" actId="27636"/>
          <ac:spMkLst>
            <pc:docMk/>
            <pc:sldMk cId="1970577528" sldId="274"/>
            <ac:spMk id="9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23" v="20" actId="27636"/>
        <pc:sldMkLst>
          <pc:docMk/>
          <pc:sldMk cId="259908113" sldId="275"/>
        </pc:sldMkLst>
        <pc:spChg chg="mod">
          <ac:chgData name="조강홍" userId="5f906133-56a7-4eaa-b125-f98a3a90374e" providerId="ADAL" clId="{53D68708-A53F-4645-AEBE-C8FC624E0DC8}" dt="2023-11-26T06:31:19.923" v="20" actId="27636"/>
          <ac:spMkLst>
            <pc:docMk/>
            <pc:sldMk cId="259908113" sldId="275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25" v="21" actId="27636"/>
        <pc:sldMkLst>
          <pc:docMk/>
          <pc:sldMk cId="3504533328" sldId="276"/>
        </pc:sldMkLst>
        <pc:spChg chg="mod">
          <ac:chgData name="조강홍" userId="5f906133-56a7-4eaa-b125-f98a3a90374e" providerId="ADAL" clId="{53D68708-A53F-4645-AEBE-C8FC624E0DC8}" dt="2023-11-26T06:31:19.925" v="21" actId="27636"/>
          <ac:spMkLst>
            <pc:docMk/>
            <pc:sldMk cId="3504533328" sldId="276"/>
            <ac:spMk id="11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27" v="22" actId="27636"/>
        <pc:sldMkLst>
          <pc:docMk/>
          <pc:sldMk cId="3643400546" sldId="277"/>
        </pc:sldMkLst>
        <pc:spChg chg="mod">
          <ac:chgData name="조강홍" userId="5f906133-56a7-4eaa-b125-f98a3a90374e" providerId="ADAL" clId="{53D68708-A53F-4645-AEBE-C8FC624E0DC8}" dt="2023-11-26T06:31:19.927" v="22" actId="27636"/>
          <ac:spMkLst>
            <pc:docMk/>
            <pc:sldMk cId="3643400546" sldId="277"/>
            <ac:spMk id="1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74" v="23" actId="27636"/>
        <pc:sldMkLst>
          <pc:docMk/>
          <pc:sldMk cId="4251471521" sldId="278"/>
        </pc:sldMkLst>
        <pc:spChg chg="mod">
          <ac:chgData name="조강홍" userId="5f906133-56a7-4eaa-b125-f98a3a90374e" providerId="ADAL" clId="{53D68708-A53F-4645-AEBE-C8FC624E0DC8}" dt="2023-11-26T06:31:19.974" v="23" actId="27636"/>
          <ac:spMkLst>
            <pc:docMk/>
            <pc:sldMk cId="4251471521" sldId="278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81" v="24" actId="27636"/>
        <pc:sldMkLst>
          <pc:docMk/>
          <pc:sldMk cId="280265762" sldId="279"/>
        </pc:sldMkLst>
        <pc:spChg chg="mod">
          <ac:chgData name="조강홍" userId="5f906133-56a7-4eaa-b125-f98a3a90374e" providerId="ADAL" clId="{53D68708-A53F-4645-AEBE-C8FC624E0DC8}" dt="2023-11-26T06:31:19.981" v="24" actId="27636"/>
          <ac:spMkLst>
            <pc:docMk/>
            <pc:sldMk cId="280265762" sldId="279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87" v="25" actId="27636"/>
        <pc:sldMkLst>
          <pc:docMk/>
          <pc:sldMk cId="2445999807" sldId="280"/>
        </pc:sldMkLst>
        <pc:spChg chg="mod">
          <ac:chgData name="조강홍" userId="5f906133-56a7-4eaa-b125-f98a3a90374e" providerId="ADAL" clId="{53D68708-A53F-4645-AEBE-C8FC624E0DC8}" dt="2023-11-26T06:31:19.987" v="25" actId="27636"/>
          <ac:spMkLst>
            <pc:docMk/>
            <pc:sldMk cId="2445999807" sldId="280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19.997" v="26" actId="27636"/>
        <pc:sldMkLst>
          <pc:docMk/>
          <pc:sldMk cId="3251616829" sldId="281"/>
        </pc:sldMkLst>
        <pc:spChg chg="mod">
          <ac:chgData name="조강홍" userId="5f906133-56a7-4eaa-b125-f98a3a90374e" providerId="ADAL" clId="{53D68708-A53F-4645-AEBE-C8FC624E0DC8}" dt="2023-11-26T06:31:19.997" v="26" actId="27636"/>
          <ac:spMkLst>
            <pc:docMk/>
            <pc:sldMk cId="3251616829" sldId="281"/>
            <ac:spMk id="47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20.004" v="27" actId="27636"/>
        <pc:sldMkLst>
          <pc:docMk/>
          <pc:sldMk cId="2851293270" sldId="282"/>
        </pc:sldMkLst>
        <pc:spChg chg="mod">
          <ac:chgData name="조강홍" userId="5f906133-56a7-4eaa-b125-f98a3a90374e" providerId="ADAL" clId="{53D68708-A53F-4645-AEBE-C8FC624E0DC8}" dt="2023-11-26T06:31:20.004" v="27" actId="27636"/>
          <ac:spMkLst>
            <pc:docMk/>
            <pc:sldMk cId="2851293270" sldId="282"/>
            <ac:spMk id="6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20.025" v="29" actId="27636"/>
        <pc:sldMkLst>
          <pc:docMk/>
          <pc:sldMk cId="2063896527" sldId="283"/>
        </pc:sldMkLst>
        <pc:spChg chg="mod">
          <ac:chgData name="조강홍" userId="5f906133-56a7-4eaa-b125-f98a3a90374e" providerId="ADAL" clId="{53D68708-A53F-4645-AEBE-C8FC624E0DC8}" dt="2023-11-26T06:31:20.025" v="29" actId="27636"/>
          <ac:spMkLst>
            <pc:docMk/>
            <pc:sldMk cId="2063896527" sldId="283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20.027" v="30" actId="27636"/>
        <pc:sldMkLst>
          <pc:docMk/>
          <pc:sldMk cId="2814428803" sldId="284"/>
        </pc:sldMkLst>
        <pc:spChg chg="mod">
          <ac:chgData name="조강홍" userId="5f906133-56a7-4eaa-b125-f98a3a90374e" providerId="ADAL" clId="{53D68708-A53F-4645-AEBE-C8FC624E0DC8}" dt="2023-11-26T06:31:20.027" v="30" actId="27636"/>
          <ac:spMkLst>
            <pc:docMk/>
            <pc:sldMk cId="2814428803" sldId="284"/>
            <ac:spMk id="6" creationId="{00000000-0000-0000-0000-000000000000}"/>
          </ac:spMkLst>
        </pc:spChg>
      </pc:sldChg>
      <pc:sldChg chg="modSp mod">
        <pc:chgData name="조강홍" userId="5f906133-56a7-4eaa-b125-f98a3a90374e" providerId="ADAL" clId="{53D68708-A53F-4645-AEBE-C8FC624E0DC8}" dt="2023-11-26T06:31:20.021" v="28" actId="27636"/>
        <pc:sldMkLst>
          <pc:docMk/>
          <pc:sldMk cId="3030554339" sldId="285"/>
        </pc:sldMkLst>
        <pc:spChg chg="mod">
          <ac:chgData name="조강홍" userId="5f906133-56a7-4eaa-b125-f98a3a90374e" providerId="ADAL" clId="{53D68708-A53F-4645-AEBE-C8FC624E0DC8}" dt="2023-11-26T06:31:20.021" v="28" actId="27636"/>
          <ac:spMkLst>
            <pc:docMk/>
            <pc:sldMk cId="3030554339" sldId="28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A9D9897E-559B-4802-87FD-BDDBC21CBABC}" type="datetimeFigureOut">
              <a:rPr lang="ko-KR" altLang="en-US" smtClean="0"/>
              <a:pPr/>
              <a:t>2023-11-26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8C7AADCE-4523-43FE-B0A8-90B87F2F6B6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037" y="0"/>
            <a:ext cx="9163037" cy="687828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3pPr>
            <a:lvl4pPr>
              <a:defRPr sz="14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B31271CA-DFBA-4144-9186-0BE3AC6EE4B1}" type="datetime1">
              <a:rPr lang="ko-KR" altLang="en-US" smtClean="0"/>
              <a:pPr/>
              <a:t>2023-11-26</a:t>
            </a:fld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F87F4F71-3D90-4F92-8CFE-D11B433509C0}" type="datetime1">
              <a:rPr lang="ko-KR" altLang="en-US" smtClean="0"/>
              <a:pPr/>
              <a:t>2023-11-26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D200F4F1-024E-465C-B59D-A4FFBC6118A5}" type="datetime1">
              <a:rPr lang="ko-KR" altLang="en-US" smtClean="0"/>
              <a:pPr/>
              <a:t>2023-11-26</a:t>
            </a:fld>
            <a:endParaRPr lang="ko-KR" alt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3CF3B71A-966A-471E-8596-7D1D6A8996FF}" type="datetime1">
              <a:rPr lang="ko-KR" altLang="en-US" smtClean="0"/>
              <a:pPr/>
              <a:t>2023-11-26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AD64A7B2-A2B0-4C9D-895B-FE1D68BE16F8}" type="datetime1">
              <a:rPr lang="ko-KR" altLang="en-US" smtClean="0"/>
              <a:pPr/>
              <a:t>2023-11-26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01870596-DAFA-46D2-82A7-2B6B5F8E0E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메이플스토리" panose="02000300000000000000" pitchFamily="2" charset="-127"/>
          <a:ea typeface="메이플스토리" panose="02000300000000000000" pitchFamily="2" charset="-127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BD2C2-3D3B-4E94-BD92-61B02C5F4DEE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1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스윙 컴포넌트 그리기</a:t>
            </a:r>
            <a:r>
              <a:rPr lang="en-US" altLang="ko-KR"/>
              <a:t>, paintComponent()</a:t>
            </a:r>
            <a:endParaRPr lang="ko-KR" altLang="en-US" dirty="0"/>
          </a:p>
        </p:txBody>
      </p:sp>
      <p:sp>
        <p:nvSpPr>
          <p:cNvPr id="47" name="내용 개체 틀 46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672408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스윙의 그리기 기본 철학</a:t>
            </a:r>
            <a:endParaRPr lang="en-US" altLang="ko-KR" dirty="0"/>
          </a:p>
          <a:p>
            <a:pPr lvl="1"/>
            <a:r>
              <a:rPr lang="ko-KR" altLang="en-US" dirty="0"/>
              <a:t>모든 컴포넌트는 자신의 모양을 스스로 그린다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컨테이너는 자신을 그린 후</a:t>
            </a:r>
            <a:r>
              <a:rPr lang="en-US" altLang="ko-KR" dirty="0"/>
              <a:t>, </a:t>
            </a:r>
            <a:r>
              <a:rPr lang="ko-KR" altLang="en-US" dirty="0"/>
              <a:t>그 위에 자식들에게 그리기 지시</a:t>
            </a:r>
            <a:endParaRPr lang="en-US" altLang="ko-KR" dirty="0"/>
          </a:p>
          <a:p>
            <a:r>
              <a:rPr lang="en-US" altLang="ko-KR" dirty="0"/>
              <a:t>public void </a:t>
            </a:r>
            <a:r>
              <a:rPr lang="en-US" altLang="ko-KR" dirty="0" err="1"/>
              <a:t>paintComponent</a:t>
            </a:r>
            <a:r>
              <a:rPr lang="en-US" altLang="ko-KR" dirty="0"/>
              <a:t>(Graphics g)</a:t>
            </a:r>
          </a:p>
          <a:p>
            <a:pPr lvl="1"/>
            <a:r>
              <a:rPr lang="ko-KR" altLang="en-US" dirty="0"/>
              <a:t>스윙 컴포넌트가 자신의 모양을 그리는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en-US" altLang="ko-KR" dirty="0" err="1"/>
              <a:t>JComponent</a:t>
            </a:r>
            <a:r>
              <a:rPr lang="ko-KR" altLang="en-US" dirty="0"/>
              <a:t>의 </a:t>
            </a:r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모든 스윙 컴포넌트가 이 </a:t>
            </a:r>
            <a:r>
              <a:rPr lang="ko-KR" altLang="en-US" dirty="0" err="1"/>
              <a:t>메소드를</a:t>
            </a:r>
            <a:r>
              <a:rPr lang="ko-KR" altLang="en-US" dirty="0"/>
              <a:t> 가지고 있음</a:t>
            </a:r>
            <a:endParaRPr lang="en-US" altLang="ko-KR" dirty="0"/>
          </a:p>
          <a:p>
            <a:pPr lvl="1"/>
            <a:r>
              <a:rPr lang="ko-KR" altLang="en-US" dirty="0"/>
              <a:t>컴포넌트가 그려져야 하는 시점마다 호출</a:t>
            </a:r>
            <a:endParaRPr lang="en-US" altLang="ko-KR" dirty="0"/>
          </a:p>
          <a:p>
            <a:pPr lvl="2"/>
            <a:r>
              <a:rPr lang="ko-KR" altLang="en-US" dirty="0"/>
              <a:t>크기가 변경되거나</a:t>
            </a:r>
            <a:r>
              <a:rPr lang="en-US" altLang="ko-KR" dirty="0"/>
              <a:t>, </a:t>
            </a:r>
            <a:r>
              <a:rPr lang="ko-KR" altLang="en-US" dirty="0"/>
              <a:t>위치가 변경되거나 컴포넌트가 가려졌던 것이 사라지는 등</a:t>
            </a:r>
            <a:endParaRPr lang="en-US" altLang="ko-KR" dirty="0"/>
          </a:p>
          <a:p>
            <a:r>
              <a:rPr lang="en-US" altLang="ko-KR" dirty="0"/>
              <a:t>Graphics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en-US" altLang="ko-KR" dirty="0" err="1"/>
              <a:t>java.awt.Graphics</a:t>
            </a:r>
            <a:endParaRPr lang="en-US" altLang="ko-KR" dirty="0"/>
          </a:p>
          <a:p>
            <a:pPr lvl="1"/>
            <a:r>
              <a:rPr lang="ko-KR" altLang="en-US" dirty="0"/>
              <a:t>컴포넌트 그리기에 필요한 도구를 제공하는 객체</a:t>
            </a:r>
            <a:endParaRPr lang="en-US" altLang="ko-KR" dirty="0"/>
          </a:p>
          <a:p>
            <a:pPr lvl="2"/>
            <a:r>
              <a:rPr lang="ko-KR" altLang="en-US" dirty="0"/>
              <a:t>색 지정</a:t>
            </a:r>
            <a:r>
              <a:rPr lang="en-US" altLang="ko-KR" dirty="0"/>
              <a:t>, </a:t>
            </a:r>
            <a:r>
              <a:rPr lang="ko-KR" altLang="en-US" dirty="0"/>
              <a:t>도형 그리기</a:t>
            </a:r>
            <a:r>
              <a:rPr lang="en-US" altLang="ko-KR" dirty="0"/>
              <a:t>, </a:t>
            </a:r>
            <a:r>
              <a:rPr lang="ko-KR" altLang="en-US" dirty="0" err="1"/>
              <a:t>클리핑</a:t>
            </a:r>
            <a:r>
              <a:rPr lang="en-US" altLang="ko-KR" dirty="0"/>
              <a:t>, </a:t>
            </a:r>
            <a:r>
              <a:rPr lang="ko-KR" altLang="en-US" dirty="0"/>
              <a:t>이미지 그리기</a:t>
            </a:r>
            <a:r>
              <a:rPr lang="en-US" altLang="ko-KR" dirty="0"/>
              <a:t> </a:t>
            </a:r>
            <a:r>
              <a:rPr lang="ko-KR" altLang="en-US" dirty="0"/>
              <a:t>등의 </a:t>
            </a:r>
            <a:r>
              <a:rPr lang="ko-KR" altLang="en-US" dirty="0" err="1"/>
              <a:t>메소드</a:t>
            </a:r>
            <a:r>
              <a:rPr lang="ko-KR" altLang="en-US" dirty="0"/>
              <a:t> 제공</a:t>
            </a:r>
            <a:endParaRPr lang="en-US" altLang="ko-KR" dirty="0"/>
          </a:p>
          <a:p>
            <a:r>
              <a:rPr lang="ko-KR" altLang="en-US" dirty="0"/>
              <a:t>사용자가 원하는 모양을 그리고자 할 때</a:t>
            </a:r>
            <a:endParaRPr lang="en-US" altLang="ko-KR" dirty="0"/>
          </a:p>
          <a:p>
            <a:pPr lvl="1"/>
            <a:r>
              <a:rPr lang="en-US" altLang="ko-KR" dirty="0" err="1"/>
              <a:t>paintComponent</a:t>
            </a:r>
            <a:r>
              <a:rPr lang="en-US" altLang="ko-KR"/>
              <a:t>(Graphics </a:t>
            </a:r>
            <a:r>
              <a:rPr lang="en-US" altLang="ko-KR" dirty="0"/>
              <a:t>g)</a:t>
            </a:r>
            <a:r>
              <a:rPr lang="ko-KR" altLang="en-US" dirty="0"/>
              <a:t> </a:t>
            </a:r>
            <a:r>
              <a:rPr lang="ko-KR" altLang="en-US" dirty="0" err="1"/>
              <a:t>오버라이딩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331640" y="5002266"/>
            <a:ext cx="540060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JXXX { // JXXX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는 기존의 스윙 컴포넌트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...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 //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오버라이딩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...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필요한 코드 작성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...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95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12-1 : </a:t>
            </a:r>
            <a:r>
              <a:rPr lang="en-US" altLang="ko-KR" dirty="0" err="1"/>
              <a:t>JPanel</a:t>
            </a:r>
            <a:r>
              <a:rPr lang="ko-KR" altLang="en-US" dirty="0"/>
              <a:t>을 상속받아 도형 그리기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2951240" cy="1800200"/>
          </a:xfrm>
        </p:spPr>
        <p:txBody>
          <a:bodyPr>
            <a:normAutofit/>
          </a:bodyPr>
          <a:lstStyle/>
          <a:p>
            <a:r>
              <a:rPr lang="en-US" altLang="ko-KR" sz="1600" dirty="0" err="1"/>
              <a:t>JPanel</a:t>
            </a:r>
            <a:endParaRPr lang="en-US" altLang="ko-KR" sz="1600" dirty="0"/>
          </a:p>
          <a:p>
            <a:pPr lvl="1"/>
            <a:r>
              <a:rPr lang="ko-KR" altLang="en-US" sz="1400" dirty="0"/>
              <a:t>사용자가 그래픽을 통해 다양한 </a:t>
            </a:r>
            <a:r>
              <a:rPr lang="en-US" altLang="ko-KR" sz="1400" dirty="0"/>
              <a:t>UI</a:t>
            </a:r>
            <a:r>
              <a:rPr lang="ko-KR" altLang="en-US" sz="1400" dirty="0"/>
              <a:t>를 창출하는 일종의 캔버스</a:t>
            </a:r>
            <a:endParaRPr lang="en-US" altLang="ko-KR" sz="1400" dirty="0"/>
          </a:p>
          <a:p>
            <a:endParaRPr lang="ko-KR" altLang="en-US" sz="1600" dirty="0"/>
          </a:p>
        </p:txBody>
      </p:sp>
      <p:sp>
        <p:nvSpPr>
          <p:cNvPr id="17" name="슬라이드 번호 개체 틀 1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318243" y="1452594"/>
            <a:ext cx="4178942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paintJPanelEx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paintJPanelEx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(250,220);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Color.BLUE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g.drawRect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(10,10,50,50); 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g.drawRect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(50,50,50,50);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Color.MAGENTA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g.drawRect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(90,90,50,50);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paintJPanelEx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92220" y="4429132"/>
            <a:ext cx="791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파란색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사각형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844" y="4286256"/>
            <a:ext cx="928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50x50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크기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214281" y="3714752"/>
            <a:ext cx="3052339" cy="1928024"/>
            <a:chOff x="214281" y="3714752"/>
            <a:chExt cx="3052339" cy="192802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7347" y="3770912"/>
              <a:ext cx="2069273" cy="187186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285720" y="3714752"/>
              <a:ext cx="857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(10,10)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928662" y="3929066"/>
              <a:ext cx="357190" cy="14287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 flipV="1">
              <a:off x="928662" y="4286256"/>
              <a:ext cx="357191" cy="1538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14281" y="4860018"/>
              <a:ext cx="714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(50,50)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16" name="직선 화살표 연결선 15"/>
            <p:cNvCxnSpPr>
              <a:stCxn id="14" idx="3"/>
            </p:cNvCxnSpPr>
            <p:nvPr/>
          </p:nvCxnSpPr>
          <p:spPr>
            <a:xfrm flipV="1">
              <a:off x="928662" y="4440145"/>
              <a:ext cx="714381" cy="55837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14281" y="5259989"/>
              <a:ext cx="714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(90,90)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21" name="직선 화살표 연결선 20"/>
            <p:cNvCxnSpPr>
              <a:stCxn id="20" idx="3"/>
            </p:cNvCxnSpPr>
            <p:nvPr/>
          </p:nvCxnSpPr>
          <p:spPr>
            <a:xfrm flipV="1">
              <a:off x="928662" y="4790771"/>
              <a:ext cx="1051623" cy="60771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자유형 5"/>
          <p:cNvSpPr/>
          <p:nvPr/>
        </p:nvSpPr>
        <p:spPr>
          <a:xfrm flipV="1">
            <a:off x="2123729" y="4563255"/>
            <a:ext cx="2808311" cy="161889"/>
          </a:xfrm>
          <a:custGeom>
            <a:avLst/>
            <a:gdLst>
              <a:gd name="connsiteX0" fmla="*/ 3104941 w 3104941"/>
              <a:gd name="connsiteY0" fmla="*/ 33494 h 234461"/>
              <a:gd name="connsiteX1" fmla="*/ 2270928 w 3104941"/>
              <a:gd name="connsiteY1" fmla="*/ 23446 h 234461"/>
              <a:gd name="connsiteX2" fmla="*/ 1316334 w 3104941"/>
              <a:gd name="connsiteY2" fmla="*/ 174171 h 234461"/>
              <a:gd name="connsiteX3" fmla="*/ 0 w 3104941"/>
              <a:gd name="connsiteY3" fmla="*/ 234461 h 234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941" h="234461">
                <a:moveTo>
                  <a:pt x="3104941" y="33494"/>
                </a:moveTo>
                <a:cubicBezTo>
                  <a:pt x="2836985" y="16747"/>
                  <a:pt x="2569029" y="0"/>
                  <a:pt x="2270928" y="23446"/>
                </a:cubicBezTo>
                <a:cubicBezTo>
                  <a:pt x="1972827" y="46892"/>
                  <a:pt x="1694822" y="139002"/>
                  <a:pt x="1316334" y="174171"/>
                </a:cubicBezTo>
                <a:cubicBezTo>
                  <a:pt x="937846" y="209340"/>
                  <a:pt x="468923" y="221900"/>
                  <a:pt x="0" y="234461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7916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 기반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그래픽 기반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pPr lvl="1"/>
            <a:r>
              <a:rPr lang="ko-KR" altLang="en-US" dirty="0"/>
              <a:t>스윙 컴포넌트를 사용하지 않고</a:t>
            </a:r>
            <a:endParaRPr lang="en-US" altLang="ko-KR" dirty="0"/>
          </a:p>
          <a:p>
            <a:pPr lvl="1"/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원</a:t>
            </a:r>
            <a:r>
              <a:rPr lang="en-US" altLang="ko-KR" dirty="0"/>
              <a:t>, </a:t>
            </a:r>
            <a:r>
              <a:rPr lang="ko-KR" altLang="en-US" dirty="0"/>
              <a:t>이미지 등을 직접 그려 </a:t>
            </a:r>
            <a:r>
              <a:rPr lang="en-US" altLang="ko-KR" sz="2000" dirty="0"/>
              <a:t>GUI </a:t>
            </a:r>
            <a:r>
              <a:rPr lang="ko-KR" altLang="en-US" dirty="0"/>
              <a:t>화면을 구성하는 방식</a:t>
            </a:r>
            <a:endParaRPr lang="en-US" altLang="ko-KR" dirty="0"/>
          </a:p>
          <a:p>
            <a:r>
              <a:rPr lang="ko-KR" altLang="en-US" dirty="0"/>
              <a:t>장점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스윙 컴포넌트로 만들 수 없는 자유로운 </a:t>
            </a:r>
            <a:r>
              <a:rPr lang="en-US" altLang="ko-KR" dirty="0"/>
              <a:t>GUI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2"/>
            <a:r>
              <a:rPr lang="ko-KR" altLang="en-US" dirty="0"/>
              <a:t>차트</a:t>
            </a:r>
            <a:r>
              <a:rPr lang="en-US" altLang="ko-KR" dirty="0"/>
              <a:t>, </a:t>
            </a:r>
            <a:r>
              <a:rPr lang="ko-KR" altLang="en-US" dirty="0"/>
              <a:t>게임 등 자유로운 모양을 표현에 효과적</a:t>
            </a:r>
            <a:endParaRPr lang="en-US" altLang="ko-KR" dirty="0"/>
          </a:p>
          <a:p>
            <a:pPr lvl="1"/>
            <a:r>
              <a:rPr lang="ko-KR" altLang="en-US" dirty="0"/>
              <a:t>그래픽 그리기는 컴포넌트 그리기보다 빠르다</a:t>
            </a:r>
            <a:endParaRPr lang="en-US" altLang="ko-KR" dirty="0"/>
          </a:p>
          <a:p>
            <a:pPr lvl="1"/>
            <a:r>
              <a:rPr lang="ko-KR" altLang="en-US" dirty="0"/>
              <a:t>자바의 </a:t>
            </a:r>
            <a:r>
              <a:rPr lang="en-US" altLang="ko-KR" sz="1600" dirty="0"/>
              <a:t>GUI </a:t>
            </a:r>
            <a:r>
              <a:rPr lang="ko-KR" altLang="en-US" dirty="0"/>
              <a:t>바탕 기술을 이해하는데 도움</a:t>
            </a:r>
            <a:endParaRPr lang="en-US" altLang="ko-KR" dirty="0"/>
          </a:p>
          <a:p>
            <a:pPr lvl="1"/>
            <a:r>
              <a:rPr lang="ko-KR" altLang="en-US" dirty="0"/>
              <a:t>개발자 자신만의 컴포넌트를 창작</a:t>
            </a:r>
            <a:endParaRPr lang="en-US" altLang="ko-KR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0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Graphics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Graphics</a:t>
            </a:r>
            <a:r>
              <a:rPr lang="ko-KR" altLang="en-US" dirty="0"/>
              <a:t>의 좌표 체계</a:t>
            </a:r>
          </a:p>
          <a:p>
            <a:endParaRPr lang="en-US" altLang="ko-KR" dirty="0"/>
          </a:p>
          <a:p>
            <a:r>
              <a:rPr lang="en-US" altLang="ko-KR" dirty="0"/>
              <a:t>Graphics</a:t>
            </a:r>
            <a:r>
              <a:rPr lang="ko-KR" altLang="en-US" dirty="0"/>
              <a:t>의 기능</a:t>
            </a:r>
            <a:endParaRPr lang="en-US" altLang="ko-KR" dirty="0"/>
          </a:p>
          <a:p>
            <a:pPr lvl="1"/>
            <a:r>
              <a:rPr lang="ko-KR" altLang="en-US" dirty="0"/>
              <a:t>색상 선택하기</a:t>
            </a:r>
            <a:endParaRPr lang="en-US" altLang="ko-KR" dirty="0"/>
          </a:p>
          <a:p>
            <a:pPr lvl="1"/>
            <a:r>
              <a:rPr lang="ko-KR" altLang="en-US" dirty="0"/>
              <a:t>문자열 출력</a:t>
            </a:r>
            <a:endParaRPr lang="en-US" altLang="ko-KR" dirty="0"/>
          </a:p>
          <a:p>
            <a:pPr lvl="1"/>
            <a:r>
              <a:rPr lang="ko-KR" altLang="en-US" dirty="0"/>
              <a:t>도형 그리기</a:t>
            </a:r>
            <a:endParaRPr lang="en-US" altLang="ko-KR" dirty="0"/>
          </a:p>
          <a:p>
            <a:pPr lvl="1"/>
            <a:r>
              <a:rPr lang="ko-KR" altLang="en-US" dirty="0"/>
              <a:t>도형 칠하기</a:t>
            </a:r>
            <a:endParaRPr lang="en-US" altLang="ko-KR" dirty="0"/>
          </a:p>
          <a:p>
            <a:pPr lvl="1"/>
            <a:r>
              <a:rPr lang="ko-KR" altLang="en-US" dirty="0"/>
              <a:t>이미지 출력</a:t>
            </a:r>
            <a:endParaRPr lang="en-US" altLang="ko-KR" dirty="0"/>
          </a:p>
          <a:p>
            <a:pPr lvl="1"/>
            <a:r>
              <a:rPr lang="ko-KR" altLang="en-US" dirty="0" err="1"/>
              <a:t>클리핑</a:t>
            </a:r>
            <a:endParaRPr lang="en-US" altLang="ko-KR" dirty="0"/>
          </a:p>
          <a:p>
            <a:r>
              <a:rPr lang="ko-KR" altLang="en-US" dirty="0"/>
              <a:t>문자열 그리기</a:t>
            </a:r>
            <a:endParaRPr lang="en-US" altLang="ko-KR" dirty="0"/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drawString</a:t>
            </a:r>
            <a:r>
              <a:rPr lang="en-US" altLang="ko-KR" dirty="0"/>
              <a:t>(String </a:t>
            </a:r>
            <a:r>
              <a:rPr lang="en-US" altLang="ko-KR" dirty="0" err="1"/>
              <a:t>str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y)</a:t>
            </a:r>
          </a:p>
          <a:p>
            <a:pPr lvl="2"/>
            <a:r>
              <a:rPr lang="en-US" altLang="ko-KR" dirty="0"/>
              <a:t>(</a:t>
            </a:r>
            <a:r>
              <a:rPr lang="en-US" altLang="ko-KR" dirty="0" err="1"/>
              <a:t>x,y</a:t>
            </a:r>
            <a:r>
              <a:rPr lang="en-US" altLang="ko-KR" dirty="0"/>
              <a:t>) </a:t>
            </a:r>
            <a:r>
              <a:rPr lang="ko-KR" altLang="en-US" dirty="0"/>
              <a:t>영역에 </a:t>
            </a:r>
            <a:r>
              <a:rPr lang="en-US" altLang="ko-KR" dirty="0" err="1"/>
              <a:t>str</a:t>
            </a:r>
            <a:r>
              <a:rPr lang="en-US" altLang="ko-KR" dirty="0"/>
              <a:t> </a:t>
            </a:r>
            <a:r>
              <a:rPr lang="ko-KR" altLang="en-US" dirty="0"/>
              <a:t>문자열 그리기</a:t>
            </a:r>
            <a:endParaRPr lang="en-US" altLang="ko-KR" dirty="0"/>
          </a:p>
          <a:p>
            <a:pPr lvl="2"/>
            <a:r>
              <a:rPr lang="ko-KR" altLang="en-US" dirty="0"/>
              <a:t>현재 색과 현재 폰트로 출력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340768"/>
            <a:ext cx="3412657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12-2 : </a:t>
            </a:r>
            <a:r>
              <a:rPr lang="en-US" altLang="ko-KR" sz="2400" dirty="0" err="1"/>
              <a:t>drawString</a:t>
            </a:r>
            <a:r>
              <a:rPr lang="en-US" altLang="ko-KR" sz="2400" dirty="0"/>
              <a:t>() </a:t>
            </a:r>
            <a:r>
              <a:rPr lang="ko-KR" altLang="en-US" sz="2400" dirty="0" err="1"/>
              <a:t>메소드를</a:t>
            </a:r>
            <a:r>
              <a:rPr lang="ko-KR" altLang="en-US" sz="2400" dirty="0"/>
              <a:t> 이용하여 문자열 출력하기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925980" y="1484784"/>
            <a:ext cx="4517785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GraphicsDrawStringEx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GraphicsDrawStringEx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drawString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사용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(250,200);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자바는 </a:t>
            </a:r>
            <a:r>
              <a:rPr lang="ko-KR" altLang="en-US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재밌다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.~~", 30,30);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얼마나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? 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하늘만큼 땅만큼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!!!!", 60, 60);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GraphicsDrawStringEx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568244" y="3728234"/>
            <a:ext cx="2555765" cy="1859034"/>
            <a:chOff x="559008" y="3728234"/>
            <a:chExt cx="2555765" cy="185903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056" y="3728234"/>
              <a:ext cx="2268717" cy="1859034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cxnSp>
          <p:nvCxnSpPr>
            <p:cNvPr id="14" name="직선 연결선 13"/>
            <p:cNvCxnSpPr/>
            <p:nvPr/>
          </p:nvCxnSpPr>
          <p:spPr>
            <a:xfrm rot="5400000">
              <a:off x="952711" y="4264601"/>
              <a:ext cx="356396" cy="79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987636" y="4300320"/>
              <a:ext cx="42862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59008" y="4228882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(30,30)</a:t>
              </a:r>
              <a:endParaRPr lang="ko-KR" altLang="en-US" sz="1200" dirty="0">
                <a:solidFill>
                  <a:srgbClr val="FF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 rot="5400000">
              <a:off x="1238463" y="4550353"/>
              <a:ext cx="356396" cy="79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1273388" y="4586072"/>
              <a:ext cx="50006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844760" y="4514634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(60,60)</a:t>
              </a:r>
              <a:endParaRPr lang="ko-KR" altLang="en-US" sz="1200" dirty="0">
                <a:solidFill>
                  <a:srgbClr val="FF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7853" y="1412776"/>
            <a:ext cx="351005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상속받아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오버라이딩하고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drawString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메소드를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사용하여 다음 그림과 같이 패널 내의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(30, 30)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과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(60, 60)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각각 문자열을 출력하는 스윙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014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</a:t>
            </a:r>
            <a:r>
              <a:rPr lang="ko-KR" altLang="en-US" dirty="0"/>
              <a:t>와 </a:t>
            </a:r>
            <a:r>
              <a:rPr lang="en-US" altLang="ko-KR" dirty="0"/>
              <a:t>Font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85720" y="1357298"/>
            <a:ext cx="4210080" cy="4303950"/>
          </a:xfrm>
        </p:spPr>
        <p:txBody>
          <a:bodyPr>
            <a:normAutofit fontScale="47500" lnSpcReduction="20000"/>
          </a:bodyPr>
          <a:lstStyle/>
          <a:p>
            <a:r>
              <a:rPr lang="en-US" altLang="ko-KR" dirty="0"/>
              <a:t>Color </a:t>
            </a:r>
          </a:p>
          <a:p>
            <a:pPr lvl="1"/>
            <a:r>
              <a:rPr lang="ko-KR" altLang="en-US" dirty="0"/>
              <a:t>하나의 색을 표현하는 클래스</a:t>
            </a:r>
            <a:endParaRPr lang="en-US" altLang="ko-KR" dirty="0"/>
          </a:p>
          <a:p>
            <a:pPr lvl="2"/>
            <a:r>
              <a:rPr lang="en-US" altLang="ko-KR" dirty="0"/>
              <a:t>Red, Green, Blue </a:t>
            </a:r>
            <a:r>
              <a:rPr lang="ko-KR" altLang="en-US" dirty="0"/>
              <a:t>의 </a:t>
            </a:r>
            <a:r>
              <a:rPr lang="en-US" altLang="ko-KR" dirty="0"/>
              <a:t>3 </a:t>
            </a:r>
            <a:r>
              <a:rPr lang="ko-KR" altLang="en-US" dirty="0"/>
              <a:t>성분으로 구성</a:t>
            </a:r>
            <a:endParaRPr lang="en-US" altLang="ko-KR" dirty="0"/>
          </a:p>
          <a:p>
            <a:pPr lvl="2"/>
            <a:r>
              <a:rPr lang="ko-KR" altLang="en-US" dirty="0"/>
              <a:t>각 성분의 크기는 </a:t>
            </a:r>
            <a:r>
              <a:rPr lang="en-US" altLang="ko-KR" dirty="0"/>
              <a:t>0-255(8</a:t>
            </a:r>
            <a:r>
              <a:rPr lang="ko-KR" altLang="en-US" dirty="0"/>
              <a:t>비트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  <a:p>
            <a:pPr lvl="1"/>
            <a:r>
              <a:rPr lang="en-US" altLang="ko-KR" dirty="0"/>
              <a:t>Color(</a:t>
            </a:r>
            <a:r>
              <a:rPr lang="en-US" altLang="ko-KR" dirty="0" err="1"/>
              <a:t>int</a:t>
            </a:r>
            <a:r>
              <a:rPr lang="en-US" altLang="ko-KR" dirty="0"/>
              <a:t> r, </a:t>
            </a:r>
            <a:r>
              <a:rPr lang="en-US" altLang="ko-KR" dirty="0" err="1"/>
              <a:t>int</a:t>
            </a:r>
            <a:r>
              <a:rPr lang="en-US" altLang="ko-KR" dirty="0"/>
              <a:t> g, </a:t>
            </a:r>
            <a:r>
              <a:rPr lang="en-US" altLang="ko-KR" dirty="0" err="1"/>
              <a:t>int</a:t>
            </a:r>
            <a:r>
              <a:rPr lang="en-US" altLang="ko-KR" dirty="0"/>
              <a:t> b)</a:t>
            </a:r>
          </a:p>
          <a:p>
            <a:pPr lvl="2"/>
            <a:r>
              <a:rPr lang="en-US" altLang="ko-KR" dirty="0"/>
              <a:t>red(r), green(g), blue(b) </a:t>
            </a:r>
            <a:r>
              <a:rPr lang="ko-KR" altLang="en-US" dirty="0"/>
              <a:t>값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sRGB</a:t>
            </a:r>
            <a:r>
              <a:rPr lang="en-US" altLang="ko-KR" dirty="0"/>
              <a:t> </a:t>
            </a:r>
            <a:r>
              <a:rPr lang="ko-KR" altLang="en-US" dirty="0"/>
              <a:t>색 생성</a:t>
            </a:r>
            <a:endParaRPr lang="en-US" altLang="ko-KR" dirty="0"/>
          </a:p>
          <a:p>
            <a:pPr lvl="2"/>
            <a:r>
              <a:rPr lang="en-US" altLang="ko-KR" b="1" dirty="0"/>
              <a:t>new Color(255, 0, 0) ; </a:t>
            </a:r>
            <a:r>
              <a:rPr lang="en-US" altLang="ko-KR" dirty="0"/>
              <a:t>// </a:t>
            </a:r>
            <a:r>
              <a:rPr lang="ko-KR" altLang="en-US" dirty="0"/>
              <a:t>완전 빨강색</a:t>
            </a:r>
            <a:endParaRPr lang="en-US" altLang="ko-KR" dirty="0"/>
          </a:p>
          <a:p>
            <a:pPr lvl="1"/>
            <a:r>
              <a:rPr lang="en-US" altLang="ko-KR" dirty="0"/>
              <a:t>Color(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rgb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rgb</a:t>
            </a:r>
            <a:r>
              <a:rPr lang="en-US" altLang="ko-KR" dirty="0"/>
              <a:t> </a:t>
            </a:r>
            <a:r>
              <a:rPr lang="ko-KR" altLang="en-US" dirty="0"/>
              <a:t>정수 값은 총 </a:t>
            </a:r>
            <a:r>
              <a:rPr lang="en-US" altLang="ko-KR" dirty="0"/>
              <a:t>32</a:t>
            </a:r>
            <a:r>
              <a:rPr lang="ko-KR" altLang="en-US" dirty="0"/>
              <a:t>비트 중 하위 </a:t>
            </a:r>
            <a:r>
              <a:rPr lang="en-US" altLang="ko-KR" dirty="0"/>
              <a:t>24 </a:t>
            </a:r>
            <a:r>
              <a:rPr lang="ko-KR" altLang="en-US" dirty="0"/>
              <a:t>비트</a:t>
            </a:r>
            <a:endParaRPr lang="en-US" altLang="ko-KR" dirty="0"/>
          </a:p>
          <a:p>
            <a:pPr marL="685800" lvl="2" indent="0">
              <a:buNone/>
            </a:pPr>
            <a:r>
              <a:rPr lang="ko-KR" altLang="en-US" dirty="0"/>
              <a:t>    만이 유효하고  </a:t>
            </a:r>
            <a:r>
              <a:rPr lang="en-US" altLang="ko-KR" b="1" dirty="0"/>
              <a:t>0x00rrggbb</a:t>
            </a:r>
            <a:r>
              <a:rPr lang="ko-KR" altLang="en-US" dirty="0"/>
              <a:t>로 표현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하위 </a:t>
            </a:r>
            <a:r>
              <a:rPr lang="en-US" altLang="ko-KR" dirty="0"/>
              <a:t>8</a:t>
            </a:r>
            <a:r>
              <a:rPr lang="ko-KR" altLang="en-US" dirty="0"/>
              <a:t>비트는 </a:t>
            </a:r>
            <a:r>
              <a:rPr lang="en-US" altLang="ko-KR" dirty="0"/>
              <a:t>blue, </a:t>
            </a:r>
            <a:r>
              <a:rPr lang="ko-KR" altLang="en-US" dirty="0"/>
              <a:t>그 다음 상위 </a:t>
            </a:r>
            <a:r>
              <a:rPr lang="en-US" altLang="ko-KR" dirty="0"/>
              <a:t>8 </a:t>
            </a:r>
            <a:r>
              <a:rPr lang="ko-KR" altLang="en-US" dirty="0"/>
              <a:t>비트는</a:t>
            </a:r>
            <a:r>
              <a:rPr lang="en-US" altLang="ko-KR" dirty="0"/>
              <a:t> </a:t>
            </a:r>
          </a:p>
          <a:p>
            <a:pPr marL="685800" lvl="2" indent="0">
              <a:buNone/>
            </a:pPr>
            <a:r>
              <a:rPr lang="en-US" altLang="ko-KR" dirty="0"/>
              <a:t>    green, </a:t>
            </a:r>
            <a:r>
              <a:rPr lang="ko-KR" altLang="en-US" dirty="0"/>
              <a:t>그 다음 </a:t>
            </a:r>
            <a:r>
              <a:rPr lang="en-US" altLang="ko-KR" dirty="0"/>
              <a:t>8 </a:t>
            </a:r>
            <a:r>
              <a:rPr lang="ko-KR" altLang="en-US" dirty="0"/>
              <a:t>비트는 </a:t>
            </a:r>
            <a:r>
              <a:rPr lang="en-US" altLang="ko-KR" dirty="0"/>
              <a:t>blue  </a:t>
            </a:r>
            <a:r>
              <a:rPr lang="ko-KR" altLang="en-US" dirty="0"/>
              <a:t>성분</a:t>
            </a:r>
            <a:endParaRPr lang="en-US" altLang="ko-KR" dirty="0"/>
          </a:p>
          <a:p>
            <a:pPr lvl="2"/>
            <a:r>
              <a:rPr lang="en-US" altLang="ko-KR" b="1" dirty="0"/>
              <a:t>new Color(0x0000ff00);  </a:t>
            </a:r>
            <a:r>
              <a:rPr lang="en-US" altLang="ko-KR" dirty="0"/>
              <a:t>// </a:t>
            </a:r>
            <a:r>
              <a:rPr lang="ko-KR" altLang="en-US" dirty="0"/>
              <a:t>완전</a:t>
            </a:r>
            <a:r>
              <a:rPr lang="en-US" altLang="ko-KR" dirty="0"/>
              <a:t> </a:t>
            </a:r>
            <a:r>
              <a:rPr lang="ko-KR" altLang="en-US" dirty="0"/>
              <a:t>초록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색을 사용하는 다른 방법</a:t>
            </a:r>
            <a:endParaRPr lang="en-US" altLang="ko-KR" dirty="0"/>
          </a:p>
          <a:p>
            <a:pPr lvl="1"/>
            <a:r>
              <a:rPr lang="en-US" altLang="ko-KR" b="1" dirty="0" err="1"/>
              <a:t>Color.BLUE</a:t>
            </a:r>
            <a:r>
              <a:rPr lang="en-US" altLang="ko-KR" dirty="0"/>
              <a:t> </a:t>
            </a:r>
            <a:r>
              <a:rPr lang="ko-KR" altLang="en-US" dirty="0"/>
              <a:t>등의 </a:t>
            </a:r>
            <a:r>
              <a:rPr lang="en-US" altLang="ko-KR" dirty="0"/>
              <a:t>static </a:t>
            </a:r>
            <a:r>
              <a:rPr lang="ko-KR" altLang="en-US" dirty="0"/>
              <a:t>상수 활용</a:t>
            </a:r>
            <a:endParaRPr lang="en-US" altLang="ko-KR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857752" y="1357298"/>
            <a:ext cx="4084817" cy="4572000"/>
          </a:xfrm>
        </p:spPr>
        <p:txBody>
          <a:bodyPr>
            <a:normAutofit fontScale="47500" lnSpcReduction="20000"/>
          </a:bodyPr>
          <a:lstStyle/>
          <a:p>
            <a:r>
              <a:rPr lang="en-US" altLang="ko-KR" dirty="0"/>
              <a:t>Font</a:t>
            </a:r>
          </a:p>
          <a:p>
            <a:pPr lvl="1"/>
            <a:r>
              <a:rPr lang="ko-KR" altLang="en-US" dirty="0"/>
              <a:t>폰트를 표현하는 클래스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  <a:p>
            <a:pPr lvl="1"/>
            <a:r>
              <a:rPr lang="en-US" altLang="ko-KR" dirty="0"/>
              <a:t>Font(String </a:t>
            </a:r>
            <a:r>
              <a:rPr lang="en-US" altLang="ko-KR" dirty="0" err="1"/>
              <a:t>fontFace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style, </a:t>
            </a:r>
            <a:r>
              <a:rPr lang="en-US" altLang="ko-KR" dirty="0" err="1"/>
              <a:t>int</a:t>
            </a:r>
            <a:r>
              <a:rPr lang="en-US" altLang="ko-KR" dirty="0"/>
              <a:t> size)</a:t>
            </a:r>
          </a:p>
          <a:p>
            <a:pPr lvl="2"/>
            <a:r>
              <a:rPr lang="en-US" altLang="ko-KR" dirty="0" err="1"/>
              <a:t>fontFace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고딕체</a:t>
            </a:r>
            <a:r>
              <a:rPr lang="en-US" altLang="ko-KR" dirty="0"/>
              <a:t>", "Arial" </a:t>
            </a:r>
            <a:r>
              <a:rPr lang="ko-KR" altLang="en-US" dirty="0"/>
              <a:t>등</a:t>
            </a:r>
            <a:endParaRPr lang="en-US" altLang="ko-KR" dirty="0"/>
          </a:p>
          <a:p>
            <a:pPr lvl="2"/>
            <a:r>
              <a:rPr lang="en-US" altLang="ko-KR" dirty="0"/>
              <a:t>style</a:t>
            </a:r>
            <a:r>
              <a:rPr lang="ko-KR" altLang="en-US" dirty="0"/>
              <a:t>은 </a:t>
            </a:r>
            <a:r>
              <a:rPr lang="en-US" altLang="ko-KR" dirty="0" err="1"/>
              <a:t>Font.BOLD</a:t>
            </a:r>
            <a:r>
              <a:rPr lang="en-US" altLang="ko-KR" dirty="0"/>
              <a:t>, </a:t>
            </a:r>
            <a:r>
              <a:rPr lang="en-US" altLang="ko-KR" dirty="0" err="1"/>
              <a:t>Font.ITALIC</a:t>
            </a:r>
            <a:r>
              <a:rPr lang="en-US" altLang="ko-KR" dirty="0"/>
              <a:t> , </a:t>
            </a:r>
            <a:r>
              <a:rPr lang="en-US" altLang="ko-KR" dirty="0" err="1"/>
              <a:t>Font.PLAIN</a:t>
            </a:r>
            <a:endParaRPr lang="en-US" altLang="ko-KR" dirty="0"/>
          </a:p>
          <a:p>
            <a:pPr marL="685800" lvl="2" indent="0">
              <a:buNone/>
            </a:pPr>
            <a:r>
              <a:rPr lang="ko-KR" altLang="en-US" dirty="0"/>
              <a:t>    중 하나</a:t>
            </a:r>
            <a:endParaRPr lang="en-US" altLang="ko-KR" dirty="0"/>
          </a:p>
          <a:p>
            <a:pPr lvl="2"/>
            <a:r>
              <a:rPr lang="en-US" altLang="ko-KR" dirty="0"/>
              <a:t>size</a:t>
            </a:r>
            <a:r>
              <a:rPr lang="ko-KR" altLang="en-US" dirty="0"/>
              <a:t>는 픽셀 단위의 크기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Graphics </a:t>
            </a:r>
            <a:r>
              <a:rPr lang="ko-KR" altLang="en-US" dirty="0"/>
              <a:t>객체에서 색상과 폰트 설정</a:t>
            </a:r>
            <a:endParaRPr lang="en-US" altLang="ko-KR" dirty="0"/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setColor</a:t>
            </a:r>
            <a:r>
              <a:rPr lang="en-US" altLang="ko-KR" dirty="0"/>
              <a:t>(Color color)</a:t>
            </a:r>
          </a:p>
          <a:p>
            <a:pPr lvl="2"/>
            <a:r>
              <a:rPr lang="ko-KR" altLang="en-US" dirty="0"/>
              <a:t>칠할 색을 </a:t>
            </a:r>
            <a:r>
              <a:rPr lang="en-US" altLang="ko-KR" dirty="0"/>
              <a:t>color</a:t>
            </a:r>
            <a:r>
              <a:rPr lang="ko-KR" altLang="en-US" dirty="0"/>
              <a:t>로 지정</a:t>
            </a:r>
            <a:endParaRPr lang="en-US" altLang="ko-KR" dirty="0"/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setFont</a:t>
            </a:r>
            <a:r>
              <a:rPr lang="en-US" altLang="ko-KR" dirty="0"/>
              <a:t>(Font font)</a:t>
            </a:r>
          </a:p>
          <a:p>
            <a:pPr lvl="2"/>
            <a:r>
              <a:rPr lang="ko-KR" altLang="en-US" dirty="0"/>
              <a:t>폰트를 </a:t>
            </a:r>
            <a:r>
              <a:rPr lang="en-US" altLang="ko-KR" dirty="0"/>
              <a:t>font</a:t>
            </a:r>
            <a:r>
              <a:rPr lang="ko-KR" altLang="en-US" dirty="0"/>
              <a:t>로 지정</a:t>
            </a:r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683568" y="5406315"/>
            <a:ext cx="3716778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 g;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Color(255, 0, 0)); 	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빨간색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Color(0x0000ff00)); 	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초록색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Color.YELLOW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	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노란색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257094" y="5221649"/>
            <a:ext cx="3286132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 g;</a:t>
            </a:r>
          </a:p>
          <a:p>
            <a:r>
              <a:rPr lang="fr-FR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 f = new Font("Arial", Font.ITALIC, 30);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g.setFont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(f);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Color.RED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("How much", 30,30);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30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80" y="2060848"/>
            <a:ext cx="3108409" cy="42930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94332" y="168137"/>
            <a:ext cx="4076700" cy="67945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예제</a:t>
            </a:r>
            <a:r>
              <a:rPr lang="en-US" altLang="ko-KR" sz="2400" dirty="0"/>
              <a:t> 12-3 : Color</a:t>
            </a:r>
            <a:r>
              <a:rPr lang="ko-KR" altLang="en-US" sz="2400" dirty="0"/>
              <a:t>와</a:t>
            </a:r>
            <a:r>
              <a:rPr lang="en-US" altLang="ko-KR" sz="2400" dirty="0"/>
              <a:t> Font</a:t>
            </a:r>
            <a:r>
              <a:rPr lang="ko-KR" altLang="en-US" sz="2400" dirty="0"/>
              <a:t>를 </a:t>
            </a:r>
            <a:br>
              <a:rPr lang="en-US" altLang="ko-KR" sz="2400" dirty="0"/>
            </a:br>
            <a:r>
              <a:rPr lang="ko-KR" altLang="en-US" sz="2400" dirty="0"/>
              <a:t>이용하여</a:t>
            </a:r>
            <a:r>
              <a:rPr lang="en-US" altLang="ko-KR" sz="2400" dirty="0"/>
              <a:t> </a:t>
            </a:r>
            <a:r>
              <a:rPr lang="ko-KR" altLang="en-US" sz="2400" dirty="0"/>
              <a:t>문자열 그리기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355976" y="332656"/>
            <a:ext cx="4684747" cy="61863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GraphicsColorFontEx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GraphicsColorFontEx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("Color, Font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사용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 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(350, 470);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Color.BLUE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 Love Java.~~", 30,30);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Color(255, 0, 0));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g.setFont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Font("Arial",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Font.ITALIC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30));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("How much?", 30, 60);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Color(0x00ff00ff));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nn-NO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for(int i=1; i&lt;=5; i++)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g.setFont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Font("Jokerman",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Font.ITALIC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*10));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("This much!!", 30, 60+i*60);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GraphicsColorFontEx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왼쪽 중괄호 6"/>
          <p:cNvSpPr/>
          <p:nvPr/>
        </p:nvSpPr>
        <p:spPr>
          <a:xfrm>
            <a:off x="4644008" y="4463711"/>
            <a:ext cx="285752" cy="571504"/>
          </a:xfrm>
          <a:prstGeom prst="leftBrace">
            <a:avLst>
              <a:gd name="adj1" fmla="val 36294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오른쪽 중괄호 7"/>
          <p:cNvSpPr/>
          <p:nvPr/>
        </p:nvSpPr>
        <p:spPr>
          <a:xfrm>
            <a:off x="3614533" y="3284984"/>
            <a:ext cx="285752" cy="2357454"/>
          </a:xfrm>
          <a:prstGeom prst="rightBrace">
            <a:avLst>
              <a:gd name="adj1" fmla="val 9118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10" name="직선 화살표 연결선 9"/>
          <p:cNvCxnSpPr>
            <a:stCxn id="7" idx="1"/>
            <a:endCxn id="8" idx="1"/>
          </p:cNvCxnSpPr>
          <p:nvPr/>
        </p:nvCxnSpPr>
        <p:spPr>
          <a:xfrm flipH="1" flipV="1">
            <a:off x="3900285" y="4463711"/>
            <a:ext cx="743723" cy="2857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51520" y="1124744"/>
            <a:ext cx="40005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와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클래스를 이용하여 그림과 같이 출력되는 패널을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67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도형 그리기와 칠하기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도형 그리기 </a:t>
            </a:r>
            <a:endParaRPr lang="en-US" altLang="ko-KR" dirty="0"/>
          </a:p>
          <a:p>
            <a:pPr lvl="1"/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타원</a:t>
            </a:r>
            <a:r>
              <a:rPr lang="en-US" altLang="ko-KR" dirty="0"/>
              <a:t>, </a:t>
            </a:r>
            <a:r>
              <a:rPr lang="ko-KR" altLang="en-US" dirty="0"/>
              <a:t>사각형</a:t>
            </a:r>
            <a:r>
              <a:rPr lang="en-US" altLang="ko-KR" dirty="0"/>
              <a:t>, </a:t>
            </a:r>
            <a:r>
              <a:rPr lang="ko-KR" altLang="en-US" dirty="0"/>
              <a:t>둥근 모서리 사각형</a:t>
            </a:r>
            <a:r>
              <a:rPr lang="en-US" altLang="ko-KR" dirty="0"/>
              <a:t>, </a:t>
            </a:r>
            <a:r>
              <a:rPr lang="ko-KR" altLang="en-US" dirty="0"/>
              <a:t>원호</a:t>
            </a:r>
            <a:r>
              <a:rPr lang="en-US" altLang="ko-KR" dirty="0"/>
              <a:t>, </a:t>
            </a:r>
            <a:r>
              <a:rPr lang="ko-KR" altLang="en-US" dirty="0"/>
              <a:t>폐 다각형</a:t>
            </a:r>
            <a:endParaRPr lang="en-US" altLang="ko-KR" dirty="0"/>
          </a:p>
          <a:p>
            <a:r>
              <a:rPr lang="en-US" altLang="ko-KR" dirty="0"/>
              <a:t>Graphics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780928"/>
            <a:ext cx="6738839" cy="287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6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204864"/>
            <a:ext cx="1683637" cy="147956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800" dirty="0"/>
              <a:t>예제 </a:t>
            </a:r>
            <a:r>
              <a:rPr lang="en-US" altLang="ko-KR" sz="2800" dirty="0"/>
              <a:t>12-4 : Graphics</a:t>
            </a:r>
            <a:r>
              <a:rPr lang="ko-KR" altLang="en-US" sz="2800" dirty="0"/>
              <a:t>의 </a:t>
            </a:r>
            <a:r>
              <a:rPr lang="en-US" altLang="ko-KR" sz="2800" dirty="0" err="1"/>
              <a:t>drawLine</a:t>
            </a:r>
            <a:r>
              <a:rPr lang="en-US" altLang="ko-KR" sz="2800" dirty="0"/>
              <a:t>() </a:t>
            </a:r>
            <a:r>
              <a:rPr lang="ko-KR" altLang="en-US" sz="2800" dirty="0" err="1"/>
              <a:t>메소드로</a:t>
            </a:r>
            <a:r>
              <a:rPr lang="ko-KR" altLang="en-US" sz="2800" dirty="0"/>
              <a:t> 선 그리기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91880" y="1412776"/>
            <a:ext cx="5009748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GraphicsDrawLineEx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GraphicsDrawLineEx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drawLine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사용 예제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(200, 170);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Color.RED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//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빨간색 선택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g.drawLine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(20, 20, 100, 100);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ko-KR" altLang="en-US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선그리기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GraphicsDrawLineEx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348" y="2415188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(20,20)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8794" y="3272444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(100,100)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15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도형 그리기 사례</a:t>
            </a:r>
          </a:p>
        </p:txBody>
      </p:sp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1187624" y="1433698"/>
            <a:ext cx="6168089" cy="1533123"/>
            <a:chOff x="1187624" y="1433698"/>
            <a:chExt cx="6168089" cy="1533123"/>
          </a:xfrm>
        </p:grpSpPr>
        <p:sp>
          <p:nvSpPr>
            <p:cNvPr id="35" name="직사각형 34"/>
            <p:cNvSpPr/>
            <p:nvPr/>
          </p:nvSpPr>
          <p:spPr>
            <a:xfrm>
              <a:off x="1187624" y="1507761"/>
              <a:ext cx="4096476" cy="138499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defTabSz="180000"/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class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MyPanel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extends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JPanel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{</a:t>
              </a:r>
            </a:p>
            <a:p>
              <a:pPr defTabSz="180000"/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public void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paintComponent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(Graphics g) {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super.paintComponent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(g);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g.setColor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Color.</a:t>
              </a:r>
              <a:r>
                <a:rPr lang="en-US" altLang="ko-KR" sz="1200" i="1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RED</a:t>
              </a:r>
              <a:r>
                <a:rPr lang="en-US" altLang="ko-KR" sz="1200" i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b="1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g.drawOval</a:t>
              </a:r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(20,20,80,80);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}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}</a:t>
              </a:r>
            </a:p>
          </p:txBody>
        </p: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1124" y="1433698"/>
              <a:ext cx="1744589" cy="1533123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5" name="직사각형 4"/>
            <p:cNvSpPr/>
            <p:nvPr/>
          </p:nvSpPr>
          <p:spPr>
            <a:xfrm>
              <a:off x="5791576" y="2106721"/>
              <a:ext cx="785818" cy="24622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20072" y="1622609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(20,20)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" name="오른쪽 중괄호 6"/>
            <p:cNvSpPr/>
            <p:nvPr/>
          </p:nvSpPr>
          <p:spPr>
            <a:xfrm>
              <a:off x="6577394" y="1836923"/>
              <a:ext cx="142876" cy="785818"/>
            </a:xfrm>
            <a:prstGeom prst="rightBrace">
              <a:avLst>
                <a:gd name="adj1" fmla="val 6875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8" name="오른쪽 중괄호 7"/>
            <p:cNvSpPr/>
            <p:nvPr/>
          </p:nvSpPr>
          <p:spPr>
            <a:xfrm rot="16200000">
              <a:off x="6113047" y="1372576"/>
              <a:ext cx="142876" cy="785818"/>
            </a:xfrm>
            <a:prstGeom prst="rightBrace">
              <a:avLst>
                <a:gd name="adj1" fmla="val 6875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77394" y="1765485"/>
              <a:ext cx="6767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80x80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185305" y="4932153"/>
            <a:ext cx="6344105" cy="1593191"/>
            <a:chOff x="1185305" y="4932153"/>
            <a:chExt cx="6344105" cy="1593191"/>
          </a:xfrm>
        </p:grpSpPr>
        <p:sp>
          <p:nvSpPr>
            <p:cNvPr id="37" name="직사각형 36"/>
            <p:cNvSpPr/>
            <p:nvPr/>
          </p:nvSpPr>
          <p:spPr>
            <a:xfrm>
              <a:off x="1185305" y="4995493"/>
              <a:ext cx="4096476" cy="138499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defTabSz="180000"/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class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MyPanel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extends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JPanel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{</a:t>
              </a:r>
            </a:p>
            <a:p>
              <a:pPr defTabSz="180000"/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public void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paintComponent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(Graphics g) {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super.paintComponent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(g);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g.setColor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Color.</a:t>
              </a:r>
              <a:r>
                <a:rPr lang="en-US" altLang="ko-KR" sz="1200" i="1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RED</a:t>
              </a:r>
              <a:r>
                <a:rPr lang="en-US" altLang="ko-KR" sz="1200" i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b="1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g.drawRoundRect</a:t>
              </a:r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(20,20,120,80,40,60);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}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}</a:t>
              </a:r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6506" y="4932153"/>
              <a:ext cx="1720185" cy="1511677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27" name="TextBox 26"/>
            <p:cNvSpPr txBox="1"/>
            <p:nvPr/>
          </p:nvSpPr>
          <p:spPr>
            <a:xfrm>
              <a:off x="5362948" y="5105337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(20,20)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791576" y="5598593"/>
              <a:ext cx="1143008" cy="24622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0" name="오른쪽 중괄호 29"/>
            <p:cNvSpPr/>
            <p:nvPr/>
          </p:nvSpPr>
          <p:spPr>
            <a:xfrm>
              <a:off x="7006022" y="5891155"/>
              <a:ext cx="142876" cy="214314"/>
            </a:xfrm>
            <a:prstGeom prst="rightBrace">
              <a:avLst>
                <a:gd name="adj1" fmla="val 6875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1" name="오른쪽 중괄호 30"/>
            <p:cNvSpPr/>
            <p:nvPr/>
          </p:nvSpPr>
          <p:spPr>
            <a:xfrm rot="5400000" flipV="1">
              <a:off x="6791708" y="6176907"/>
              <a:ext cx="142876" cy="142876"/>
            </a:xfrm>
            <a:prstGeom prst="rightBrace">
              <a:avLst>
                <a:gd name="adj1" fmla="val 6875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91708" y="5176775"/>
              <a:ext cx="7377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120x80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077460" y="5891155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60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20270" y="6248345"/>
              <a:ext cx="3914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40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1187140" y="3213467"/>
            <a:ext cx="6139551" cy="1511677"/>
            <a:chOff x="1187140" y="3213467"/>
            <a:chExt cx="6139551" cy="1511677"/>
          </a:xfrm>
        </p:grpSpPr>
        <p:sp>
          <p:nvSpPr>
            <p:cNvPr id="36" name="직사각형 35"/>
            <p:cNvSpPr/>
            <p:nvPr/>
          </p:nvSpPr>
          <p:spPr>
            <a:xfrm>
              <a:off x="1187140" y="3284984"/>
              <a:ext cx="4096476" cy="1384995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defTabSz="180000"/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class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MyPanel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extends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JPanel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{</a:t>
              </a:r>
            </a:p>
            <a:p>
              <a:pPr defTabSz="180000"/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public void 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paintComponent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(Graphics g) {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super.paintComponent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(g);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g.setColor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</a:t>
              </a:r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Color.</a:t>
              </a:r>
              <a:r>
                <a:rPr lang="en-US" altLang="ko-KR" sz="1200" i="1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RED</a:t>
              </a:r>
              <a:r>
                <a:rPr lang="en-US" altLang="ko-KR" sz="1200" i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	</a:t>
              </a:r>
              <a:r>
                <a:rPr lang="en-US" altLang="ko-KR" sz="1200" b="1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g.drawRect</a:t>
              </a:r>
              <a:r>
                <a:rPr lang="en-US" altLang="ko-KR" sz="1200" b="1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(20,20,80,80);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	}</a:t>
              </a:r>
            </a:p>
            <a:p>
              <a:pPr defTabSz="180000"/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	}</a:t>
              </a: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6506" y="3213467"/>
              <a:ext cx="1720185" cy="1511677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5220072" y="3391852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(20,20)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4" name="오른쪽 중괄호 13"/>
            <p:cNvSpPr/>
            <p:nvPr/>
          </p:nvSpPr>
          <p:spPr>
            <a:xfrm rot="16200000">
              <a:off x="6082903" y="3141819"/>
              <a:ext cx="142876" cy="785818"/>
            </a:xfrm>
            <a:prstGeom prst="rightBrace">
              <a:avLst>
                <a:gd name="adj1" fmla="val 6875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77394" y="3534728"/>
              <a:ext cx="6767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80x80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29" name="오른쪽 중괄호 28"/>
            <p:cNvSpPr/>
            <p:nvPr/>
          </p:nvSpPr>
          <p:spPr>
            <a:xfrm>
              <a:off x="6577394" y="3585574"/>
              <a:ext cx="142876" cy="785818"/>
            </a:xfrm>
            <a:prstGeom prst="rightBrace">
              <a:avLst>
                <a:gd name="adj1" fmla="val 6875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947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원호와 </a:t>
            </a:r>
            <a:r>
              <a:rPr lang="ko-KR" altLang="en-US" dirty="0" err="1"/>
              <a:t>폐다각형</a:t>
            </a:r>
            <a:r>
              <a:rPr lang="ko-KR" altLang="en-US" dirty="0"/>
              <a:t> 그리기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원호와 </a:t>
            </a:r>
            <a:r>
              <a:rPr lang="ko-KR" altLang="en-US" dirty="0" err="1"/>
              <a:t>폐다각형</a:t>
            </a:r>
            <a:r>
              <a:rPr lang="ko-KR" altLang="en-US" dirty="0"/>
              <a:t> 그리는</a:t>
            </a:r>
            <a:r>
              <a:rPr lang="en-US" altLang="ko-KR" dirty="0"/>
              <a:t> Graphics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16832"/>
            <a:ext cx="6647781" cy="238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8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원호와 </a:t>
            </a:r>
            <a:r>
              <a:rPr lang="ko-KR" altLang="en-US" dirty="0" err="1"/>
              <a:t>폐다각형</a:t>
            </a:r>
            <a:r>
              <a:rPr lang="ko-KR" altLang="en-US" dirty="0"/>
              <a:t> 그리기 사례</a:t>
            </a:r>
          </a:p>
        </p:txBody>
      </p:sp>
      <p:sp>
        <p:nvSpPr>
          <p:cNvPr id="20" name="슬라이드 번호 개체 틀 1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13</a:t>
            </a:fld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259632" y="3495677"/>
            <a:ext cx="2424441" cy="2867041"/>
            <a:chOff x="6000760" y="513041"/>
            <a:chExt cx="2424441" cy="28670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736" y="513041"/>
              <a:ext cx="1780340" cy="2867041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7643834" y="1928802"/>
              <a:ext cx="41069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0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도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572264" y="1142984"/>
              <a:ext cx="14257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startAngle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=90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도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7072330" y="2786058"/>
              <a:ext cx="135287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arcAngle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=270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도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6000760" y="1500174"/>
              <a:ext cx="80342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(20,100)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 rot="5400000">
              <a:off x="6680216" y="1750208"/>
              <a:ext cx="642149" cy="79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 flipV="1">
              <a:off x="7000892" y="2071678"/>
              <a:ext cx="642942" cy="5558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 rot="16200000" flipV="1">
              <a:off x="7108049" y="2536025"/>
              <a:ext cx="500066" cy="14287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6614890" y="1984286"/>
              <a:ext cx="779768" cy="246221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6072198" y="2428868"/>
              <a:ext cx="67678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80x80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508104" y="3495676"/>
            <a:ext cx="2422750" cy="2867041"/>
            <a:chOff x="5508104" y="3495676"/>
            <a:chExt cx="2422750" cy="286704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346" y="3495676"/>
              <a:ext cx="1792386" cy="2867041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6300192" y="3861048"/>
              <a:ext cx="74090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(80,40)</a:t>
              </a:r>
            </a:p>
          </p:txBody>
        </p: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5508104" y="4797152"/>
              <a:ext cx="80182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(40,120)</a:t>
              </a: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6300192" y="5661248"/>
              <a:ext cx="83548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(80,200)</a:t>
              </a:r>
            </a:p>
          </p:txBody>
        </p:sp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7072927" y="4797152"/>
              <a:ext cx="85792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(120,120)</a:t>
              </a: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742466" y="1765176"/>
            <a:ext cx="3600400" cy="175432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class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</a:t>
            </a:r>
            <a:r>
              <a:rPr lang="en-US" altLang="ko-KR" sz="1200" i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RED</a:t>
            </a:r>
            <a:r>
              <a:rPr lang="en-US" altLang="ko-KR" sz="1200" i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i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g.drawArc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(20,100,80,80,90,270);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644008" y="1399967"/>
            <a:ext cx="4241062" cy="193899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i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Color.RED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i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i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[]x = {80,40,80,120};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[]y = {40,120,200,120}; </a:t>
            </a:r>
          </a:p>
          <a:p>
            <a:pPr defTabSz="180000"/>
            <a:r>
              <a:rPr lang="en-US" altLang="ko-KR" sz="1200" i="1" dirty="0">
                <a:solidFill>
                  <a:srgbClr val="FF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g.drawPolygon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(x, y, 4);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891486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도형 칠하기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176464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도형 칠하기</a:t>
            </a:r>
            <a:endParaRPr lang="en-US" altLang="ko-KR" dirty="0"/>
          </a:p>
          <a:p>
            <a:pPr lvl="1"/>
            <a:r>
              <a:rPr lang="ko-KR" altLang="en-US" dirty="0"/>
              <a:t>도형을 그리고 내부를 칠하는 기능</a:t>
            </a:r>
            <a:endParaRPr lang="en-US" altLang="ko-KR" dirty="0"/>
          </a:p>
          <a:p>
            <a:pPr lvl="1"/>
            <a:r>
              <a:rPr lang="ko-KR" altLang="en-US" dirty="0"/>
              <a:t>도형의 외곽선과 내부를 따로 칠하는 기능은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도형 칠하기를</a:t>
            </a:r>
            <a:r>
              <a:rPr lang="en-US" altLang="ko-KR" dirty="0"/>
              <a:t> </a:t>
            </a:r>
            <a:r>
              <a:rPr lang="ko-KR" altLang="en-US" dirty="0"/>
              <a:t>위한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2"/>
            <a:r>
              <a:rPr lang="ko-KR" altLang="en-US" dirty="0"/>
              <a:t>도형 그리기 </a:t>
            </a:r>
            <a:r>
              <a:rPr lang="ko-KR" altLang="en-US" dirty="0" err="1"/>
              <a:t>메소드</a:t>
            </a:r>
            <a:r>
              <a:rPr lang="ko-KR" altLang="en-US" dirty="0"/>
              <a:t> 명에서 </a:t>
            </a:r>
            <a:r>
              <a:rPr lang="en-US" altLang="ko-KR" dirty="0"/>
              <a:t>draw </a:t>
            </a:r>
            <a:r>
              <a:rPr lang="ko-KR" altLang="en-US" dirty="0"/>
              <a:t>를 </a:t>
            </a:r>
            <a:r>
              <a:rPr lang="en-US" altLang="ko-KR" dirty="0"/>
              <a:t>fill</a:t>
            </a:r>
            <a:r>
              <a:rPr lang="ko-KR" altLang="en-US" dirty="0"/>
              <a:t>로 대치하면 된다</a:t>
            </a:r>
            <a:r>
              <a:rPr lang="en-US" altLang="ko-KR" dirty="0"/>
              <a:t>. </a:t>
            </a:r>
            <a:r>
              <a:rPr lang="ko-KR" altLang="en-US" dirty="0"/>
              <a:t>인자는 동일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-US" altLang="ko-KR" dirty="0" err="1"/>
              <a:t>drawRect</a:t>
            </a:r>
            <a:r>
              <a:rPr lang="en-US" altLang="ko-KR" dirty="0"/>
              <a:t>() -&gt; </a:t>
            </a:r>
            <a:r>
              <a:rPr lang="en-US" altLang="ko-KR" dirty="0" err="1"/>
              <a:t>fillRect</a:t>
            </a:r>
            <a:r>
              <a:rPr lang="en-US" altLang="ko-KR" dirty="0"/>
              <a:t>(), </a:t>
            </a:r>
            <a:r>
              <a:rPr lang="en-US" altLang="ko-KR" dirty="0" err="1"/>
              <a:t>drawArc</a:t>
            </a:r>
            <a:r>
              <a:rPr lang="en-US" altLang="ko-KR" dirty="0"/>
              <a:t>() -&gt; </a:t>
            </a:r>
            <a:r>
              <a:rPr lang="en-US" altLang="ko-KR" dirty="0" err="1"/>
              <a:t>fillArc</a:t>
            </a:r>
            <a:r>
              <a:rPr lang="en-US" altLang="ko-KR" dirty="0"/>
              <a:t>()</a:t>
            </a:r>
          </a:p>
          <a:p>
            <a:endParaRPr lang="en-US" altLang="ko-KR" dirty="0"/>
          </a:p>
          <a:p>
            <a:r>
              <a:rPr lang="ko-KR" altLang="en-US" dirty="0"/>
              <a:t>칠하기</a:t>
            </a:r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fillOval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x1, </a:t>
            </a:r>
            <a:r>
              <a:rPr lang="en-US" altLang="ko-KR" dirty="0" err="1"/>
              <a:t>int</a:t>
            </a:r>
            <a:r>
              <a:rPr lang="en-US" altLang="ko-KR" dirty="0"/>
              <a:t> y1, </a:t>
            </a:r>
            <a:r>
              <a:rPr lang="en-US" altLang="ko-KR" dirty="0" err="1"/>
              <a:t>int</a:t>
            </a:r>
            <a:r>
              <a:rPr lang="en-US" altLang="ko-KR" dirty="0"/>
              <a:t> w, </a:t>
            </a:r>
            <a:r>
              <a:rPr lang="en-US" altLang="ko-KR" dirty="0" err="1"/>
              <a:t>int</a:t>
            </a:r>
            <a:r>
              <a:rPr lang="en-US" altLang="ko-KR" dirty="0"/>
              <a:t> h)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fillRect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x1, </a:t>
            </a:r>
            <a:r>
              <a:rPr lang="en-US" altLang="ko-KR" dirty="0" err="1"/>
              <a:t>int</a:t>
            </a:r>
            <a:r>
              <a:rPr lang="en-US" altLang="ko-KR" dirty="0"/>
              <a:t> y1, </a:t>
            </a:r>
            <a:r>
              <a:rPr lang="en-US" altLang="ko-KR" dirty="0" err="1"/>
              <a:t>int</a:t>
            </a:r>
            <a:r>
              <a:rPr lang="en-US" altLang="ko-KR" dirty="0"/>
              <a:t> w, </a:t>
            </a:r>
            <a:r>
              <a:rPr lang="en-US" altLang="ko-KR" dirty="0" err="1"/>
              <a:t>int</a:t>
            </a:r>
            <a:r>
              <a:rPr lang="en-US" altLang="ko-KR" dirty="0"/>
              <a:t> h)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fillRoundRect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x1, </a:t>
            </a:r>
            <a:r>
              <a:rPr lang="en-US" altLang="ko-KR" dirty="0" err="1"/>
              <a:t>int</a:t>
            </a:r>
            <a:r>
              <a:rPr lang="en-US" altLang="ko-KR" dirty="0"/>
              <a:t> y1, </a:t>
            </a:r>
            <a:r>
              <a:rPr lang="en-US" altLang="ko-KR" dirty="0" err="1"/>
              <a:t>int</a:t>
            </a:r>
            <a:r>
              <a:rPr lang="en-US" altLang="ko-KR" dirty="0"/>
              <a:t> w, </a:t>
            </a:r>
            <a:r>
              <a:rPr lang="en-US" altLang="ko-KR" dirty="0" err="1"/>
              <a:t>int</a:t>
            </a:r>
            <a:r>
              <a:rPr lang="en-US" altLang="ko-KR" dirty="0"/>
              <a:t> h,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arcWidth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arcHeight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fillArc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y, </a:t>
            </a:r>
            <a:r>
              <a:rPr lang="en-US" altLang="ko-KR" dirty="0" err="1"/>
              <a:t>int</a:t>
            </a:r>
            <a:r>
              <a:rPr lang="en-US" altLang="ko-KR" dirty="0"/>
              <a:t> w, </a:t>
            </a:r>
            <a:r>
              <a:rPr lang="en-US" altLang="ko-KR" dirty="0" err="1"/>
              <a:t>int</a:t>
            </a:r>
            <a:r>
              <a:rPr lang="en-US" altLang="ko-KR" dirty="0"/>
              <a:t> h, </a:t>
            </a:r>
            <a:r>
              <a:rPr lang="en-US" altLang="ko-KR" dirty="0" err="1"/>
              <a:t>int</a:t>
            </a:r>
            <a:r>
              <a:rPr lang="ko-KR" altLang="en-US" dirty="0"/>
              <a:t> </a:t>
            </a:r>
            <a:r>
              <a:rPr lang="en-US" altLang="ko-KR" dirty="0" err="1"/>
              <a:t>startAngle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arcAngle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fillPolygon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[]x, </a:t>
            </a:r>
            <a:r>
              <a:rPr lang="en-US" altLang="ko-KR" dirty="0" err="1"/>
              <a:t>int</a:t>
            </a:r>
            <a:r>
              <a:rPr lang="en-US" altLang="ko-KR" dirty="0"/>
              <a:t> []y, </a:t>
            </a:r>
            <a:r>
              <a:rPr lang="en-US" altLang="ko-KR" dirty="0" err="1"/>
              <a:t>int</a:t>
            </a:r>
            <a:r>
              <a:rPr lang="en-US" altLang="ko-KR" dirty="0"/>
              <a:t> n)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62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0" y="142852"/>
            <a:ext cx="5040560" cy="680120"/>
          </a:xfrm>
        </p:spPr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12-5 : </a:t>
            </a:r>
            <a:r>
              <a:rPr lang="ko-KR" altLang="en-US" dirty="0"/>
              <a:t>도형 칠하기 예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23928" y="823119"/>
            <a:ext cx="4429726" cy="58477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GraphicsFillEx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GraphicsFillEx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fillXXX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사용 예제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(100, 350);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Color.RED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g.fillRect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(10,10,50,50);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Color.BLUE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g.fillOval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(10,70,50,50);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Color.GREEN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g.fillRoundRect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(10,130,50,50,20,20);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Color.MAGENTA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g.fillArc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(10,190,50,50,0,270); 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Color.ORANGE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x ={30,10,30,60};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y ={250,275,300,275};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g.fillPolygon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(x, y, 4); 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	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GraphicsFillEx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89198" y="1321157"/>
            <a:ext cx="38507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칠하기 메소드를 이용하여 그림과 같은 패널을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276872"/>
            <a:ext cx="1008112" cy="332126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754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스윙에서 이미지를 그리는 </a:t>
            </a:r>
            <a:r>
              <a:rPr lang="en-US" altLang="ko-KR"/>
              <a:t>2 </a:t>
            </a:r>
            <a:r>
              <a:rPr lang="ko-KR" altLang="en-US"/>
              <a:t>가지 방법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en-US" altLang="ko-KR" dirty="0" err="1"/>
              <a:t>JLabel</a:t>
            </a:r>
            <a:r>
              <a:rPr lang="en-US" altLang="ko-KR" dirty="0"/>
              <a:t> </a:t>
            </a:r>
            <a:r>
              <a:rPr lang="ko-KR" altLang="en-US" dirty="0"/>
              <a:t>컴포넌트로 이미지 그리기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장점</a:t>
            </a:r>
            <a:endParaRPr lang="en-US" altLang="ko-KR" dirty="0"/>
          </a:p>
          <a:p>
            <a:pPr lvl="2"/>
            <a:r>
              <a:rPr lang="ko-KR" altLang="en-US" dirty="0"/>
              <a:t>이미지 그리기가 간편하고 쉬운 장점</a:t>
            </a:r>
            <a:endParaRPr lang="en-US" altLang="ko-KR" dirty="0"/>
          </a:p>
          <a:p>
            <a:pPr lvl="2"/>
            <a:r>
              <a:rPr lang="ko-KR" altLang="en-US" dirty="0"/>
              <a:t>이미지가 컴포넌트이므로 이벤트 발생</a:t>
            </a:r>
            <a:endParaRPr lang="en-US" altLang="ko-KR" dirty="0"/>
          </a:p>
          <a:p>
            <a:pPr lvl="3"/>
            <a:r>
              <a:rPr lang="ko-KR" altLang="en-US" dirty="0"/>
              <a:t>이미지에 마우스 클릭하면 이벤트 받을 수 있음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endParaRPr lang="en-US" altLang="ko-KR" dirty="0"/>
          </a:p>
          <a:p>
            <a:pPr lvl="2"/>
            <a:r>
              <a:rPr lang="ko-KR" altLang="en-US" dirty="0"/>
              <a:t>이미지 크기 조절 불가 </a:t>
            </a:r>
            <a:r>
              <a:rPr lang="en-US" altLang="ko-KR" dirty="0"/>
              <a:t>: </a:t>
            </a:r>
            <a:r>
              <a:rPr lang="ko-KR" altLang="en-US" dirty="0"/>
              <a:t>원본 크기로만 그리기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en-US" altLang="ko-KR" dirty="0" err="1"/>
              <a:t>JPanel</a:t>
            </a:r>
            <a:r>
              <a:rPr lang="ko-KR" altLang="en-US" dirty="0"/>
              <a:t>에 </a:t>
            </a:r>
            <a:r>
              <a:rPr lang="en-US" altLang="ko-KR" dirty="0"/>
              <a:t>Graphics </a:t>
            </a:r>
            <a:r>
              <a:rPr lang="ko-KR" altLang="en-US" dirty="0" err="1"/>
              <a:t>메소드로</a:t>
            </a:r>
            <a:r>
              <a:rPr lang="ko-KR" altLang="en-US" dirty="0"/>
              <a:t> 이미지 그리기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endParaRPr lang="en-US" altLang="ko-KR" dirty="0"/>
          </a:p>
          <a:p>
            <a:pPr lvl="2"/>
            <a:r>
              <a:rPr lang="ko-KR" altLang="en-US" dirty="0"/>
              <a:t>이미지의 원본 크기와 다르게</a:t>
            </a:r>
            <a:r>
              <a:rPr lang="en-US" altLang="ko-KR" dirty="0"/>
              <a:t>, </a:t>
            </a:r>
            <a:r>
              <a:rPr lang="ko-KR" altLang="en-US" dirty="0"/>
              <a:t>이미지 일부분 등 그리기 가능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endParaRPr lang="en-US" altLang="ko-KR" dirty="0"/>
          </a:p>
          <a:p>
            <a:pPr lvl="2"/>
            <a:r>
              <a:rPr lang="ko-KR" altLang="en-US" dirty="0"/>
              <a:t>컴포넌트로 관리 되지 않음</a:t>
            </a:r>
            <a:endParaRPr lang="en-US" altLang="ko-KR" dirty="0"/>
          </a:p>
          <a:p>
            <a:pPr lvl="3"/>
            <a:r>
              <a:rPr lang="ko-KR" altLang="en-US" dirty="0"/>
              <a:t>개발자가 상황에 따라 이미지의 위치나 크기 등을 적절히 조절해야 함</a:t>
            </a:r>
            <a:endParaRPr lang="en-US" altLang="ko-KR" dirty="0"/>
          </a:p>
          <a:p>
            <a:pPr lvl="3"/>
            <a:r>
              <a:rPr lang="ko-KR" altLang="en-US" dirty="0"/>
              <a:t>이미지가 마우스를 클릭해도 이미지에 이벤트 발생하지 않음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043608" y="1700808"/>
            <a:ext cx="6000792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image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("images/apple.jpg");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label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panel.add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(label);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8752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Graphics</a:t>
            </a:r>
            <a:r>
              <a:rPr lang="ko-KR" altLang="en-US" dirty="0"/>
              <a:t>로 이미지 그리기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176464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총</a:t>
            </a:r>
            <a:r>
              <a:rPr lang="en-US" altLang="ko-KR" dirty="0"/>
              <a:t> 6 </a:t>
            </a:r>
            <a:r>
              <a:rPr lang="ko-KR" altLang="en-US" dirty="0"/>
              <a:t>개의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ko-KR" altLang="en-US" dirty="0"/>
              <a:t>원본 크기로 그리기</a:t>
            </a:r>
            <a:endParaRPr lang="en-US" altLang="ko-KR" dirty="0"/>
          </a:p>
          <a:p>
            <a:pPr lvl="2"/>
            <a:r>
              <a:rPr lang="en-US" altLang="ko-KR" dirty="0"/>
              <a:t>void </a:t>
            </a:r>
            <a:r>
              <a:rPr lang="en-US" altLang="ko-KR" dirty="0" err="1"/>
              <a:t>drawImage</a:t>
            </a:r>
            <a:r>
              <a:rPr lang="en-US" altLang="ko-KR" dirty="0"/>
              <a:t>(Image </a:t>
            </a:r>
            <a:r>
              <a:rPr lang="en-US" altLang="ko-KR" dirty="0" err="1"/>
              <a:t>img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y, Color </a:t>
            </a:r>
            <a:r>
              <a:rPr lang="en-US" altLang="ko-KR" dirty="0" err="1"/>
              <a:t>bgColor</a:t>
            </a:r>
            <a:r>
              <a:rPr lang="en-US" altLang="ko-KR" dirty="0"/>
              <a:t>, </a:t>
            </a:r>
            <a:r>
              <a:rPr lang="en-US" altLang="ko-KR" dirty="0" err="1"/>
              <a:t>ImageObserver</a:t>
            </a:r>
            <a:r>
              <a:rPr lang="en-US" altLang="ko-KR" dirty="0"/>
              <a:t> observer)</a:t>
            </a:r>
          </a:p>
          <a:p>
            <a:pPr lvl="2"/>
            <a:r>
              <a:rPr lang="en-US" altLang="ko-KR" dirty="0"/>
              <a:t>void </a:t>
            </a:r>
            <a:r>
              <a:rPr lang="en-US" altLang="ko-KR" dirty="0" err="1"/>
              <a:t>drawImage</a:t>
            </a:r>
            <a:r>
              <a:rPr lang="en-US" altLang="ko-KR" dirty="0"/>
              <a:t>(Image </a:t>
            </a:r>
            <a:r>
              <a:rPr lang="en-US" altLang="ko-KR" dirty="0" err="1"/>
              <a:t>img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y, </a:t>
            </a:r>
            <a:r>
              <a:rPr lang="en-US" altLang="ko-KR" dirty="0" err="1"/>
              <a:t>ImageObserver</a:t>
            </a:r>
            <a:r>
              <a:rPr lang="en-US" altLang="ko-KR" dirty="0"/>
              <a:t> observer)</a:t>
            </a:r>
            <a:endParaRPr lang="ko-KR" altLang="en-US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크기 조절하여 그리기 </a:t>
            </a:r>
            <a:endParaRPr lang="en-US" altLang="ko-KR" dirty="0"/>
          </a:p>
          <a:p>
            <a:pPr lvl="2"/>
            <a:r>
              <a:rPr lang="en-US" altLang="ko-KR" dirty="0"/>
              <a:t>void </a:t>
            </a:r>
            <a:r>
              <a:rPr lang="en-US" altLang="ko-KR" dirty="0" err="1"/>
              <a:t>drawImage</a:t>
            </a:r>
            <a:r>
              <a:rPr lang="en-US" altLang="ko-KR" dirty="0"/>
              <a:t>(Image </a:t>
            </a:r>
            <a:r>
              <a:rPr lang="en-US" altLang="ko-KR" dirty="0" err="1"/>
              <a:t>img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y, </a:t>
            </a:r>
            <a:r>
              <a:rPr lang="en-US" altLang="ko-KR" dirty="0" err="1"/>
              <a:t>int</a:t>
            </a:r>
            <a:r>
              <a:rPr lang="en-US" altLang="ko-KR" dirty="0"/>
              <a:t> width, </a:t>
            </a:r>
            <a:r>
              <a:rPr lang="en-US" altLang="ko-KR" dirty="0" err="1"/>
              <a:t>int</a:t>
            </a:r>
            <a:r>
              <a:rPr lang="en-US" altLang="ko-KR" dirty="0"/>
              <a:t> height, Color </a:t>
            </a:r>
            <a:r>
              <a:rPr lang="en-US" altLang="ko-KR" dirty="0" err="1"/>
              <a:t>bgColor</a:t>
            </a:r>
            <a:r>
              <a:rPr lang="en-US" altLang="ko-KR" dirty="0"/>
              <a:t>, </a:t>
            </a:r>
            <a:r>
              <a:rPr lang="en-US" altLang="ko-KR" dirty="0" err="1"/>
              <a:t>ImageObserver</a:t>
            </a:r>
            <a:r>
              <a:rPr lang="en-US" altLang="ko-KR" dirty="0"/>
              <a:t> observer)</a:t>
            </a:r>
            <a:endParaRPr lang="ko-KR" altLang="en-US" dirty="0"/>
          </a:p>
          <a:p>
            <a:pPr lvl="2"/>
            <a:r>
              <a:rPr lang="en-US" altLang="ko-KR" dirty="0"/>
              <a:t>void </a:t>
            </a:r>
            <a:r>
              <a:rPr lang="en-US" altLang="ko-KR" dirty="0" err="1"/>
              <a:t>drawImage</a:t>
            </a:r>
            <a:r>
              <a:rPr lang="en-US" altLang="ko-KR" dirty="0"/>
              <a:t>(Image </a:t>
            </a:r>
            <a:r>
              <a:rPr lang="en-US" altLang="ko-KR" dirty="0" err="1"/>
              <a:t>img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x, </a:t>
            </a:r>
            <a:r>
              <a:rPr lang="en-US" altLang="ko-KR" dirty="0" err="1"/>
              <a:t>int</a:t>
            </a:r>
            <a:r>
              <a:rPr lang="en-US" altLang="ko-KR" dirty="0"/>
              <a:t> y, </a:t>
            </a:r>
            <a:r>
              <a:rPr lang="en-US" altLang="ko-KR" dirty="0" err="1"/>
              <a:t>int</a:t>
            </a:r>
            <a:r>
              <a:rPr lang="en-US" altLang="ko-KR" dirty="0"/>
              <a:t> width, </a:t>
            </a:r>
            <a:r>
              <a:rPr lang="en-US" altLang="ko-KR" dirty="0" err="1"/>
              <a:t>int</a:t>
            </a:r>
            <a:r>
              <a:rPr lang="en-US" altLang="ko-KR" dirty="0"/>
              <a:t> height, </a:t>
            </a:r>
            <a:r>
              <a:rPr lang="en-US" altLang="ko-KR" dirty="0" err="1"/>
              <a:t>ImageObserver</a:t>
            </a:r>
            <a:r>
              <a:rPr lang="en-US" altLang="ko-KR" dirty="0"/>
              <a:t> observer)</a:t>
            </a:r>
            <a:endParaRPr lang="ko-KR" altLang="en-US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원본의 일부분을 크기 조절하여 그리기</a:t>
            </a:r>
            <a:endParaRPr lang="en-US" altLang="ko-KR" dirty="0"/>
          </a:p>
          <a:p>
            <a:pPr lvl="2"/>
            <a:r>
              <a:rPr lang="en-US" altLang="ko-KR" dirty="0"/>
              <a:t>void </a:t>
            </a:r>
            <a:r>
              <a:rPr lang="en-US" altLang="ko-KR" dirty="0" err="1"/>
              <a:t>drawImage</a:t>
            </a:r>
            <a:r>
              <a:rPr lang="en-US" altLang="ko-KR" dirty="0"/>
              <a:t>(Image </a:t>
            </a:r>
            <a:r>
              <a:rPr lang="en-US" altLang="ko-KR" dirty="0" err="1"/>
              <a:t>img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dx1, </a:t>
            </a:r>
            <a:r>
              <a:rPr lang="en-US" altLang="ko-KR" dirty="0" err="1"/>
              <a:t>int</a:t>
            </a:r>
            <a:r>
              <a:rPr lang="en-US" altLang="ko-KR" dirty="0"/>
              <a:t> dy1, </a:t>
            </a:r>
            <a:r>
              <a:rPr lang="en-US" altLang="ko-KR" dirty="0" err="1"/>
              <a:t>int</a:t>
            </a:r>
            <a:r>
              <a:rPr lang="en-US" altLang="ko-KR" dirty="0"/>
              <a:t> dx2, </a:t>
            </a:r>
            <a:r>
              <a:rPr lang="en-US" altLang="ko-KR" dirty="0" err="1"/>
              <a:t>int</a:t>
            </a:r>
            <a:r>
              <a:rPr lang="en-US" altLang="ko-KR" dirty="0"/>
              <a:t> dy2, </a:t>
            </a:r>
            <a:r>
              <a:rPr lang="en-US" altLang="ko-KR" dirty="0" err="1"/>
              <a:t>int</a:t>
            </a:r>
            <a:r>
              <a:rPr lang="en-US" altLang="ko-KR" dirty="0"/>
              <a:t> sx1, </a:t>
            </a:r>
            <a:r>
              <a:rPr lang="en-US" altLang="ko-KR" dirty="0" err="1"/>
              <a:t>int</a:t>
            </a:r>
            <a:r>
              <a:rPr lang="en-US" altLang="ko-KR" dirty="0"/>
              <a:t> sy1, </a:t>
            </a:r>
            <a:r>
              <a:rPr lang="en-US" altLang="ko-KR" dirty="0" err="1"/>
              <a:t>int</a:t>
            </a:r>
            <a:r>
              <a:rPr lang="en-US" altLang="ko-KR" dirty="0"/>
              <a:t> sx2, </a:t>
            </a:r>
            <a:r>
              <a:rPr lang="en-US" altLang="ko-KR" dirty="0" err="1"/>
              <a:t>int</a:t>
            </a:r>
            <a:r>
              <a:rPr lang="en-US" altLang="ko-KR" dirty="0"/>
              <a:t> sy2, Color </a:t>
            </a:r>
            <a:r>
              <a:rPr lang="en-US" altLang="ko-KR" dirty="0" err="1"/>
              <a:t>bgColor</a:t>
            </a:r>
            <a:r>
              <a:rPr lang="en-US" altLang="ko-KR" dirty="0"/>
              <a:t>, </a:t>
            </a:r>
            <a:r>
              <a:rPr lang="en-US" altLang="ko-KR" dirty="0" err="1"/>
              <a:t>ImageObserver</a:t>
            </a:r>
            <a:r>
              <a:rPr lang="en-US" altLang="ko-KR" dirty="0"/>
              <a:t> observer)</a:t>
            </a:r>
            <a:endParaRPr lang="ko-KR" altLang="en-US" dirty="0"/>
          </a:p>
          <a:p>
            <a:pPr lvl="2"/>
            <a:r>
              <a:rPr lang="en-US" altLang="ko-KR" dirty="0"/>
              <a:t>void </a:t>
            </a:r>
            <a:r>
              <a:rPr lang="en-US" altLang="ko-KR" dirty="0" err="1"/>
              <a:t>drawImage</a:t>
            </a:r>
            <a:r>
              <a:rPr lang="en-US" altLang="ko-KR" dirty="0"/>
              <a:t>(Image </a:t>
            </a:r>
            <a:r>
              <a:rPr lang="en-US" altLang="ko-KR" dirty="0" err="1"/>
              <a:t>img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dx1, </a:t>
            </a:r>
            <a:r>
              <a:rPr lang="en-US" altLang="ko-KR" dirty="0" err="1"/>
              <a:t>int</a:t>
            </a:r>
            <a:r>
              <a:rPr lang="en-US" altLang="ko-KR" dirty="0"/>
              <a:t> dy1, </a:t>
            </a:r>
            <a:r>
              <a:rPr lang="en-US" altLang="ko-KR" dirty="0" err="1"/>
              <a:t>int</a:t>
            </a:r>
            <a:r>
              <a:rPr lang="en-US" altLang="ko-KR" dirty="0"/>
              <a:t> dx2, </a:t>
            </a:r>
            <a:r>
              <a:rPr lang="en-US" altLang="ko-KR" dirty="0" err="1"/>
              <a:t>int</a:t>
            </a:r>
            <a:r>
              <a:rPr lang="en-US" altLang="ko-KR" dirty="0"/>
              <a:t> dy2, </a:t>
            </a:r>
            <a:r>
              <a:rPr lang="en-US" altLang="ko-KR" dirty="0" err="1"/>
              <a:t>int</a:t>
            </a:r>
            <a:r>
              <a:rPr lang="en-US" altLang="ko-KR" dirty="0"/>
              <a:t> sx1, </a:t>
            </a:r>
            <a:r>
              <a:rPr lang="en-US" altLang="ko-KR" dirty="0" err="1"/>
              <a:t>int</a:t>
            </a:r>
            <a:r>
              <a:rPr lang="en-US" altLang="ko-KR" dirty="0"/>
              <a:t> sy1, </a:t>
            </a:r>
            <a:r>
              <a:rPr lang="en-US" altLang="ko-KR" dirty="0" err="1"/>
              <a:t>int</a:t>
            </a:r>
            <a:r>
              <a:rPr lang="en-US" altLang="ko-KR" dirty="0"/>
              <a:t> sx2, </a:t>
            </a:r>
            <a:r>
              <a:rPr lang="en-US" altLang="ko-KR" dirty="0" err="1"/>
              <a:t>int</a:t>
            </a:r>
            <a:r>
              <a:rPr lang="en-US" altLang="ko-KR" dirty="0"/>
              <a:t> sy2, </a:t>
            </a:r>
            <a:r>
              <a:rPr lang="en-US" altLang="ko-KR" dirty="0" err="1"/>
              <a:t>ImageObserver</a:t>
            </a:r>
            <a:r>
              <a:rPr lang="en-US" altLang="ko-KR" dirty="0"/>
              <a:t> observer)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043608" y="5649717"/>
            <a:ext cx="648607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* </a:t>
            </a:r>
            <a:r>
              <a:rPr lang="en-US" altLang="ko-KR" sz="1400" dirty="0" err="1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ImageObserver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는 이미지가 다 그려졌을 때</a:t>
            </a:r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통보를 받는 객체를 지정하는 매개변수</a:t>
            </a:r>
            <a:endParaRPr lang="en-US" altLang="ko-KR" sz="1400" dirty="0">
              <a:solidFill>
                <a:srgbClr val="0070C0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 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이미지는 경우에 따라 </a:t>
            </a:r>
            <a:r>
              <a:rPr lang="ko-KR" altLang="en-US" sz="1400" dirty="0" err="1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디코딩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등으로 인해 시간이 오래 걸릴 수 있기 때문에</a:t>
            </a:r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</a:p>
          <a:p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 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그리기가 완료되었는지 통보 받을 때 사용</a:t>
            </a:r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 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보통의 경우 </a:t>
            </a:r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this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주거나 </a:t>
            </a:r>
            <a:r>
              <a:rPr lang="en-US" altLang="ko-KR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null</a:t>
            </a:r>
            <a:r>
              <a:rPr lang="ko-KR" altLang="en-US" sz="1400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주어 통보를 받지 않을 수 있음</a:t>
            </a:r>
          </a:p>
        </p:txBody>
      </p:sp>
    </p:spTree>
    <p:extLst>
      <p:ext uri="{BB962C8B-B14F-4D97-AF65-F5344CB8AC3E}">
        <p14:creationId xmlns:p14="http://schemas.microsoft.com/office/powerpoint/2010/main" val="59553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그리기 샘플 코드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85720" y="1571612"/>
            <a:ext cx="4143404" cy="4696059"/>
          </a:xfrm>
        </p:spPr>
        <p:txBody>
          <a:bodyPr>
            <a:normAutofit fontScale="40000" lnSpcReduction="20000"/>
          </a:bodyPr>
          <a:lstStyle/>
          <a:p>
            <a:r>
              <a:rPr lang="ko-KR" altLang="en-US" dirty="0"/>
              <a:t>이미지 로딩 </a:t>
            </a:r>
            <a:r>
              <a:rPr lang="en-US" altLang="ko-KR" dirty="0"/>
              <a:t>: Image </a:t>
            </a:r>
            <a:r>
              <a:rPr lang="ko-KR" altLang="en-US" dirty="0"/>
              <a:t>객체 생성</a:t>
            </a:r>
            <a:endParaRPr lang="en-US" altLang="ko-KR" dirty="0"/>
          </a:p>
          <a:p>
            <a:pPr lvl="1">
              <a:buNone/>
            </a:pPr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원본 이미지를 </a:t>
            </a:r>
            <a:r>
              <a:rPr lang="en-US" altLang="ko-KR" dirty="0"/>
              <a:t>(20,20) </a:t>
            </a:r>
            <a:r>
              <a:rPr lang="ko-KR" altLang="en-US" dirty="0"/>
              <a:t>위치에 원본 크기로 그리기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고정 크기임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원본 이미지를 </a:t>
            </a:r>
            <a:r>
              <a:rPr lang="en-US" altLang="ko-KR" dirty="0"/>
              <a:t>100x100 </a:t>
            </a:r>
            <a:r>
              <a:rPr lang="ko-KR" altLang="en-US" dirty="0"/>
              <a:t>크기로 조절하여 그리기</a:t>
            </a:r>
            <a:endParaRPr lang="en-US" altLang="ko-KR" dirty="0"/>
          </a:p>
          <a:p>
            <a:pPr lvl="1"/>
            <a:r>
              <a:rPr lang="ko-KR" altLang="en-US" dirty="0"/>
              <a:t>고정 크기임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원본 이미지를 패널에 꽉 차도록 그리기</a:t>
            </a:r>
            <a:endParaRPr lang="en-US" altLang="ko-KR" dirty="0"/>
          </a:p>
          <a:p>
            <a:pPr lvl="1"/>
            <a:r>
              <a:rPr lang="en-US" altLang="ko-KR" dirty="0" err="1"/>
              <a:t>JPanel</a:t>
            </a:r>
            <a:r>
              <a:rPr lang="ko-KR" altLang="en-US" dirty="0"/>
              <a:t>의 크기로 조절하여 그리기</a:t>
            </a:r>
            <a:endParaRPr lang="en-US" altLang="ko-KR" dirty="0"/>
          </a:p>
          <a:p>
            <a:pPr lvl="1"/>
            <a:r>
              <a:rPr lang="ko-KR" altLang="en-US" dirty="0"/>
              <a:t>가변 크기임</a:t>
            </a:r>
            <a:endParaRPr lang="en-US" altLang="ko-KR" dirty="0"/>
          </a:p>
          <a:p>
            <a:pPr lvl="2"/>
            <a:r>
              <a:rPr lang="en-US" altLang="ko-KR" dirty="0" err="1"/>
              <a:t>JPanel</a:t>
            </a:r>
            <a:r>
              <a:rPr lang="ko-KR" altLang="en-US" dirty="0"/>
              <a:t>의 크기가 변할 때마다 이미지의 크기도 따라서 변함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원본</a:t>
            </a:r>
            <a:r>
              <a:rPr lang="en-US" altLang="ko-KR" dirty="0"/>
              <a:t> </a:t>
            </a:r>
            <a:r>
              <a:rPr lang="ko-KR" altLang="en-US" dirty="0"/>
              <a:t>이미지의 </a:t>
            </a:r>
            <a:r>
              <a:rPr lang="en-US" altLang="ko-KR" dirty="0"/>
              <a:t>(50, 0)</a:t>
            </a:r>
            <a:r>
              <a:rPr lang="ko-KR" altLang="en-US" dirty="0"/>
              <a:t>에서 </a:t>
            </a:r>
            <a:r>
              <a:rPr lang="en-US" altLang="ko-KR" dirty="0"/>
              <a:t>(150,150) </a:t>
            </a:r>
            <a:r>
              <a:rPr lang="ko-KR" altLang="en-US" dirty="0"/>
              <a:t>사각형 부분을 </a:t>
            </a:r>
            <a:r>
              <a:rPr lang="en-US" altLang="ko-KR" dirty="0" err="1"/>
              <a:t>JPanel</a:t>
            </a:r>
            <a:r>
              <a:rPr lang="ko-KR" altLang="en-US" dirty="0"/>
              <a:t>의 </a:t>
            </a:r>
            <a:r>
              <a:rPr lang="en-US" altLang="ko-KR" dirty="0"/>
              <a:t>(20,20)</a:t>
            </a:r>
            <a:r>
              <a:rPr lang="ko-KR" altLang="en-US" dirty="0"/>
              <a:t>에서 </a:t>
            </a:r>
            <a:r>
              <a:rPr lang="en-US" altLang="ko-KR" dirty="0"/>
              <a:t>(250,100) </a:t>
            </a:r>
            <a:r>
              <a:rPr lang="ko-KR" altLang="en-US" dirty="0"/>
              <a:t>영역에 그리기</a:t>
            </a:r>
            <a:endParaRPr lang="en-US" altLang="ko-KR" dirty="0"/>
          </a:p>
          <a:p>
            <a:pPr lvl="1"/>
            <a:r>
              <a:rPr lang="ko-KR" altLang="en-US" dirty="0"/>
              <a:t>고정 크기임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9124" y="1340768"/>
            <a:ext cx="442915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그리고자 하는 이미지가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“image/image0.jpg”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 경우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icon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(“image/image0.jpg”);</a:t>
            </a:r>
          </a:p>
          <a:p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icon.getImage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46072" y="2348880"/>
            <a:ext cx="4412207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20, 20, this);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29124" y="3356992"/>
            <a:ext cx="442915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20, 20, 100, 100, this);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29124" y="4365104"/>
            <a:ext cx="442915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0, 0,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getWidth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getHeight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this);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29124" y="5436674"/>
            <a:ext cx="4429156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20,20,250,100,50,0,150,150, this);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98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94" y="2650907"/>
            <a:ext cx="2765260" cy="3810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12-6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이미지 그리기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696942" y="2001029"/>
            <a:ext cx="5107438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GraphicsDrawImageEx1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GraphicsDrawImageEx1()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원본 크기로 원하는 위치에 이미지 그리기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420);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icon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("images/image0.jpg");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Image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icon.getImage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객체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20, 20, this);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GraphicsDrawImageEx1();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rot="5400000">
            <a:off x="696566" y="2358219"/>
            <a:ext cx="857256" cy="5715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39508" y="2001029"/>
            <a:ext cx="904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(20,20)</a:t>
            </a:r>
            <a:endParaRPr lang="ko-KR" altLang="en-US" sz="16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24674" y="1328301"/>
            <a:ext cx="83678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상속받아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만들고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아래의 그림과 같이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"images/image0.jpg"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파일의 이미지를</a:t>
            </a:r>
          </a:p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패널의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(20, 20)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위치에 원본 크기로 그리는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577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12-7 : </a:t>
            </a:r>
            <a:r>
              <a:rPr lang="en-US" altLang="ko-KR" sz="2400" dirty="0" err="1"/>
              <a:t>JPanel</a:t>
            </a:r>
            <a:r>
              <a:rPr lang="ko-KR" altLang="en-US" sz="2400" dirty="0"/>
              <a:t>로 만든 패널에 </a:t>
            </a:r>
            <a:r>
              <a:rPr lang="ko-KR" altLang="en-US" sz="2400" dirty="0" err="1"/>
              <a:t>꽉차도록</a:t>
            </a:r>
            <a:r>
              <a:rPr lang="ko-KR" altLang="en-US" sz="2400" dirty="0"/>
              <a:t> 이미지 그리기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067944" y="1988840"/>
            <a:ext cx="4933212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GraphicsDrawImageEx2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GraphicsDrawImageEx2()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패널의 크기에 맞추어 이미지 그리기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(200, 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icon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("images/image0.jpg");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Image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icon.getImage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객체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0, 0,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getWidth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getHeight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this);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GraphicsDrawImageEx2();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93" y="1911006"/>
            <a:ext cx="1985126" cy="31409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121338"/>
            <a:ext cx="3368285" cy="139181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24674" y="1281336"/>
            <a:ext cx="82957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상속받아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만들고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아래의 그림과 같이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"images/image0.jpg"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파일의 이미지를</a:t>
            </a:r>
          </a:p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패널에 꽉 차도록 그리는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908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31" y="1605136"/>
            <a:ext cx="2133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32" y="4025530"/>
            <a:ext cx="2638511" cy="270892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800" dirty="0"/>
              <a:t>예제 </a:t>
            </a:r>
            <a:r>
              <a:rPr lang="en-US" altLang="ko-KR" sz="2800" dirty="0"/>
              <a:t>12-7 : </a:t>
            </a:r>
            <a:r>
              <a:rPr lang="ko-KR" altLang="en-US" sz="2800" dirty="0"/>
              <a:t>이미지의 일부분 </a:t>
            </a:r>
            <a:r>
              <a:rPr lang="ko-KR" altLang="en-US" sz="2800" dirty="0" err="1"/>
              <a:t>크기조절하여</a:t>
            </a:r>
            <a:r>
              <a:rPr lang="ko-KR" altLang="en-US" sz="2800" dirty="0"/>
              <a:t> 그리기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-8725" y="2141109"/>
            <a:ext cx="533400" cy="244476"/>
          </a:xfrm>
        </p:spPr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789982" y="1630396"/>
            <a:ext cx="5054408" cy="5078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GraphicsDrawImageEx3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endParaRPr lang="en-US" altLang="ko-KR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GraphicsDrawImageEx3()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일부분을 크기 조절하여 그리기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icon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("images/image0.jpg");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Image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icon.getImage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20, 20, 250, 100, 100, 50, 200, 200, this);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GraphicsDrawImageEx3();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189" y="4293096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(20,20)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31115" y="5157192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(250,100)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07705" y="2012969"/>
            <a:ext cx="936103" cy="1440160"/>
          </a:xfrm>
          <a:prstGeom prst="rect">
            <a:avLst/>
          </a:prstGeom>
          <a:noFill/>
          <a:ln w="28575">
            <a:solidFill>
              <a:srgbClr val="DCE6F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ko-KR" altLang="en-US" sz="10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28" name="직선 화살표 연결선 27"/>
          <p:cNvCxnSpPr>
            <a:stCxn id="3" idx="2"/>
          </p:cNvCxnSpPr>
          <p:nvPr/>
        </p:nvCxnSpPr>
        <p:spPr>
          <a:xfrm flipH="1">
            <a:off x="2028331" y="3453129"/>
            <a:ext cx="347426" cy="994216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33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클리핑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660320"/>
          </a:xfrm>
        </p:spPr>
        <p:txBody>
          <a:bodyPr>
            <a:normAutofit/>
          </a:bodyPr>
          <a:lstStyle/>
          <a:p>
            <a:pPr lvl="1"/>
            <a:r>
              <a:rPr lang="ko-KR" altLang="en-US" dirty="0" err="1"/>
              <a:t>클리핑</a:t>
            </a:r>
            <a:r>
              <a:rPr lang="en-US" altLang="ko-KR" dirty="0"/>
              <a:t>(Clipping)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 err="1"/>
              <a:t>클리핑</a:t>
            </a:r>
            <a:r>
              <a:rPr lang="ko-KR" altLang="en-US" dirty="0"/>
              <a:t> 영역에서만 그래픽이 이루어지도록 하는 기능</a:t>
            </a:r>
            <a:endParaRPr lang="en-US" altLang="ko-KR" dirty="0"/>
          </a:p>
          <a:p>
            <a:pPr lvl="3"/>
            <a:r>
              <a:rPr lang="ko-KR" altLang="en-US" dirty="0" err="1"/>
              <a:t>클리핑</a:t>
            </a:r>
            <a:r>
              <a:rPr lang="ko-KR" altLang="en-US" dirty="0"/>
              <a:t> 영역 </a:t>
            </a:r>
            <a:r>
              <a:rPr lang="en-US" altLang="ko-KR" dirty="0"/>
              <a:t>: </a:t>
            </a:r>
            <a:r>
              <a:rPr lang="ko-KR" altLang="en-US" dirty="0"/>
              <a:t>하나의 사각형 영역</a:t>
            </a:r>
          </a:p>
          <a:p>
            <a:pPr lvl="2"/>
            <a:r>
              <a:rPr lang="ko-KR" altLang="en-US" dirty="0" err="1"/>
              <a:t>클리핑이</a:t>
            </a:r>
            <a:r>
              <a:rPr lang="ko-KR" altLang="en-US" dirty="0"/>
              <a:t> 작동하는 그래픽 기능</a:t>
            </a:r>
            <a:endParaRPr lang="en-US" altLang="ko-KR" dirty="0"/>
          </a:p>
          <a:p>
            <a:pPr lvl="3"/>
            <a:r>
              <a:rPr lang="ko-KR" altLang="en-US" dirty="0"/>
              <a:t>그리기</a:t>
            </a:r>
            <a:r>
              <a:rPr lang="en-US" altLang="ko-KR" dirty="0"/>
              <a:t>, </a:t>
            </a:r>
            <a:r>
              <a:rPr lang="ko-KR" altLang="en-US" dirty="0"/>
              <a:t>칠하기</a:t>
            </a:r>
            <a:r>
              <a:rPr lang="en-US" altLang="ko-KR" dirty="0"/>
              <a:t>, </a:t>
            </a:r>
            <a:r>
              <a:rPr lang="ko-KR" altLang="en-US" dirty="0"/>
              <a:t>이미지 그리기</a:t>
            </a:r>
            <a:r>
              <a:rPr lang="en-US" altLang="ko-KR" dirty="0"/>
              <a:t>, </a:t>
            </a:r>
            <a:r>
              <a:rPr lang="ko-KR" altLang="en-US" dirty="0"/>
              <a:t>문자열 출력 등에서 모드 </a:t>
            </a:r>
            <a:r>
              <a:rPr lang="ko-KR" altLang="en-US" dirty="0" err="1"/>
              <a:t>클리핑</a:t>
            </a:r>
            <a:r>
              <a:rPr lang="ko-KR" altLang="en-US" dirty="0"/>
              <a:t> 작동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22</a:t>
            </a:fld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4898443" y="3068960"/>
            <a:ext cx="2391802" cy="3048717"/>
            <a:chOff x="4644008" y="1916116"/>
            <a:chExt cx="2391802" cy="3048717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4008" y="1916116"/>
              <a:ext cx="2389680" cy="30460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4644008" y="3356993"/>
              <a:ext cx="2389680" cy="16078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644008" y="2018792"/>
              <a:ext cx="827386" cy="210146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644008" y="1916832"/>
              <a:ext cx="2389680" cy="1440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769410" y="2018791"/>
              <a:ext cx="266400" cy="17644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51" y="3069676"/>
            <a:ext cx="2389680" cy="30460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15616" y="6165168"/>
            <a:ext cx="2539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클리핑이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설정되지 않아서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전체 영역에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그려지는 경우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전체가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클릭핑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영역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27005" y="6212232"/>
            <a:ext cx="2303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특정 사각형 영역을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영역으로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설정한 경우</a:t>
            </a:r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7449417" y="3501724"/>
            <a:ext cx="1071570" cy="272415"/>
          </a:xfrm>
          <a:prstGeom prst="wedgeRoundRectCallout">
            <a:avLst>
              <a:gd name="adj1" fmla="val -90344"/>
              <a:gd name="adj2" fmla="val 2431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영역</a:t>
            </a:r>
          </a:p>
        </p:txBody>
      </p:sp>
    </p:spTree>
    <p:extLst>
      <p:ext uri="{BB962C8B-B14F-4D97-AF65-F5344CB8AC3E}">
        <p14:creationId xmlns:p14="http://schemas.microsoft.com/office/powerpoint/2010/main" val="3643400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클리핑</a:t>
            </a:r>
            <a:r>
              <a:rPr lang="ko-KR" altLang="en-US" dirty="0"/>
              <a:t> 영역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Graphics</a:t>
            </a:r>
            <a:r>
              <a:rPr lang="ko-KR" altLang="en-US" dirty="0"/>
              <a:t>의 클리핑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setClip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x, in y, </a:t>
            </a:r>
            <a:r>
              <a:rPr lang="en-US" altLang="ko-KR" dirty="0" err="1"/>
              <a:t>int</a:t>
            </a:r>
            <a:r>
              <a:rPr lang="en-US" altLang="ko-KR" dirty="0"/>
              <a:t> w, </a:t>
            </a:r>
            <a:r>
              <a:rPr lang="en-US" altLang="ko-KR" dirty="0" err="1"/>
              <a:t>int</a:t>
            </a:r>
            <a:r>
              <a:rPr lang="en-US" altLang="ko-KR" dirty="0"/>
              <a:t> h)</a:t>
            </a:r>
          </a:p>
          <a:p>
            <a:pPr lvl="2"/>
            <a:r>
              <a:rPr lang="ko-KR" altLang="en-US" dirty="0"/>
              <a:t>그래픽 대상 컴포넌트의 </a:t>
            </a:r>
            <a:r>
              <a:rPr lang="en-US" altLang="ko-KR" dirty="0"/>
              <a:t>(x, y) </a:t>
            </a:r>
            <a:r>
              <a:rPr lang="ko-KR" altLang="en-US" dirty="0"/>
              <a:t>위치에서 </a:t>
            </a:r>
            <a:r>
              <a:rPr lang="en-US" altLang="ko-KR" dirty="0" err="1"/>
              <a:t>wxh</a:t>
            </a:r>
            <a:r>
              <a:rPr lang="en-US" altLang="ko-KR" dirty="0"/>
              <a:t> </a:t>
            </a:r>
            <a:r>
              <a:rPr lang="ko-KR" altLang="en-US" dirty="0"/>
              <a:t>의 사각형 영역을 클리핑 영역으로 지정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clipRect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x, in y, </a:t>
            </a:r>
            <a:r>
              <a:rPr lang="en-US" altLang="ko-KR" dirty="0" err="1"/>
              <a:t>int</a:t>
            </a:r>
            <a:r>
              <a:rPr lang="en-US" altLang="ko-KR" dirty="0"/>
              <a:t> w, </a:t>
            </a:r>
            <a:r>
              <a:rPr lang="en-US" altLang="ko-KR" dirty="0" err="1"/>
              <a:t>int</a:t>
            </a:r>
            <a:r>
              <a:rPr lang="en-US" altLang="ko-KR" dirty="0"/>
              <a:t> h)</a:t>
            </a:r>
          </a:p>
          <a:p>
            <a:pPr lvl="2"/>
            <a:r>
              <a:rPr lang="ko-KR" altLang="en-US" dirty="0"/>
              <a:t>기존 </a:t>
            </a:r>
            <a:r>
              <a:rPr lang="ko-KR" altLang="en-US" dirty="0" err="1"/>
              <a:t>클리핑</a:t>
            </a:r>
            <a:r>
              <a:rPr lang="ko-KR" altLang="en-US" dirty="0"/>
              <a:t> 영역과 지정된 사각형 영역</a:t>
            </a:r>
            <a:r>
              <a:rPr lang="en-US" altLang="ko-KR" dirty="0"/>
              <a:t>((</a:t>
            </a:r>
            <a:r>
              <a:rPr lang="en-US" altLang="ko-KR" dirty="0" err="1"/>
              <a:t>x,y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 err="1"/>
              <a:t>wxh</a:t>
            </a:r>
            <a:r>
              <a:rPr lang="ko-KR" altLang="en-US" dirty="0"/>
              <a:t>의 영역</a:t>
            </a:r>
            <a:r>
              <a:rPr lang="en-US" altLang="ko-KR" dirty="0"/>
              <a:t>)</a:t>
            </a:r>
            <a:r>
              <a:rPr lang="ko-KR" altLang="en-US" dirty="0"/>
              <a:t>의 교집합 영역을 새로운 클리핑 영역으로 설정</a:t>
            </a:r>
          </a:p>
          <a:p>
            <a:pPr lvl="2"/>
            <a:r>
              <a:rPr lang="en-US" altLang="ko-KR" dirty="0" err="1"/>
              <a:t>clipRect</a:t>
            </a:r>
            <a:r>
              <a:rPr lang="en-US" altLang="ko-KR" dirty="0"/>
              <a:t>()</a:t>
            </a:r>
            <a:r>
              <a:rPr lang="ko-KR" altLang="en-US" dirty="0"/>
              <a:t>이 계속 불리게 되면 클리핑 영역을 계속 줄어들게 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471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58" y="2942720"/>
            <a:ext cx="2704758" cy="37266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12-9 : </a:t>
            </a:r>
            <a:r>
              <a:rPr lang="ko-KR" altLang="en-US" dirty="0" err="1"/>
              <a:t>클리핑</a:t>
            </a:r>
            <a:r>
              <a:rPr lang="ko-KR" altLang="en-US" dirty="0"/>
              <a:t> 영역에 그리기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923928" y="1406381"/>
            <a:ext cx="5022088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GraphicsClipEx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GraphicsClipEx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400);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icon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("images/image0.jpg");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Image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icon.getImage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객체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g.setClip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(100, 20, 150, 150);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g.drawImage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0, 0,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getWidth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getHeight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this);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Color.YELLOW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fr-FR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g.setFont(new Font("Arial", Font.ITALIC, 40));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g.drawString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("Go Gator!!", 10, 150);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GraphicsClipEx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512" y="2446074"/>
            <a:ext cx="3296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영역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(100,20)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150x150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사각형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영역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rot="16200000" flipH="1">
            <a:off x="1246246" y="3053297"/>
            <a:ext cx="571504" cy="714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513060" y="1315172"/>
            <a:ext cx="83794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패널에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(100, 20)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150×150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크기로 </a:t>
            </a:r>
            <a:endParaRPr lang="en-US" altLang="ko-KR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영역을 설정하고 문자열과</a:t>
            </a:r>
            <a:endParaRPr lang="en-US" altLang="ko-KR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이미지를 출력하여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클리핑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여부를</a:t>
            </a:r>
            <a:endParaRPr lang="en-US" altLang="ko-KR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확인하여보라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265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스윙의 페인팅 </a:t>
            </a:r>
            <a:r>
              <a:rPr lang="ko-KR" altLang="en-US" dirty="0" err="1"/>
              <a:t>메카니즘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800" dirty="0"/>
              <a:t>스윙 컴포넌트들이 그려지는 과정에 대한 이해 필요</a:t>
            </a:r>
            <a:endParaRPr lang="en-US" altLang="ko-KR" sz="1800" dirty="0"/>
          </a:p>
          <a:p>
            <a:pPr lvl="1"/>
            <a:r>
              <a:rPr lang="ko-KR" altLang="en-US" sz="1600" dirty="0"/>
              <a:t>바탕 컨테이너부터 그려짐</a:t>
            </a:r>
            <a:r>
              <a:rPr lang="en-US" altLang="ko-KR" sz="1600" dirty="0"/>
              <a:t>(</a:t>
            </a:r>
            <a:r>
              <a:rPr lang="ko-KR" altLang="en-US" sz="1600" dirty="0"/>
              <a:t>다음 슬라이드 참고</a:t>
            </a:r>
            <a:r>
              <a:rPr lang="en-US" altLang="ko-KR" sz="1600" dirty="0"/>
              <a:t>)</a:t>
            </a:r>
          </a:p>
          <a:p>
            <a:r>
              <a:rPr lang="ko-KR" altLang="en-US" sz="1800" dirty="0"/>
              <a:t>스윙의 페인팅에 관여되는 </a:t>
            </a:r>
            <a:r>
              <a:rPr lang="en-US" altLang="ko-KR" sz="1800" dirty="0" err="1"/>
              <a:t>JComponent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메소드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 err="1"/>
              <a:t>JComponent.paint</a:t>
            </a:r>
            <a:r>
              <a:rPr lang="en-US" altLang="ko-KR" sz="1800" dirty="0"/>
              <a:t>()</a:t>
            </a:r>
            <a:r>
              <a:rPr lang="ko-KR" altLang="en-US" sz="1800" dirty="0"/>
              <a:t>의</a:t>
            </a:r>
            <a:r>
              <a:rPr lang="en-US" altLang="ko-KR" sz="1800" dirty="0"/>
              <a:t> </a:t>
            </a:r>
            <a:r>
              <a:rPr lang="ko-KR" altLang="en-US" sz="1800" dirty="0"/>
              <a:t>코드 구조</a:t>
            </a:r>
            <a:endParaRPr lang="en-US" altLang="ko-KR" sz="1800" dirty="0"/>
          </a:p>
          <a:p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 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개발자가 </a:t>
            </a:r>
            <a:r>
              <a:rPr lang="en-US" altLang="ko-KR" sz="1800" dirty="0" err="1"/>
              <a:t>paintComponent</a:t>
            </a:r>
            <a:r>
              <a:rPr lang="en-US" altLang="ko-KR" sz="1800" dirty="0"/>
              <a:t>()</a:t>
            </a:r>
            <a:r>
              <a:rPr lang="ko-KR" altLang="en-US" sz="1800" dirty="0"/>
              <a:t>를 직접 호출하면 안됨</a:t>
            </a:r>
            <a:endParaRPr lang="en-US" altLang="ko-KR" sz="1800" dirty="0"/>
          </a:p>
          <a:p>
            <a:pPr lvl="1"/>
            <a:r>
              <a:rPr lang="en-US" altLang="ko-KR" sz="1600" dirty="0" err="1"/>
              <a:t>paintComponent</a:t>
            </a:r>
            <a:r>
              <a:rPr lang="en-US" altLang="ko-KR" sz="1600" dirty="0"/>
              <a:t>()</a:t>
            </a:r>
            <a:r>
              <a:rPr lang="ko-KR" altLang="en-US" sz="1600" dirty="0"/>
              <a:t>는 페인팅 메카니즘에 의해 자동으로 호출됨</a:t>
            </a: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38" y="2348880"/>
            <a:ext cx="6711122" cy="125473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101238" y="4077072"/>
            <a:ext cx="6639114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paint(Graphics g) { // g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 아래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메소드에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그대로 전달된다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...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① 컴포넌트 자신의 내부 모양 그리기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② 컴포넌트 자신의 외곽 그리기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 //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③ 컴포넌트의 자식들 그리기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...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999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스윙 컴포넌트가 그려지는 과정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12440" y="1628800"/>
            <a:ext cx="7643866" cy="46577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 anchor="t" anchorCtr="0">
            <a:noAutofit/>
          </a:bodyPr>
          <a:lstStyle/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360000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786352" y="4581128"/>
            <a:ext cx="4929222" cy="1428760"/>
          </a:xfrm>
          <a:prstGeom prst="rect">
            <a:avLst/>
          </a:prstGeom>
          <a:solidFill>
            <a:srgbClr val="B0E2F4"/>
          </a:solidFill>
          <a:ln>
            <a:solidFill>
              <a:schemeClr val="accent2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 anchor="t" anchorCtr="0">
            <a:noAutofit/>
          </a:bodyPr>
          <a:lstStyle/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360000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162616" y="4941168"/>
            <a:ext cx="2357454" cy="928694"/>
          </a:xfrm>
          <a:prstGeom prst="rect">
            <a:avLst/>
          </a:prstGeom>
          <a:solidFill>
            <a:srgbClr val="B7CEA6"/>
          </a:solidFill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 anchor="t" anchorCtr="0">
            <a:noAutofit/>
          </a:bodyPr>
          <a:lstStyle/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442536" y="1916832"/>
            <a:ext cx="4929222" cy="2520280"/>
          </a:xfrm>
          <a:prstGeom prst="rect">
            <a:avLst/>
          </a:prstGeom>
          <a:solidFill>
            <a:srgbClr val="B0E2F4"/>
          </a:solidFill>
          <a:ln>
            <a:solidFill>
              <a:schemeClr val="accent2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 anchor="t" anchorCtr="0">
            <a:noAutofit/>
          </a:bodyPr>
          <a:lstStyle/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360000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818800" y="2204864"/>
            <a:ext cx="2357454" cy="928694"/>
          </a:xfrm>
          <a:prstGeom prst="rect">
            <a:avLst/>
          </a:prstGeom>
          <a:solidFill>
            <a:srgbClr val="B7CEA6"/>
          </a:solidFill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 anchor="t" anchorCtr="0">
            <a:noAutofit/>
          </a:bodyPr>
          <a:lstStyle/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12" name="구부러진 연결선 11"/>
          <p:cNvCxnSpPr/>
          <p:nvPr/>
        </p:nvCxnSpPr>
        <p:spPr>
          <a:xfrm rot="16200000" flipH="1">
            <a:off x="1001625" y="1784463"/>
            <a:ext cx="214314" cy="214314"/>
          </a:xfrm>
          <a:prstGeom prst="curvedConnector3">
            <a:avLst>
              <a:gd name="adj1" fmla="val 100196"/>
            </a:avLst>
          </a:pr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 30"/>
          <p:cNvSpPr/>
          <p:nvPr/>
        </p:nvSpPr>
        <p:spPr>
          <a:xfrm>
            <a:off x="1159614" y="2036916"/>
            <a:ext cx="73212" cy="259976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2" name="자유형 31"/>
          <p:cNvSpPr/>
          <p:nvPr/>
        </p:nvSpPr>
        <p:spPr>
          <a:xfrm>
            <a:off x="1176489" y="2235825"/>
            <a:ext cx="73212" cy="259976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40" name="구부러진 연결선 39"/>
          <p:cNvCxnSpPr/>
          <p:nvPr/>
        </p:nvCxnSpPr>
        <p:spPr>
          <a:xfrm rot="10800000" flipV="1">
            <a:off x="2506432" y="2214553"/>
            <a:ext cx="1020652" cy="249735"/>
          </a:xfrm>
          <a:prstGeom prst="curvedConnector3">
            <a:avLst>
              <a:gd name="adj1" fmla="val 50000"/>
            </a:avLst>
          </a:prstGeom>
          <a:ln>
            <a:solidFill>
              <a:srgbClr val="FF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구부러진 연결선 41"/>
          <p:cNvCxnSpPr/>
          <p:nvPr/>
        </p:nvCxnSpPr>
        <p:spPr>
          <a:xfrm rot="16200000" flipH="1">
            <a:off x="3647294" y="2127704"/>
            <a:ext cx="214314" cy="214314"/>
          </a:xfrm>
          <a:prstGeom prst="curvedConnector3">
            <a:avLst>
              <a:gd name="adj1" fmla="val 100196"/>
            </a:avLst>
          </a:pr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자유형 42"/>
          <p:cNvSpPr/>
          <p:nvPr/>
        </p:nvSpPr>
        <p:spPr>
          <a:xfrm>
            <a:off x="3776132" y="2356946"/>
            <a:ext cx="90087" cy="223287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4" name="자유형 43"/>
          <p:cNvSpPr/>
          <p:nvPr/>
        </p:nvSpPr>
        <p:spPr>
          <a:xfrm>
            <a:off x="3815314" y="2540489"/>
            <a:ext cx="90087" cy="223287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818800" y="3429000"/>
            <a:ext cx="2357454" cy="928694"/>
          </a:xfrm>
          <a:prstGeom prst="rect">
            <a:avLst/>
          </a:prstGeom>
          <a:solidFill>
            <a:srgbClr val="B7CEA6"/>
          </a:solidFill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 anchor="t" anchorCtr="0">
            <a:noAutofit/>
          </a:bodyPr>
          <a:lstStyle/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paintBorder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</a:p>
          <a:p>
            <a:pPr defTabSz="36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paintChildren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0" name="자유형 59"/>
          <p:cNvSpPr/>
          <p:nvPr/>
        </p:nvSpPr>
        <p:spPr>
          <a:xfrm>
            <a:off x="5098720" y="2419178"/>
            <a:ext cx="791519" cy="344598"/>
          </a:xfrm>
          <a:custGeom>
            <a:avLst/>
            <a:gdLst>
              <a:gd name="connsiteX0" fmla="*/ 0 w 968189"/>
              <a:gd name="connsiteY0" fmla="*/ 797859 h 797859"/>
              <a:gd name="connsiteX1" fmla="*/ 125506 w 968189"/>
              <a:gd name="connsiteY1" fmla="*/ 788894 h 797859"/>
              <a:gd name="connsiteX2" fmla="*/ 233083 w 968189"/>
              <a:gd name="connsiteY2" fmla="*/ 744071 h 797859"/>
              <a:gd name="connsiteX3" fmla="*/ 349624 w 968189"/>
              <a:gd name="connsiteY3" fmla="*/ 627530 h 797859"/>
              <a:gd name="connsiteX4" fmla="*/ 421342 w 968189"/>
              <a:gd name="connsiteY4" fmla="*/ 322730 h 797859"/>
              <a:gd name="connsiteX5" fmla="*/ 502024 w 968189"/>
              <a:gd name="connsiteY5" fmla="*/ 170330 h 797859"/>
              <a:gd name="connsiteX6" fmla="*/ 699247 w 968189"/>
              <a:gd name="connsiteY6" fmla="*/ 44824 h 797859"/>
              <a:gd name="connsiteX7" fmla="*/ 968189 w 968189"/>
              <a:gd name="connsiteY7" fmla="*/ 0 h 7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8189" h="797859">
                <a:moveTo>
                  <a:pt x="0" y="797859"/>
                </a:moveTo>
                <a:cubicBezTo>
                  <a:pt x="43329" y="797859"/>
                  <a:pt x="86659" y="797859"/>
                  <a:pt x="125506" y="788894"/>
                </a:cubicBezTo>
                <a:cubicBezTo>
                  <a:pt x="164353" y="779929"/>
                  <a:pt x="195730" y="770965"/>
                  <a:pt x="233083" y="744071"/>
                </a:cubicBezTo>
                <a:cubicBezTo>
                  <a:pt x="270436" y="717177"/>
                  <a:pt x="318248" y="697754"/>
                  <a:pt x="349624" y="627530"/>
                </a:cubicBezTo>
                <a:cubicBezTo>
                  <a:pt x="381001" y="557307"/>
                  <a:pt x="395942" y="398930"/>
                  <a:pt x="421342" y="322730"/>
                </a:cubicBezTo>
                <a:cubicBezTo>
                  <a:pt x="446742" y="246530"/>
                  <a:pt x="455707" y="216648"/>
                  <a:pt x="502024" y="170330"/>
                </a:cubicBezTo>
                <a:cubicBezTo>
                  <a:pt x="548341" y="124012"/>
                  <a:pt x="621553" y="73212"/>
                  <a:pt x="699247" y="44824"/>
                </a:cubicBezTo>
                <a:cubicBezTo>
                  <a:pt x="776941" y="16436"/>
                  <a:pt x="872565" y="8218"/>
                  <a:pt x="968189" y="0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2" name="자유형 61"/>
          <p:cNvSpPr/>
          <p:nvPr/>
        </p:nvSpPr>
        <p:spPr>
          <a:xfrm>
            <a:off x="6175990" y="2633492"/>
            <a:ext cx="106962" cy="151849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3" name="자유형 62"/>
          <p:cNvSpPr/>
          <p:nvPr/>
        </p:nvSpPr>
        <p:spPr>
          <a:xfrm>
            <a:off x="6175990" y="2847806"/>
            <a:ext cx="106962" cy="151849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0" name="자유형 69"/>
          <p:cNvSpPr/>
          <p:nvPr/>
        </p:nvSpPr>
        <p:spPr>
          <a:xfrm>
            <a:off x="6027785" y="2464289"/>
            <a:ext cx="242047" cy="152400"/>
          </a:xfrm>
          <a:custGeom>
            <a:avLst/>
            <a:gdLst>
              <a:gd name="connsiteX0" fmla="*/ 0 w 242047"/>
              <a:gd name="connsiteY0" fmla="*/ 0 h 152400"/>
              <a:gd name="connsiteX1" fmla="*/ 44823 w 242047"/>
              <a:gd name="connsiteY1" fmla="*/ 116541 h 152400"/>
              <a:gd name="connsiteX2" fmla="*/ 242047 w 242047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047" h="152400">
                <a:moveTo>
                  <a:pt x="0" y="0"/>
                </a:moveTo>
                <a:cubicBezTo>
                  <a:pt x="2241" y="45570"/>
                  <a:pt x="4482" y="91141"/>
                  <a:pt x="44823" y="116541"/>
                </a:cubicBezTo>
                <a:cubicBezTo>
                  <a:pt x="85164" y="141941"/>
                  <a:pt x="163605" y="147170"/>
                  <a:pt x="242047" y="152400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1" name="자유형 70"/>
          <p:cNvSpPr/>
          <p:nvPr/>
        </p:nvSpPr>
        <p:spPr>
          <a:xfrm flipV="1">
            <a:off x="5098720" y="2785341"/>
            <a:ext cx="1135253" cy="214315"/>
          </a:xfrm>
          <a:custGeom>
            <a:avLst/>
            <a:gdLst>
              <a:gd name="connsiteX0" fmla="*/ 887506 w 887506"/>
              <a:gd name="connsiteY0" fmla="*/ 4482 h 149411"/>
              <a:gd name="connsiteX1" fmla="*/ 717177 w 887506"/>
              <a:gd name="connsiteY1" fmla="*/ 4482 h 149411"/>
              <a:gd name="connsiteX2" fmla="*/ 493059 w 887506"/>
              <a:gd name="connsiteY2" fmla="*/ 31376 h 149411"/>
              <a:gd name="connsiteX3" fmla="*/ 233082 w 887506"/>
              <a:gd name="connsiteY3" fmla="*/ 129988 h 149411"/>
              <a:gd name="connsiteX4" fmla="*/ 0 w 887506"/>
              <a:gd name="connsiteY4" fmla="*/ 147917 h 149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506" h="149411">
                <a:moveTo>
                  <a:pt x="887506" y="4482"/>
                </a:moveTo>
                <a:cubicBezTo>
                  <a:pt x="835212" y="2241"/>
                  <a:pt x="782918" y="0"/>
                  <a:pt x="717177" y="4482"/>
                </a:cubicBezTo>
                <a:cubicBezTo>
                  <a:pt x="651436" y="8964"/>
                  <a:pt x="573741" y="10458"/>
                  <a:pt x="493059" y="31376"/>
                </a:cubicBezTo>
                <a:cubicBezTo>
                  <a:pt x="412377" y="52294"/>
                  <a:pt x="315258" y="110565"/>
                  <a:pt x="233082" y="129988"/>
                </a:cubicBezTo>
                <a:cubicBezTo>
                  <a:pt x="150906" y="149411"/>
                  <a:pt x="75453" y="148664"/>
                  <a:pt x="0" y="147917"/>
                </a:cubicBezTo>
              </a:path>
            </a:pathLst>
          </a:custGeom>
          <a:ln>
            <a:solidFill>
              <a:srgbClr val="008A3E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4" name="자유형 73"/>
          <p:cNvSpPr/>
          <p:nvPr/>
        </p:nvSpPr>
        <p:spPr>
          <a:xfrm>
            <a:off x="5098720" y="2847806"/>
            <a:ext cx="792088" cy="725210"/>
          </a:xfrm>
          <a:custGeom>
            <a:avLst/>
            <a:gdLst>
              <a:gd name="connsiteX0" fmla="*/ 0 w 546847"/>
              <a:gd name="connsiteY0" fmla="*/ 0 h 256988"/>
              <a:gd name="connsiteX1" fmla="*/ 98611 w 546847"/>
              <a:gd name="connsiteY1" fmla="*/ 98612 h 256988"/>
              <a:gd name="connsiteX2" fmla="*/ 188258 w 546847"/>
              <a:gd name="connsiteY2" fmla="*/ 206188 h 256988"/>
              <a:gd name="connsiteX3" fmla="*/ 394447 w 546847"/>
              <a:gd name="connsiteY3" fmla="*/ 251012 h 256988"/>
              <a:gd name="connsiteX4" fmla="*/ 546847 w 546847"/>
              <a:gd name="connsiteY4" fmla="*/ 242047 h 25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847" h="256988">
                <a:moveTo>
                  <a:pt x="0" y="0"/>
                </a:moveTo>
                <a:cubicBezTo>
                  <a:pt x="33617" y="32123"/>
                  <a:pt x="67235" y="64247"/>
                  <a:pt x="98611" y="98612"/>
                </a:cubicBezTo>
                <a:cubicBezTo>
                  <a:pt x="129987" y="132977"/>
                  <a:pt x="138952" y="180788"/>
                  <a:pt x="188258" y="206188"/>
                </a:cubicBezTo>
                <a:cubicBezTo>
                  <a:pt x="237564" y="231588"/>
                  <a:pt x="334682" y="245036"/>
                  <a:pt x="394447" y="251012"/>
                </a:cubicBezTo>
                <a:cubicBezTo>
                  <a:pt x="454212" y="256988"/>
                  <a:pt x="500529" y="249517"/>
                  <a:pt x="546847" y="242047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5" name="자유형 74"/>
          <p:cNvSpPr/>
          <p:nvPr/>
        </p:nvSpPr>
        <p:spPr>
          <a:xfrm>
            <a:off x="6175990" y="3857628"/>
            <a:ext cx="106962" cy="151849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6" name="자유형 75"/>
          <p:cNvSpPr/>
          <p:nvPr/>
        </p:nvSpPr>
        <p:spPr>
          <a:xfrm>
            <a:off x="6175990" y="4071942"/>
            <a:ext cx="106962" cy="151849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7" name="자유형 76"/>
          <p:cNvSpPr/>
          <p:nvPr/>
        </p:nvSpPr>
        <p:spPr>
          <a:xfrm>
            <a:off x="6027785" y="3688425"/>
            <a:ext cx="242047" cy="152400"/>
          </a:xfrm>
          <a:custGeom>
            <a:avLst/>
            <a:gdLst>
              <a:gd name="connsiteX0" fmla="*/ 0 w 242047"/>
              <a:gd name="connsiteY0" fmla="*/ 0 h 152400"/>
              <a:gd name="connsiteX1" fmla="*/ 44823 w 242047"/>
              <a:gd name="connsiteY1" fmla="*/ 116541 h 152400"/>
              <a:gd name="connsiteX2" fmla="*/ 242047 w 242047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047" h="152400">
                <a:moveTo>
                  <a:pt x="0" y="0"/>
                </a:moveTo>
                <a:cubicBezTo>
                  <a:pt x="2241" y="45570"/>
                  <a:pt x="4482" y="91141"/>
                  <a:pt x="44823" y="116541"/>
                </a:cubicBezTo>
                <a:cubicBezTo>
                  <a:pt x="85164" y="141941"/>
                  <a:pt x="163605" y="147170"/>
                  <a:pt x="242047" y="152400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9" name="자유형 78"/>
          <p:cNvSpPr/>
          <p:nvPr/>
        </p:nvSpPr>
        <p:spPr>
          <a:xfrm>
            <a:off x="5026712" y="2847806"/>
            <a:ext cx="1152129" cy="1373282"/>
          </a:xfrm>
          <a:custGeom>
            <a:avLst/>
            <a:gdLst>
              <a:gd name="connsiteX0" fmla="*/ 986118 w 986118"/>
              <a:gd name="connsiteY0" fmla="*/ 896470 h 896470"/>
              <a:gd name="connsiteX1" fmla="*/ 726141 w 986118"/>
              <a:gd name="connsiteY1" fmla="*/ 815788 h 896470"/>
              <a:gd name="connsiteX2" fmla="*/ 376518 w 986118"/>
              <a:gd name="connsiteY2" fmla="*/ 636494 h 896470"/>
              <a:gd name="connsiteX3" fmla="*/ 152400 w 986118"/>
              <a:gd name="connsiteY3" fmla="*/ 439270 h 896470"/>
              <a:gd name="connsiteX4" fmla="*/ 107577 w 986118"/>
              <a:gd name="connsiteY4" fmla="*/ 179294 h 896470"/>
              <a:gd name="connsiteX5" fmla="*/ 0 w 986118"/>
              <a:gd name="connsiteY5" fmla="*/ 0 h 896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6118" h="896470">
                <a:moveTo>
                  <a:pt x="986118" y="896470"/>
                </a:moveTo>
                <a:cubicBezTo>
                  <a:pt x="906929" y="877793"/>
                  <a:pt x="827741" y="859117"/>
                  <a:pt x="726141" y="815788"/>
                </a:cubicBezTo>
                <a:cubicBezTo>
                  <a:pt x="624541" y="772459"/>
                  <a:pt x="472141" y="699247"/>
                  <a:pt x="376518" y="636494"/>
                </a:cubicBezTo>
                <a:cubicBezTo>
                  <a:pt x="280895" y="573741"/>
                  <a:pt x="197223" y="515470"/>
                  <a:pt x="152400" y="439270"/>
                </a:cubicBezTo>
                <a:cubicBezTo>
                  <a:pt x="107577" y="363070"/>
                  <a:pt x="132977" y="252506"/>
                  <a:pt x="107577" y="179294"/>
                </a:cubicBezTo>
                <a:cubicBezTo>
                  <a:pt x="82177" y="106082"/>
                  <a:pt x="41088" y="53041"/>
                  <a:pt x="0" y="0"/>
                </a:cubicBezTo>
              </a:path>
            </a:pathLst>
          </a:custGeom>
          <a:ln>
            <a:solidFill>
              <a:srgbClr val="008A3E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82" name="구부러진 연결선 81"/>
          <p:cNvCxnSpPr/>
          <p:nvPr/>
        </p:nvCxnSpPr>
        <p:spPr>
          <a:xfrm rot="5400000">
            <a:off x="1114877" y="3432183"/>
            <a:ext cx="2108454" cy="477470"/>
          </a:xfrm>
          <a:prstGeom prst="curvedConnector3">
            <a:avLst>
              <a:gd name="adj1" fmla="val 50000"/>
            </a:avLst>
          </a:pr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구부러진 연결선 83"/>
          <p:cNvCxnSpPr/>
          <p:nvPr/>
        </p:nvCxnSpPr>
        <p:spPr>
          <a:xfrm rot="16200000" flipH="1">
            <a:off x="2001059" y="4763919"/>
            <a:ext cx="214314" cy="214314"/>
          </a:xfrm>
          <a:prstGeom prst="curvedConnector3">
            <a:avLst>
              <a:gd name="adj1" fmla="val 100196"/>
            </a:avLst>
          </a:pr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자유형 84"/>
          <p:cNvSpPr/>
          <p:nvPr/>
        </p:nvSpPr>
        <p:spPr>
          <a:xfrm>
            <a:off x="2108216" y="4978233"/>
            <a:ext cx="90087" cy="223287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6" name="자유형 85"/>
          <p:cNvSpPr/>
          <p:nvPr/>
        </p:nvSpPr>
        <p:spPr>
          <a:xfrm>
            <a:off x="2125286" y="5193144"/>
            <a:ext cx="90087" cy="223287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7" name="자유형 86"/>
          <p:cNvSpPr/>
          <p:nvPr/>
        </p:nvSpPr>
        <p:spPr>
          <a:xfrm>
            <a:off x="3442536" y="5134190"/>
            <a:ext cx="781715" cy="282242"/>
          </a:xfrm>
          <a:custGeom>
            <a:avLst/>
            <a:gdLst>
              <a:gd name="connsiteX0" fmla="*/ 0 w 968189"/>
              <a:gd name="connsiteY0" fmla="*/ 797859 h 797859"/>
              <a:gd name="connsiteX1" fmla="*/ 125506 w 968189"/>
              <a:gd name="connsiteY1" fmla="*/ 788894 h 797859"/>
              <a:gd name="connsiteX2" fmla="*/ 233083 w 968189"/>
              <a:gd name="connsiteY2" fmla="*/ 744071 h 797859"/>
              <a:gd name="connsiteX3" fmla="*/ 349624 w 968189"/>
              <a:gd name="connsiteY3" fmla="*/ 627530 h 797859"/>
              <a:gd name="connsiteX4" fmla="*/ 421342 w 968189"/>
              <a:gd name="connsiteY4" fmla="*/ 322730 h 797859"/>
              <a:gd name="connsiteX5" fmla="*/ 502024 w 968189"/>
              <a:gd name="connsiteY5" fmla="*/ 170330 h 797859"/>
              <a:gd name="connsiteX6" fmla="*/ 699247 w 968189"/>
              <a:gd name="connsiteY6" fmla="*/ 44824 h 797859"/>
              <a:gd name="connsiteX7" fmla="*/ 968189 w 968189"/>
              <a:gd name="connsiteY7" fmla="*/ 0 h 7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8189" h="797859">
                <a:moveTo>
                  <a:pt x="0" y="797859"/>
                </a:moveTo>
                <a:cubicBezTo>
                  <a:pt x="43329" y="797859"/>
                  <a:pt x="86659" y="797859"/>
                  <a:pt x="125506" y="788894"/>
                </a:cubicBezTo>
                <a:cubicBezTo>
                  <a:pt x="164353" y="779929"/>
                  <a:pt x="195730" y="770965"/>
                  <a:pt x="233083" y="744071"/>
                </a:cubicBezTo>
                <a:cubicBezTo>
                  <a:pt x="270436" y="717177"/>
                  <a:pt x="318248" y="697754"/>
                  <a:pt x="349624" y="627530"/>
                </a:cubicBezTo>
                <a:cubicBezTo>
                  <a:pt x="381001" y="557307"/>
                  <a:pt x="395942" y="398930"/>
                  <a:pt x="421342" y="322730"/>
                </a:cubicBezTo>
                <a:cubicBezTo>
                  <a:pt x="446742" y="246530"/>
                  <a:pt x="455707" y="216648"/>
                  <a:pt x="502024" y="170330"/>
                </a:cubicBezTo>
                <a:cubicBezTo>
                  <a:pt x="548341" y="124012"/>
                  <a:pt x="621553" y="73212"/>
                  <a:pt x="699247" y="44824"/>
                </a:cubicBezTo>
                <a:cubicBezTo>
                  <a:pt x="776941" y="16436"/>
                  <a:pt x="872565" y="8218"/>
                  <a:pt x="968189" y="0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8" name="자유형 87"/>
          <p:cNvSpPr/>
          <p:nvPr/>
        </p:nvSpPr>
        <p:spPr>
          <a:xfrm>
            <a:off x="4510002" y="5348503"/>
            <a:ext cx="106962" cy="151849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9" name="자유형 88"/>
          <p:cNvSpPr/>
          <p:nvPr/>
        </p:nvSpPr>
        <p:spPr>
          <a:xfrm>
            <a:off x="4510002" y="5562817"/>
            <a:ext cx="106962" cy="151849"/>
          </a:xfrm>
          <a:custGeom>
            <a:avLst/>
            <a:gdLst>
              <a:gd name="connsiteX0" fmla="*/ 73212 w 73212"/>
              <a:gd name="connsiteY0" fmla="*/ 0 h 259976"/>
              <a:gd name="connsiteX1" fmla="*/ 10459 w 73212"/>
              <a:gd name="connsiteY1" fmla="*/ 89647 h 259976"/>
              <a:gd name="connsiteX2" fmla="*/ 10459 w 73212"/>
              <a:gd name="connsiteY2" fmla="*/ 215153 h 259976"/>
              <a:gd name="connsiteX3" fmla="*/ 64247 w 73212"/>
              <a:gd name="connsiteY3" fmla="*/ 259976 h 259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12" h="259976">
                <a:moveTo>
                  <a:pt x="73212" y="0"/>
                </a:moveTo>
                <a:cubicBezTo>
                  <a:pt x="47065" y="26894"/>
                  <a:pt x="20918" y="53788"/>
                  <a:pt x="10459" y="89647"/>
                </a:cubicBezTo>
                <a:cubicBezTo>
                  <a:pt x="0" y="125506"/>
                  <a:pt x="1494" y="186765"/>
                  <a:pt x="10459" y="215153"/>
                </a:cubicBezTo>
                <a:cubicBezTo>
                  <a:pt x="19424" y="243541"/>
                  <a:pt x="53788" y="248023"/>
                  <a:pt x="64247" y="259976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0" name="자유형 89"/>
          <p:cNvSpPr/>
          <p:nvPr/>
        </p:nvSpPr>
        <p:spPr>
          <a:xfrm>
            <a:off x="4361797" y="5179300"/>
            <a:ext cx="242047" cy="152400"/>
          </a:xfrm>
          <a:custGeom>
            <a:avLst/>
            <a:gdLst>
              <a:gd name="connsiteX0" fmla="*/ 0 w 242047"/>
              <a:gd name="connsiteY0" fmla="*/ 0 h 152400"/>
              <a:gd name="connsiteX1" fmla="*/ 44823 w 242047"/>
              <a:gd name="connsiteY1" fmla="*/ 116541 h 152400"/>
              <a:gd name="connsiteX2" fmla="*/ 242047 w 242047"/>
              <a:gd name="connsiteY2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047" h="152400">
                <a:moveTo>
                  <a:pt x="0" y="0"/>
                </a:moveTo>
                <a:cubicBezTo>
                  <a:pt x="2241" y="45570"/>
                  <a:pt x="4482" y="91141"/>
                  <a:pt x="44823" y="116541"/>
                </a:cubicBezTo>
                <a:cubicBezTo>
                  <a:pt x="85164" y="141941"/>
                  <a:pt x="163605" y="147170"/>
                  <a:pt x="242047" y="152400"/>
                </a:cubicBezTo>
              </a:path>
            </a:pathLst>
          </a:cu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1" name="자유형 90"/>
          <p:cNvSpPr/>
          <p:nvPr/>
        </p:nvSpPr>
        <p:spPr>
          <a:xfrm flipV="1">
            <a:off x="3370528" y="5424427"/>
            <a:ext cx="1197457" cy="342062"/>
          </a:xfrm>
          <a:custGeom>
            <a:avLst/>
            <a:gdLst>
              <a:gd name="connsiteX0" fmla="*/ 887506 w 887506"/>
              <a:gd name="connsiteY0" fmla="*/ 4482 h 149411"/>
              <a:gd name="connsiteX1" fmla="*/ 717177 w 887506"/>
              <a:gd name="connsiteY1" fmla="*/ 4482 h 149411"/>
              <a:gd name="connsiteX2" fmla="*/ 493059 w 887506"/>
              <a:gd name="connsiteY2" fmla="*/ 31376 h 149411"/>
              <a:gd name="connsiteX3" fmla="*/ 233082 w 887506"/>
              <a:gd name="connsiteY3" fmla="*/ 129988 h 149411"/>
              <a:gd name="connsiteX4" fmla="*/ 0 w 887506"/>
              <a:gd name="connsiteY4" fmla="*/ 147917 h 149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506" h="149411">
                <a:moveTo>
                  <a:pt x="887506" y="4482"/>
                </a:moveTo>
                <a:cubicBezTo>
                  <a:pt x="835212" y="2241"/>
                  <a:pt x="782918" y="0"/>
                  <a:pt x="717177" y="4482"/>
                </a:cubicBezTo>
                <a:cubicBezTo>
                  <a:pt x="651436" y="8964"/>
                  <a:pt x="573741" y="10458"/>
                  <a:pt x="493059" y="31376"/>
                </a:cubicBezTo>
                <a:cubicBezTo>
                  <a:pt x="412377" y="52294"/>
                  <a:pt x="315258" y="110565"/>
                  <a:pt x="233082" y="129988"/>
                </a:cubicBezTo>
                <a:cubicBezTo>
                  <a:pt x="150906" y="149411"/>
                  <a:pt x="75453" y="148664"/>
                  <a:pt x="0" y="147917"/>
                </a:cubicBezTo>
              </a:path>
            </a:pathLst>
          </a:custGeom>
          <a:ln>
            <a:solidFill>
              <a:srgbClr val="008A3E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9" name="자유형 98"/>
          <p:cNvSpPr/>
          <p:nvPr/>
        </p:nvSpPr>
        <p:spPr>
          <a:xfrm>
            <a:off x="2407839" y="2495802"/>
            <a:ext cx="1413336" cy="427928"/>
          </a:xfrm>
          <a:custGeom>
            <a:avLst/>
            <a:gdLst>
              <a:gd name="connsiteX0" fmla="*/ 2483223 w 2483223"/>
              <a:gd name="connsiteY0" fmla="*/ 295835 h 424329"/>
              <a:gd name="connsiteX1" fmla="*/ 1891553 w 2483223"/>
              <a:gd name="connsiteY1" fmla="*/ 385482 h 424329"/>
              <a:gd name="connsiteX2" fmla="*/ 1084729 w 2483223"/>
              <a:gd name="connsiteY2" fmla="*/ 385482 h 424329"/>
              <a:gd name="connsiteX3" fmla="*/ 609600 w 2483223"/>
              <a:gd name="connsiteY3" fmla="*/ 152400 h 424329"/>
              <a:gd name="connsiteX4" fmla="*/ 0 w 2483223"/>
              <a:gd name="connsiteY4" fmla="*/ 0 h 42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3223" h="424329">
                <a:moveTo>
                  <a:pt x="2483223" y="295835"/>
                </a:moveTo>
                <a:cubicBezTo>
                  <a:pt x="2303929" y="333188"/>
                  <a:pt x="2124635" y="370541"/>
                  <a:pt x="1891553" y="385482"/>
                </a:cubicBezTo>
                <a:cubicBezTo>
                  <a:pt x="1658471" y="400423"/>
                  <a:pt x="1298388" y="424329"/>
                  <a:pt x="1084729" y="385482"/>
                </a:cubicBezTo>
                <a:cubicBezTo>
                  <a:pt x="871070" y="346635"/>
                  <a:pt x="790388" y="216647"/>
                  <a:pt x="609600" y="152400"/>
                </a:cubicBezTo>
                <a:cubicBezTo>
                  <a:pt x="428812" y="88153"/>
                  <a:pt x="214406" y="44076"/>
                  <a:pt x="0" y="0"/>
                </a:cubicBezTo>
              </a:path>
            </a:pathLst>
          </a:custGeom>
          <a:ln>
            <a:solidFill>
              <a:srgbClr val="008A3E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6232" y="134076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컨테이너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2536" y="1628800"/>
            <a:ext cx="1226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자식 컨테이너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4148" y="4229068"/>
            <a:ext cx="1226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자식 컨테이너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8800" y="1916832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자식 컴포넌트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8800" y="314096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자식 컴포넌트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2616" y="458112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자식 컴포넌트</a:t>
            </a:r>
          </a:p>
        </p:txBody>
      </p:sp>
      <p:sp>
        <p:nvSpPr>
          <p:cNvPr id="47" name="슬라이드 번호 개체 틀 4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13" name="자유형 12"/>
          <p:cNvSpPr/>
          <p:nvPr/>
        </p:nvSpPr>
        <p:spPr>
          <a:xfrm>
            <a:off x="692975" y="2224609"/>
            <a:ext cx="1413163" cy="3206373"/>
          </a:xfrm>
          <a:custGeom>
            <a:avLst/>
            <a:gdLst>
              <a:gd name="connsiteX0" fmla="*/ 1413163 w 1413163"/>
              <a:gd name="connsiteY0" fmla="*/ 3980873 h 3980873"/>
              <a:gd name="connsiteX1" fmla="*/ 341745 w 1413163"/>
              <a:gd name="connsiteY1" fmla="*/ 2475346 h 3980873"/>
              <a:gd name="connsiteX2" fmla="*/ 166254 w 1413163"/>
              <a:gd name="connsiteY2" fmla="*/ 424873 h 3980873"/>
              <a:gd name="connsiteX3" fmla="*/ 0 w 1413163"/>
              <a:gd name="connsiteY3" fmla="*/ 0 h 398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3163" h="3980873">
                <a:moveTo>
                  <a:pt x="1413163" y="3980873"/>
                </a:moveTo>
                <a:cubicBezTo>
                  <a:pt x="981363" y="3524443"/>
                  <a:pt x="549563" y="3068013"/>
                  <a:pt x="341745" y="2475346"/>
                </a:cubicBezTo>
                <a:cubicBezTo>
                  <a:pt x="133927" y="1882679"/>
                  <a:pt x="223212" y="837431"/>
                  <a:pt x="166254" y="424873"/>
                </a:cubicBezTo>
                <a:cubicBezTo>
                  <a:pt x="109296" y="12315"/>
                  <a:pt x="54648" y="6157"/>
                  <a:pt x="0" y="0"/>
                </a:cubicBezTo>
              </a:path>
            </a:pathLst>
          </a:custGeom>
          <a:noFill/>
          <a:ln w="12700">
            <a:solidFill>
              <a:srgbClr val="008A3E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48" name="구부러진 연결선 47"/>
          <p:cNvCxnSpPr/>
          <p:nvPr/>
        </p:nvCxnSpPr>
        <p:spPr>
          <a:xfrm>
            <a:off x="491918" y="1541388"/>
            <a:ext cx="407674" cy="243074"/>
          </a:xfrm>
          <a:prstGeom prst="curvedConnector3">
            <a:avLst>
              <a:gd name="adj1" fmla="val 8464"/>
            </a:avLst>
          </a:prstGeom>
          <a:ln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616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repaint() </a:t>
            </a:r>
            <a:r>
              <a:rPr lang="ko-KR" altLang="en-US"/>
              <a:t>메소드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강제로 컴포넌트의 다시 그리기 지시하는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자바 플랫폼에게 지금 당장 컴포넌트를 다시 그리도록 지시</a:t>
            </a:r>
            <a:endParaRPr lang="en-US" altLang="ko-KR" dirty="0"/>
          </a:p>
          <a:p>
            <a:pPr lvl="2"/>
            <a:r>
              <a:rPr lang="ko-KR" altLang="en-US" dirty="0"/>
              <a:t>컴포넌트의 페인팅 과정 진행</a:t>
            </a:r>
            <a:endParaRPr lang="en-US" altLang="ko-KR" dirty="0"/>
          </a:p>
          <a:p>
            <a:r>
              <a:rPr lang="en-US" altLang="ko-KR" dirty="0"/>
              <a:t>repaint()</a:t>
            </a:r>
            <a:r>
              <a:rPr lang="ko-KR" altLang="en-US" dirty="0"/>
              <a:t>가 필요한 경우</a:t>
            </a:r>
            <a:endParaRPr lang="en-US" altLang="ko-KR" dirty="0"/>
          </a:p>
          <a:p>
            <a:pPr lvl="1"/>
            <a:r>
              <a:rPr lang="ko-KR" altLang="en-US" dirty="0"/>
              <a:t>프로그램 내에서 컴포넌트의 모양과 위치를 변경한 경우</a:t>
            </a:r>
            <a:endParaRPr lang="en-US" altLang="ko-KR" dirty="0"/>
          </a:p>
          <a:p>
            <a:pPr lvl="2"/>
            <a:r>
              <a:rPr lang="en-US" altLang="ko-KR" dirty="0"/>
              <a:t>repaint()</a:t>
            </a:r>
            <a:r>
              <a:rPr lang="ko-KR" altLang="en-US" dirty="0"/>
              <a:t>를 호출하면 자바 플랫폼에 의해 컴포넌트의 </a:t>
            </a:r>
            <a:r>
              <a:rPr lang="en-US" altLang="ko-KR" dirty="0" err="1"/>
              <a:t>paintComponent</a:t>
            </a:r>
            <a:r>
              <a:rPr lang="en-US" altLang="ko-KR" dirty="0"/>
              <a:t>()</a:t>
            </a:r>
            <a:r>
              <a:rPr lang="ko-KR" altLang="en-US" dirty="0"/>
              <a:t>가 호출됨</a:t>
            </a:r>
            <a:endParaRPr lang="en-US" altLang="ko-KR" dirty="0"/>
          </a:p>
          <a:p>
            <a:r>
              <a:rPr lang="ko-KR" altLang="en-US" dirty="0"/>
              <a:t>부모 컴포넌트부터 다시 그리는 것이 좋음</a:t>
            </a:r>
            <a:endParaRPr lang="en-US" altLang="ko-KR" dirty="0"/>
          </a:p>
          <a:p>
            <a:pPr lvl="1"/>
            <a:r>
              <a:rPr lang="ko-KR" altLang="en-US" dirty="0"/>
              <a:t>만일 컴포넌트의 위치가 변경된 경우</a:t>
            </a:r>
            <a:endParaRPr lang="en-US" altLang="ko-KR" dirty="0"/>
          </a:p>
          <a:p>
            <a:pPr lvl="2"/>
            <a:r>
              <a:rPr lang="en-US" altLang="ko-KR" dirty="0"/>
              <a:t>repaint()</a:t>
            </a:r>
            <a:r>
              <a:rPr lang="ko-KR" altLang="en-US" dirty="0"/>
              <a:t>가 불려지면 이 컴포넌트는 새로운 위치에 다시 그려지지만 이전 위치에 있던 자신의 모양이 남아 있기 때문에 부모 컴포넌트의 </a:t>
            </a:r>
            <a:r>
              <a:rPr lang="en-US" altLang="ko-KR" dirty="0"/>
              <a:t>repaint()</a:t>
            </a:r>
            <a:r>
              <a:rPr lang="ko-KR" altLang="en-US" dirty="0"/>
              <a:t>를 호출하는 것이 좋음</a:t>
            </a: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47664" y="6165304"/>
            <a:ext cx="357703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component.getParent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().repaint();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15616" y="1772816"/>
            <a:ext cx="249691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component.repaint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293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revalidate()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컨테이너의 배치관리자에게 자식 컴포넌트들을 다시 배치 하도록 지시하는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r>
              <a:rPr lang="en-US" altLang="ko-KR" dirty="0"/>
              <a:t>revalidate()</a:t>
            </a:r>
            <a:r>
              <a:rPr lang="ko-KR" altLang="en-US" dirty="0"/>
              <a:t>가 필요한 경우</a:t>
            </a:r>
            <a:endParaRPr lang="en-US" altLang="ko-KR" dirty="0"/>
          </a:p>
          <a:p>
            <a:pPr lvl="1"/>
            <a:r>
              <a:rPr lang="ko-KR" altLang="en-US" dirty="0"/>
              <a:t>컨테이너에 변화가 생겨 다시 </a:t>
            </a:r>
            <a:r>
              <a:rPr lang="ko-KR" altLang="en-US" dirty="0" err="1"/>
              <a:t>그려야할</a:t>
            </a:r>
            <a:r>
              <a:rPr lang="ko-KR" altLang="en-US" dirty="0"/>
              <a:t> 때</a:t>
            </a:r>
            <a:endParaRPr lang="en-US" altLang="ko-KR" dirty="0"/>
          </a:p>
          <a:p>
            <a:pPr lvl="2"/>
            <a:r>
              <a:rPr lang="ko-KR" altLang="en-US" dirty="0"/>
              <a:t>프로그램에서</a:t>
            </a:r>
            <a:r>
              <a:rPr lang="en-US" altLang="ko-KR" dirty="0"/>
              <a:t> </a:t>
            </a:r>
            <a:r>
              <a:rPr lang="ko-KR" altLang="en-US" dirty="0"/>
              <a:t>컨테이너에 컴포넌트 새로 삽입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43608" y="3599438"/>
            <a:ext cx="583264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container.revalidate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//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컨테이너에 부착된 컴포넌트의 재배치 지시</a:t>
            </a:r>
          </a:p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container.repaint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//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컨테이너 다시 그리기 지시</a:t>
            </a:r>
          </a:p>
        </p:txBody>
      </p:sp>
    </p:spTree>
    <p:extLst>
      <p:ext uri="{BB962C8B-B14F-4D97-AF65-F5344CB8AC3E}">
        <p14:creationId xmlns:p14="http://schemas.microsoft.com/office/powerpoint/2010/main" val="3030554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12-9 : </a:t>
            </a:r>
            <a:r>
              <a:rPr lang="ko-KR" altLang="en-US" sz="2400" dirty="0"/>
              <a:t>마우스를 이용한 선 그리기</a:t>
            </a:r>
            <a:r>
              <a:rPr lang="en-US" altLang="ko-KR" sz="2400" dirty="0"/>
              <a:t>(repaint() </a:t>
            </a:r>
            <a:r>
              <a:rPr lang="ko-KR" altLang="en-US" sz="2400" dirty="0"/>
              <a:t>사용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23528" y="4077072"/>
            <a:ext cx="4395206" cy="2862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java.util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GraphicsDrawLineMouseEx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panel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GraphicsDrawLineMouseEx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("drawing Line by Mouse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setContentPane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(panel);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 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830115" y="900124"/>
            <a:ext cx="4174774" cy="58477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GraphicsDrawLineMouseEx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Vector&lt;Point&gt;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vStart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Vector&lt;Point&gt;(); 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Vector&lt;Point&gt;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vEnd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Vector&lt;Point&gt;(); 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MyPanel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addMouseListener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MouseAdapter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public void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mousePressed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MouseEvent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Point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startP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e.getPoint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vStart.add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startP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public void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mouseReleased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MouseEvent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Point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endP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e.getPoint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vEnd.add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endP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repaint();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Color.BLUE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for(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=0;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vStart.size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++)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Point s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vStart.elementAt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Point e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vEnd.elementAt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g.drawLine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s.getX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s.getY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</a:t>
            </a:r>
          </a:p>
          <a:p>
            <a:pPr defTabSz="180000"/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	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e.getY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980728"/>
            <a:ext cx="2808312" cy="28832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63896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JButton</a:t>
            </a:r>
            <a:r>
              <a:rPr lang="ko-KR" altLang="en-US" dirty="0"/>
              <a:t>을 상속받아 새로운 버튼 생성 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79512" y="1394311"/>
            <a:ext cx="4214842" cy="32316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새로운 버튼 만들기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("New Button");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b.setOpaque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 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b.setBackground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Color.CYAN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(250,200); 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61642" y="1405314"/>
            <a:ext cx="4357702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(String s) {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super(s);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(Graphics g) {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super.paintComponent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(g);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g.setColor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</a:t>
            </a:r>
            <a:r>
              <a:rPr lang="en-US" altLang="ko-KR" sz="1200" i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RED</a:t>
            </a:r>
            <a:r>
              <a:rPr lang="en-US" altLang="ko-KR" sz="1200" i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g.drawOval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(0,0,this.getWidth()-1, 			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this.getHeight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()-1);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paintComponentEx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 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725144"/>
            <a:ext cx="2291922" cy="187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28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4094</TotalTime>
  <Words>4646</Words>
  <Application>Microsoft Office PowerPoint</Application>
  <PresentationFormat>화면 슬라이드 쇼(4:3)</PresentationFormat>
  <Paragraphs>729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메이플스토리</vt:lpstr>
      <vt:lpstr>Wingdings</vt:lpstr>
      <vt:lpstr>Wingdings 2</vt:lpstr>
      <vt:lpstr>가을</vt:lpstr>
      <vt:lpstr>PowerPoint 프레젠테이션</vt:lpstr>
      <vt:lpstr>스윙 컴포넌트 그리기, paintComponent()</vt:lpstr>
      <vt:lpstr>예제 12-1 : JPanel을 상속받아 도형 그리기</vt:lpstr>
      <vt:lpstr>그래픽 기반 GUI 프로그래밍</vt:lpstr>
      <vt:lpstr>Graphics</vt:lpstr>
      <vt:lpstr>예제 12-2 : drawString() 메소드를 이용하여 문자열 출력하기</vt:lpstr>
      <vt:lpstr>Color와 Font 클래스</vt:lpstr>
      <vt:lpstr>예제 12-3 : Color와 Font를  이용하여 문자열 그리기</vt:lpstr>
      <vt:lpstr>도형 그리기와 칠하기</vt:lpstr>
      <vt:lpstr>예제 12-4 : Graphics의 drawLine() 메소드로 선 그리기</vt:lpstr>
      <vt:lpstr>다른 도형 그리기 사례</vt:lpstr>
      <vt:lpstr>원호와 폐다각형 그리기</vt:lpstr>
      <vt:lpstr>원호와 폐다각형 그리기 사례</vt:lpstr>
      <vt:lpstr>도형 칠하기</vt:lpstr>
      <vt:lpstr>예제 12-5 : 도형 칠하기 예</vt:lpstr>
      <vt:lpstr>스윙에서 이미지를 그리는 2 가지 방법</vt:lpstr>
      <vt:lpstr>Graphics로 이미지 그리기</vt:lpstr>
      <vt:lpstr>이미지 그리기 샘플 코드</vt:lpstr>
      <vt:lpstr>예제 12-6 : 이미지 그리기</vt:lpstr>
      <vt:lpstr>예제 12-7 : JPanel로 만든 패널에 꽉차도록 이미지 그리기</vt:lpstr>
      <vt:lpstr>예제 12-7 : 이미지의 일부분 크기조절하여 그리기</vt:lpstr>
      <vt:lpstr>클리핑</vt:lpstr>
      <vt:lpstr>클리핑 영역 설정</vt:lpstr>
      <vt:lpstr>예제 12-9 : 클리핑 영역에 그리기</vt:lpstr>
      <vt:lpstr>스윙의 페인팅 메카니즘</vt:lpstr>
      <vt:lpstr>스윙 컴포넌트가 그려지는 과정</vt:lpstr>
      <vt:lpstr>repaint() 메소드</vt:lpstr>
      <vt:lpstr>revalidate()</vt:lpstr>
      <vt:lpstr>예제 12-9 : 마우스를 이용한 선 그리기(repaint() 사용)</vt:lpstr>
      <vt:lpstr>JButton을 상속받아 새로운 버튼 생성 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조강홍</cp:lastModifiedBy>
  <cp:revision>183</cp:revision>
  <dcterms:created xsi:type="dcterms:W3CDTF">2011-08-27T14:53:28Z</dcterms:created>
  <dcterms:modified xsi:type="dcterms:W3CDTF">2023-11-26T06:31:29Z</dcterms:modified>
</cp:coreProperties>
</file>